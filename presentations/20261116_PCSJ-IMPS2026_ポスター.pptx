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4.xml" ContentType="application/vnd.openxmlformats-officedocument.drawingml.chart+xml"/>
  <Override PartName="/ppt/charts/chart5.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2804000" cy="30276000" type="screen4x3"/>
  <p:notesSz cx="6858000" cy="9144000"/>
  <p:defaultTextStyle>
    <a:defPPr>
      <a:defRPr lang="ja-JP"/>
    </a:defPPr>
    <a:lvl1pPr marL="0" algn="l" defTabSz="457200" rtl="0" eaLnBrk="1" latinLnBrk="0" hangingPunct="1">
      <a:defRPr sz="1800" kern="1200" lang="ja-JP">
        <a:solidFill>
          <a:schemeClr val="tx1"/>
        </a:solidFill>
        <a:latin typeface="+mn-lt"/>
        <a:ea typeface="+mn-ea"/>
        <a:cs typeface="+mn-cs"/>
      </a:defRPr>
    </a:lvl1pPr>
    <a:lvl2pPr marL="457200" algn="l" defTabSz="457200" rtl="0" eaLnBrk="1" latinLnBrk="0" hangingPunct="1">
      <a:defRPr sz="1800" kern="1200" lang="ja-JP">
        <a:solidFill>
          <a:schemeClr val="tx1"/>
        </a:solidFill>
        <a:latin typeface="+mn-lt"/>
        <a:ea typeface="+mn-ea"/>
        <a:cs typeface="+mn-cs"/>
      </a:defRPr>
    </a:lvl2pPr>
    <a:lvl3pPr marL="914400" algn="l" defTabSz="457200" rtl="0" eaLnBrk="1" latinLnBrk="0" hangingPunct="1">
      <a:defRPr sz="1800" kern="1200" lang="ja-JP">
        <a:solidFill>
          <a:schemeClr val="tx1"/>
        </a:solidFill>
        <a:latin typeface="+mn-lt"/>
        <a:ea typeface="+mn-ea"/>
        <a:cs typeface="+mn-cs"/>
      </a:defRPr>
    </a:lvl3pPr>
    <a:lvl4pPr marL="1371600" algn="l" defTabSz="457200" rtl="0" eaLnBrk="1" latinLnBrk="0" hangingPunct="1">
      <a:defRPr sz="1800" kern="1200" lang="ja-JP">
        <a:solidFill>
          <a:schemeClr val="tx1"/>
        </a:solidFill>
        <a:latin typeface="+mn-lt"/>
        <a:ea typeface="+mn-ea"/>
        <a:cs typeface="+mn-cs"/>
      </a:defRPr>
    </a:lvl4pPr>
    <a:lvl5pPr marL="1828800" algn="l" defTabSz="457200" rtl="0" eaLnBrk="1" latinLnBrk="0" hangingPunct="1">
      <a:defRPr sz="1800" kern="1200" lang="ja-JP">
        <a:solidFill>
          <a:schemeClr val="tx1"/>
        </a:solidFill>
        <a:latin typeface="+mn-lt"/>
        <a:ea typeface="+mn-ea"/>
        <a:cs typeface="+mn-cs"/>
      </a:defRPr>
    </a:lvl5pPr>
    <a:lvl6pPr marL="2286000" algn="l" defTabSz="457200" rtl="0" eaLnBrk="1" latinLnBrk="0" hangingPunct="1">
      <a:defRPr sz="1800" kern="1200" lang="ja-JP">
        <a:solidFill>
          <a:schemeClr val="tx1"/>
        </a:solidFill>
        <a:latin typeface="+mn-lt"/>
        <a:ea typeface="+mn-ea"/>
        <a:cs typeface="+mn-cs"/>
      </a:defRPr>
    </a:lvl6pPr>
    <a:lvl7pPr marL="2743200" algn="l" defTabSz="457200" rtl="0" eaLnBrk="1" latinLnBrk="0" hangingPunct="1">
      <a:defRPr sz="1800" kern="1200" lang="ja-JP">
        <a:solidFill>
          <a:schemeClr val="tx1"/>
        </a:solidFill>
        <a:latin typeface="+mn-lt"/>
        <a:ea typeface="+mn-ea"/>
        <a:cs typeface="+mn-cs"/>
      </a:defRPr>
    </a:lvl7pPr>
    <a:lvl8pPr marL="3200400" algn="l" defTabSz="457200" rtl="0" eaLnBrk="1" latinLnBrk="0" hangingPunct="1">
      <a:defRPr sz="1800" kern="1200" lang="ja-JP">
        <a:solidFill>
          <a:schemeClr val="tx1"/>
        </a:solidFill>
        <a:latin typeface="+mn-lt"/>
        <a:ea typeface="+mn-ea"/>
        <a:cs typeface="+mn-cs"/>
      </a:defRPr>
    </a:lvl8pPr>
    <a:lvl9pPr marL="3657600" algn="l" defTabSz="457200" rtl="0" eaLnBrk="1" latinLnBrk="0" hangingPunct="1">
      <a:defRPr sz="1800" kern="1200" lang="ja-JP">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c:chart>
    <c:autoTitleDeleted val="1"/>
    <c:plotArea>
      <c:layout/>
      <c:barChart>
        <c:barDir val="col"/>
        <c:grouping val="clustered"/>
        <c:varyColors val="0"/>
        <c:ser>
          <c:idx val="0"/>
          <c:order val="0"/>
          <c:tx>
            <c:strRef>
              <c:f>Sheet1!$B$1</c:f>
              <c:strCache>
                <c:ptCount val="1"/>
                <c:pt idx="0">
                  <c:v>読み取り精度（%）</c:v>
                </c:pt>
              </c:strCache>
            </c:strRef>
          </c:tx>
          <c:spPr>
            <a:solidFill>
              <a:srgbClr val="A6A6A6"/>
            </a:solidFill>
          </c:spPr>
          <c:invertIfNegative val="0"/>
          <c:dPt>
            <c:idx val="1"/>
            <c:invertIfNegative val="0"/>
            <c:bubble3D val="0"/>
            <c:spPr>
              <a:solidFill>
                <a:srgbClr val="C00000"/>
              </a:solidFill>
            </c:spPr>
          </c:dPt>
          <c:dPt>
            <c:idx val="2"/>
            <c:invertIfNegative val="0"/>
            <c:bubble3D val="0"/>
            <c:spPr>
              <a:solidFill>
                <a:srgbClr val="9DC3E6"/>
              </a:solidFill>
            </c:spPr>
          </c:dPt>
          <c:dPt>
            <c:idx val="3"/>
            <c:invertIfNegative val="0"/>
            <c:bubble3D val="0"/>
            <c:spPr>
              <a:solidFill>
                <a:srgbClr val="D9D9D9"/>
              </a:solidFill>
            </c:spPr>
          </c:dPt>
          <c:dLbls>
            <c:numFmt formatCode="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Sheet1!$A$2:$A$5</c:f>
              <c:strCache>
                <c:ptCount val="4"/>
                <c:pt idx="0">
                  <c:v>baseline</c:v>
                </c:pt>
                <c:pt idx="1">
                  <c:v>proposal</c:v>
                </c:pt>
                <c:pt idx="2">
                  <c:v>ablation</c:v>
                </c:pt>
                <c:pt idx="3">
                  <c:v>質問文の語だけ</c:v>
                </c:pt>
              </c:strCache>
            </c:strRef>
          </c:cat>
          <c:val>
            <c:numRef>
              <c:f>Sheet1!$B$2:$B$5</c:f>
              <c:numCache>
                <c:formatCode>General</c:formatCode>
                <c:ptCount val="4"/>
                <c:pt idx="0">
                  <c:v>82.87683526674905</c:v>
                </c:pt>
                <c:pt idx="1">
                  <c:v>95.89455127716064</c:v>
                </c:pt>
                <c:pt idx="2">
                  <c:v>80.99038600921631</c:v>
                </c:pt>
                <c:pt idx="3">
                  <c:v>69.68982219696045</c:v>
                </c:pt>
              </c:numCache>
            </c:numRef>
          </c:val>
        </c:ser>
        <c:gapWidth val="50"/>
        <c:overlap val="-5"/>
        <c:axId val="511110001"/>
        <c:axId val="511110002"/>
      </c:barChart>
      <c:catAx>
        <c:axId val="511110001"/>
        <c:scaling>
          <c:orientation val="minMax"/>
        </c:scaling>
        <c:delete val="0"/>
        <c:axPos val="b"/>
        <c:numFmt formatCode="General" sourceLinked="0"/>
        <c:majorTickMark val="none"/>
        <c:minorTickMark val="none"/>
        <c:tickLblPos val="nextTo"/>
        <c:spPr>
          <a:ln w="12700">
            <a:solidFill>
              <a:srgbClr val="7F7F7F"/>
            </a:solidFill>
          </a:ln>
        </c:spPr>
        <c:txPr>
          <a:bodyPr/>
          <a:lstStyle/>
          <a:p>
            <a:pPr>
              <a:defRPr lang="ja-JP" sz="2200" b="0">
                <a:solidFill>
                  <a:srgbClr val="000000"/>
                </a:solidFill>
                <a:latin typeface="游ゴシック"/>
                <a:ea typeface="游ゴシック"/>
              </a:defRPr>
            </a:pPr>
            <a:endParaRPr lang="ja-JP"/>
          </a:p>
        </c:txPr>
        <c:crossAx val="511110002"/>
        <c:crosses val="autoZero"/>
        <c:auto val="1"/>
        <c:lblAlgn val="ctr"/>
        <c:lblOffset val="100"/>
        <c:noMultiLvlLbl val="0"/>
      </c:catAx>
      <c:valAx>
        <c:axId val="511110002"/>
        <c:scaling>
          <c:orientation val="minMax"/>
          <c:max val="100"/>
          <c:min val="0"/>
        </c:scaling>
        <c:delete val="0"/>
        <c:axPos val="l"/>
        <c:majorGridlines>
          <c:spPr>
            <a:ln w="9525">
              <a:solidFill>
                <a:srgbClr val="D9D9D9"/>
              </a:solidFill>
            </a:ln>
          </c:spPr>
        </c:majorGridlines>
        <c:title>
          <c:tx>
            <c:rich>
              <a:bodyPr rot="-5400000" vert="horz"/>
              <a:lstStyle/>
              <a:p>
                <a:pPr>
                  <a:defRPr lang="ja-JP" sz="2200" b="0">
                    <a:solidFill>
                      <a:srgbClr val="000000"/>
                    </a:solidFill>
                    <a:latin typeface="游ゴシック"/>
                    <a:ea typeface="游ゴシック"/>
                  </a:defRPr>
                </a:pPr>
                <a:r>
                  <a:rPr lang="ja-JP" sz="2200" b="0">
                    <a:solidFill>
                      <a:srgbClr val="000000"/>
                    </a:solidFill>
                    <a:latin typeface="游ゴシック"/>
                    <a:ea typeface="游ゴシック"/>
                  </a:rPr>
                  <a:t>読み取り精度（%）</a:t>
                </a:r>
              </a:p>
            </c:rich>
          </c:tx>
          <c:overlay val="0"/>
        </c:title>
        <c:numFmt formatCode="General" sourceLinked="0"/>
        <c:majorTickMark val="none"/>
        <c:minorTickMark val="none"/>
        <c:tickLblPos val="nextTo"/>
        <c:spPr>
          <a:ln>
            <a:noFill/>
          </a:ln>
        </c:spPr>
        <c:txPr>
          <a:bodyPr/>
          <a:lstStyle/>
          <a:p>
            <a:pPr>
              <a:defRPr lang="ja-JP" sz="2200" b="0">
                <a:solidFill>
                  <a:srgbClr val="000000"/>
                </a:solidFill>
                <a:latin typeface="游ゴシック"/>
                <a:ea typeface="游ゴシック"/>
              </a:defRPr>
            </a:pPr>
            <a:endParaRPr lang="ja-JP"/>
          </a:p>
        </c:txPr>
        <c:crossAx val="511110001"/>
        <c:crosses val="autoZero"/>
        <c:crossBetween val="between"/>
        <c:majorUnit val="25"/>
      </c:valAx>
      <c:spPr>
        <a:noFill/>
        <a:ln>
          <a:noFill/>
        </a:ln>
      </c:spPr>
    </c:plotArea>
    <c:plotVisOnly val="1"/>
    <c:dispBlanksAs val="gap"/>
  </c:chart>
  <c:spPr>
    <a:noFill/>
    <a:ln>
      <a:noFill/>
    </a:ln>
  </c:spPr>
  <c:txPr>
    <a:bodyPr/>
    <a:lstStyle/>
    <a:p>
      <a:pPr>
        <a:defRPr lang="ja-JP" sz="2200" b="0">
          <a:solidFill>
            <a:srgbClr val="000000"/>
          </a:solidFill>
          <a:latin typeface="游ゴシック"/>
          <a:ea typeface="游ゴシック"/>
        </a:defRPr>
      </a:pPr>
      <a:endParaRPr lang="ja-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c:chart>
    <c:autoTitleDeleted val="1"/>
    <c:plotArea>
      <c:layout/>
      <c:barChart>
        <c:barDir val="col"/>
        <c:grouping val="clustered"/>
        <c:varyColors val="0"/>
        <c:ser>
          <c:idx val="0"/>
          <c:order val="0"/>
          <c:tx>
            <c:strRef>
              <c:f>Sheet1!$B$1</c:f>
              <c:strCache>
                <c:ptCount val="1"/>
                <c:pt idx="0">
                  <c:v>baseline</c:v>
                </c:pt>
              </c:strCache>
            </c:strRef>
          </c:tx>
          <c:spPr>
            <a:solidFill>
              <a:srgbClr val="A6A6A6"/>
            </a:solidFill>
          </c:spPr>
          <c:invertIfNegative val="0"/>
          <c:dLbls>
            <c:numFmt formatCode="0.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Sheet1!$A$2:$A$4</c:f>
              <c:strCache>
                <c:ptCount val="3"/>
                <c:pt idx="0">
                  <c:v>8本</c:v>
                </c:pt>
                <c:pt idx="1">
                  <c:v>32本</c:v>
                </c:pt>
                <c:pt idx="2">
                  <c:v>128本</c:v>
                </c:pt>
              </c:strCache>
            </c:strRef>
          </c:cat>
          <c:val>
            <c:numRef>
              <c:f>Sheet1!$B$2:$B$4</c:f>
              <c:numCache>
                <c:formatCode>General</c:formatCode>
                <c:ptCount val="3"/>
                <c:pt idx="0">
                  <c:v>0.40229665239651996</c:v>
                </c:pt>
                <c:pt idx="1">
                  <c:v>0.2996903459231059</c:v>
                </c:pt>
                <c:pt idx="2">
                  <c:v>0.24151953558127084</c:v>
                </c:pt>
              </c:numCache>
            </c:numRef>
          </c:val>
        </c:ser>
        <c:ser>
          <c:idx val="1"/>
          <c:order val="1"/>
          <c:tx>
            <c:strRef>
              <c:f>Sheet1!$C$1</c:f>
              <c:strCache>
                <c:ptCount val="1"/>
                <c:pt idx="0">
                  <c:v>proposal</c:v>
                </c:pt>
              </c:strCache>
            </c:strRef>
          </c:tx>
          <c:spPr>
            <a:solidFill>
              <a:srgbClr val="C00000"/>
            </a:solidFill>
          </c:spPr>
          <c:invertIfNegative val="0"/>
          <c:dLbls>
            <c:numFmt formatCode="0.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Sheet1!$A$2:$A$4</c:f>
              <c:strCache>
                <c:ptCount val="3"/>
                <c:pt idx="0">
                  <c:v>8本</c:v>
                </c:pt>
                <c:pt idx="1">
                  <c:v>32本</c:v>
                </c:pt>
                <c:pt idx="2">
                  <c:v>128本</c:v>
                </c:pt>
              </c:strCache>
            </c:strRef>
          </c:cat>
          <c:val>
            <c:numRef>
              <c:f>Sheet1!$C$2:$C$4</c:f>
              <c:numCache>
                <c:formatCode>General</c:formatCode>
                <c:ptCount val="3"/>
                <c:pt idx="0">
                  <c:v>0.2882558802763621</c:v>
                </c:pt>
                <c:pt idx="1">
                  <c:v>0.2340521365404129</c:v>
                </c:pt>
                <c:pt idx="2">
                  <c:v>0.1973231981197993</c:v>
                </c:pt>
              </c:numCache>
            </c:numRef>
          </c:val>
        </c:ser>
        <c:ser>
          <c:idx val="2"/>
          <c:order val="2"/>
          <c:tx>
            <c:strRef>
              <c:f>Sheet1!$D$1</c:f>
              <c:strCache>
                <c:ptCount val="1"/>
                <c:pt idx="0">
                  <c:v>ablation</c:v>
                </c:pt>
              </c:strCache>
            </c:strRef>
          </c:tx>
          <c:spPr>
            <a:solidFill>
              <a:srgbClr val="9DC3E6"/>
            </a:solidFill>
          </c:spPr>
          <c:invertIfNegative val="0"/>
          <c:dLbls>
            <c:numFmt formatCode="0.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Sheet1!$A$2:$A$4</c:f>
              <c:strCache>
                <c:ptCount val="3"/>
                <c:pt idx="0">
                  <c:v>8本</c:v>
                </c:pt>
                <c:pt idx="1">
                  <c:v>32本</c:v>
                </c:pt>
                <c:pt idx="2">
                  <c:v>128本</c:v>
                </c:pt>
              </c:strCache>
            </c:strRef>
          </c:cat>
          <c:val>
            <c:numRef>
              <c:f>Sheet1!$D$2:$D$4</c:f>
              <c:numCache>
                <c:formatCode>General</c:formatCode>
                <c:ptCount val="3"/>
                <c:pt idx="0">
                  <c:v>0.38330380121866864</c:v>
                </c:pt>
                <c:pt idx="1">
                  <c:v>0.2971581121285756</c:v>
                </c:pt>
                <c:pt idx="2">
                  <c:v>0.24193893373012543</c:v>
                </c:pt>
              </c:numCache>
            </c:numRef>
          </c:val>
        </c:ser>
        <c:gapWidth val="50"/>
        <c:overlap val="-5"/>
        <c:axId val="511110001"/>
        <c:axId val="511110002"/>
      </c:barChart>
      <c:catAx>
        <c:axId val="511110001"/>
        <c:scaling>
          <c:orientation val="minMax"/>
        </c:scaling>
        <c:delete val="0"/>
        <c:axPos val="b"/>
        <c:numFmt formatCode="General" sourceLinked="0"/>
        <c:majorTickMark val="none"/>
        <c:minorTickMark val="none"/>
        <c:tickLblPos val="nextTo"/>
        <c:spPr>
          <a:ln w="12700">
            <a:solidFill>
              <a:srgbClr val="7F7F7F"/>
            </a:solidFill>
          </a:ln>
        </c:spPr>
        <c:txPr>
          <a:bodyPr/>
          <a:lstStyle/>
          <a:p>
            <a:pPr>
              <a:defRPr lang="ja-JP" sz="2200" b="0">
                <a:solidFill>
                  <a:srgbClr val="000000"/>
                </a:solidFill>
                <a:latin typeface="游ゴシック"/>
                <a:ea typeface="游ゴシック"/>
              </a:defRPr>
            </a:pPr>
            <a:endParaRPr lang="ja-JP"/>
          </a:p>
        </c:txPr>
        <c:crossAx val="511110002"/>
        <c:crosses val="autoZero"/>
        <c:auto val="1"/>
        <c:lblAlgn val="ctr"/>
        <c:lblOffset val="100"/>
        <c:noMultiLvlLbl val="0"/>
      </c:catAx>
      <c:valAx>
        <c:axId val="511110002"/>
        <c:scaling>
          <c:orientation val="minMax"/>
          <c:max val="0.5"/>
          <c:min val="0"/>
        </c:scaling>
        <c:delete val="0"/>
        <c:axPos val="l"/>
        <c:majorGridlines>
          <c:spPr>
            <a:ln w="9525">
              <a:solidFill>
                <a:srgbClr val="D9D9D9"/>
              </a:solidFill>
            </a:ln>
          </c:spPr>
        </c:majorGridlines>
        <c:title>
          <c:tx>
            <c:rich>
              <a:bodyPr rot="-5400000" vert="horz"/>
              <a:lstStyle/>
              <a:p>
                <a:pPr>
                  <a:defRPr lang="ja-JP" sz="2200" b="0">
                    <a:solidFill>
                      <a:srgbClr val="000000"/>
                    </a:solidFill>
                    <a:latin typeface="游ゴシック"/>
                    <a:ea typeface="游ゴシック"/>
                  </a:defRPr>
                </a:pPr>
                <a:r>
                  <a:rPr lang="ja-JP" sz="2200" b="0">
                    <a:solidFill>
                      <a:srgbClr val="000000"/>
                    </a:solidFill>
                    <a:latin typeface="游ゴシック"/>
                    <a:ea typeface="游ゴシック"/>
                  </a:rPr>
                  <a:t>相対感度</a:t>
                </a:r>
              </a:p>
            </c:rich>
          </c:tx>
          <c:overlay val="0"/>
        </c:title>
        <c:numFmt formatCode="General" sourceLinked="0"/>
        <c:majorTickMark val="none"/>
        <c:minorTickMark val="none"/>
        <c:tickLblPos val="nextTo"/>
        <c:spPr>
          <a:ln>
            <a:noFill/>
          </a:ln>
        </c:spPr>
        <c:txPr>
          <a:bodyPr/>
          <a:lstStyle/>
          <a:p>
            <a:pPr>
              <a:defRPr lang="ja-JP" sz="2200" b="0">
                <a:solidFill>
                  <a:srgbClr val="000000"/>
                </a:solidFill>
                <a:latin typeface="游ゴシック"/>
                <a:ea typeface="游ゴシック"/>
              </a:defRPr>
            </a:pPr>
            <a:endParaRPr lang="ja-JP"/>
          </a:p>
        </c:txPr>
        <c:crossAx val="511110001"/>
        <c:crosses val="autoZero"/>
        <c:crossBetween val="between"/>
        <c:majorUnit val="0.1"/>
      </c:valAx>
      <c:spPr>
        <a:noFill/>
        <a:ln>
          <a:noFill/>
        </a:ln>
      </c:spPr>
    </c:plotArea>
    <c:legend>
      <c:legendPos val="t"/>
      <c:overlay val="0"/>
      <c:txPr>
        <a:bodyPr/>
        <a:lstStyle/>
        <a:p>
          <a:pPr>
            <a:defRPr lang="ja-JP" sz="2200" b="0">
              <a:solidFill>
                <a:srgbClr val="000000"/>
              </a:solidFill>
              <a:latin typeface="游ゴシック"/>
              <a:ea typeface="游ゴシック"/>
            </a:defRPr>
          </a:pPr>
          <a:endParaRPr lang="ja-JP"/>
        </a:p>
      </c:txPr>
    </c:legend>
    <c:plotVisOnly val="1"/>
    <c:dispBlanksAs val="gap"/>
  </c:chart>
  <c:spPr>
    <a:noFill/>
    <a:ln>
      <a:noFill/>
    </a:ln>
  </c:spPr>
  <c:txPr>
    <a:bodyPr/>
    <a:lstStyle/>
    <a:p>
      <a:pPr>
        <a:defRPr lang="ja-JP" sz="2200" b="0">
          <a:solidFill>
            <a:srgbClr val="000000"/>
          </a:solidFill>
          <a:latin typeface="游ゴシック"/>
          <a:ea typeface="游ゴシック"/>
        </a:defRPr>
      </a:pPr>
      <a:endParaRPr lang="ja-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ja-JP"/>
  <c:roundedCorners val="0"/>
  <c:chart>
    <c:autoTitleDeleted val="1"/>
    <c:plotArea>
      <c:layout/>
      <c:barChart>
        <c:barDir val="col"/>
        <c:grouping val="clustered"/>
        <c:varyColors val="0"/>
        <c:ser>
          <c:idx val="0"/>
          <c:order val="0"/>
          <c:tx>
            <c:strRef>
              <c:f>Sheet1!$B$1</c:f>
              <c:strCache>
                <c:ptCount val="1"/>
                <c:pt idx="0">
                  <c:v>比（%）</c:v>
                </c:pt>
              </c:strCache>
            </c:strRef>
          </c:tx>
          <c:spPr>
            <a:solidFill>
              <a:srgbClr val="A6A6A6"/>
            </a:solidFill>
          </c:spPr>
          <c:invertIfNegative val="0"/>
          <c:dPt>
            <c:idx val="1"/>
            <c:invertIfNegative val="0"/>
            <c:bubble3D val="0"/>
            <c:spPr>
              <a:solidFill>
                <a:srgbClr val="C00000"/>
              </a:solidFill>
            </c:spPr>
          </c:dPt>
          <c:dPt>
            <c:idx val="2"/>
            <c:invertIfNegative val="0"/>
            <c:bubble3D val="0"/>
            <c:spPr>
              <a:solidFill>
                <a:srgbClr val="9DC3E6"/>
              </a:solidFill>
            </c:spPr>
          </c:dPt>
          <c:dLbls>
            <c:numFmt formatCode="0.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Sheet1!$A$2:$A$4</c:f>
              <c:strCache>
                <c:ptCount val="3"/>
                <c:pt idx="0">
                  <c:v>baseline</c:v>
                </c:pt>
                <c:pt idx="1">
                  <c:v>proposal</c:v>
                </c:pt>
                <c:pt idx="2">
                  <c:v>ablation</c:v>
                </c:pt>
              </c:strCache>
            </c:strRef>
          </c:cat>
          <c:val>
            <c:numRef>
              <c:f>Sheet1!$B$2:$B$4</c:f>
              <c:numCache>
                <c:formatCode>General</c:formatCode>
                <c:ptCount val="3"/>
                <c:pt idx="0">
                  <c:v>15.646683917607296</c:v>
                </c:pt>
                <c:pt idx="1">
                  <c:v>9.985176697833298</c:v>
                </c:pt>
                <c:pt idx="2">
                  <c:v>19.93201814288131</c:v>
                </c:pt>
              </c:numCache>
            </c:numRef>
          </c:val>
        </c:ser>
        <c:gapWidth val="50"/>
        <c:overlap val="-5"/>
        <c:axId val="511110001"/>
        <c:axId val="511110002"/>
      </c:barChart>
      <c:catAx>
        <c:axId val="511110001"/>
        <c:scaling>
          <c:orientation val="minMax"/>
        </c:scaling>
        <c:delete val="0"/>
        <c:axPos val="b"/>
        <c:numFmt formatCode="General" sourceLinked="0"/>
        <c:majorTickMark val="none"/>
        <c:minorTickMark val="none"/>
        <c:tickLblPos val="nextTo"/>
        <c:spPr>
          <a:ln w="12700">
            <a:solidFill>
              <a:srgbClr val="7F7F7F"/>
            </a:solidFill>
          </a:ln>
        </c:spPr>
        <c:txPr>
          <a:bodyPr/>
          <a:lstStyle/>
          <a:p>
            <a:pPr>
              <a:defRPr lang="ja-JP" sz="2200" b="0">
                <a:solidFill>
                  <a:srgbClr val="000000"/>
                </a:solidFill>
                <a:latin typeface="游ゴシック"/>
                <a:ea typeface="游ゴシック"/>
              </a:defRPr>
            </a:pPr>
            <a:endParaRPr lang="ja-JP"/>
          </a:p>
        </c:txPr>
        <c:crossAx val="511110002"/>
        <c:crosses val="autoZero"/>
        <c:auto val="1"/>
        <c:lblAlgn val="ctr"/>
        <c:lblOffset val="100"/>
        <c:noMultiLvlLbl val="0"/>
      </c:catAx>
      <c:valAx>
        <c:axId val="511110002"/>
        <c:scaling>
          <c:orientation val="minMax"/>
          <c:max val="25"/>
          <c:min val="0"/>
        </c:scaling>
        <c:delete val="0"/>
        <c:axPos val="l"/>
        <c:majorGridlines>
          <c:spPr>
            <a:ln w="9525">
              <a:solidFill>
                <a:srgbClr val="D9D9D9"/>
              </a:solidFill>
            </a:ln>
          </c:spPr>
        </c:majorGridlines>
        <c:numFmt formatCode="General" sourceLinked="0"/>
        <c:majorTickMark val="none"/>
        <c:minorTickMark val="none"/>
        <c:tickLblPos val="nextTo"/>
        <c:spPr>
          <a:ln>
            <a:noFill/>
          </a:ln>
        </c:spPr>
        <c:txPr>
          <a:bodyPr/>
          <a:lstStyle/>
          <a:p>
            <a:pPr>
              <a:defRPr lang="ja-JP" sz="2200" b="0">
                <a:solidFill>
                  <a:srgbClr val="000000"/>
                </a:solidFill>
                <a:latin typeface="游ゴシック"/>
                <a:ea typeface="游ゴシック"/>
              </a:defRPr>
            </a:pPr>
            <a:endParaRPr lang="ja-JP"/>
          </a:p>
        </c:txPr>
        <c:crossAx val="511110001"/>
        <c:crosses val="autoZero"/>
        <c:crossBetween val="between"/>
        <c:majorUnit val="5"/>
      </c:valAx>
      <c:spPr>
        <a:noFill/>
        <a:ln>
          <a:noFill/>
        </a:ln>
      </c:spPr>
    </c:plotArea>
    <c:plotVisOnly val="1"/>
    <c:dispBlanksAs val="gap"/>
  </c:chart>
  <c:spPr>
    <a:noFill/>
    <a:ln>
      <a:noFill/>
    </a:ln>
  </c:spPr>
  <c:txPr>
    <a:bodyPr/>
    <a:lstStyle/>
    <a:p>
      <a:pPr>
        <a:defRPr lang="ja-JP" sz="2200" b="0">
          <a:solidFill>
            <a:srgbClr val="000000"/>
          </a:solidFill>
          <a:latin typeface="游ゴシック"/>
          <a:ea typeface="游ゴシック"/>
        </a:defRPr>
      </a:pPr>
      <a:endParaRPr lang="ja-JP"/>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ja-JP"/>
  <c:roundedCorners val="0"/>
  <c:chart>
    <c:autoTitleDeleted val="1"/>
    <c:plotArea>
      <c:layout/>
      <c:barChart>
        <c:barDir val="col"/>
        <c:grouping val="clustered"/>
        <c:varyColors val="0"/>
        <c:ser>
          <c:idx val="0"/>
          <c:order val="0"/>
          <c:tx>
            <c:strRef>
              <c:f>Sheet1!$B$1</c:f>
              <c:strCache>
                <c:ptCount val="1"/>
                <c:pt idx="0">
                  <c:v>正解率（%）</c:v>
                </c:pt>
              </c:strCache>
            </c:strRef>
          </c:tx>
          <c:spPr>
            <a:solidFill>
              <a:srgbClr val="A6A6A6"/>
            </a:solidFill>
          </c:spPr>
          <c:invertIfNegative val="0"/>
          <c:dPt>
            <c:idx val="1"/>
            <c:invertIfNegative val="0"/>
            <c:bubble3D val="0"/>
            <c:spPr>
              <a:solidFill>
                <a:srgbClr val="C00000"/>
              </a:solidFill>
            </c:spPr>
          </c:dPt>
          <c:dPt>
            <c:idx val="2"/>
            <c:invertIfNegative val="0"/>
            <c:bubble3D val="0"/>
            <c:spPr>
              <a:solidFill>
                <a:srgbClr val="9DC3E6"/>
              </a:solidFill>
            </c:spPr>
          </c:dPt>
          <c:dLbls>
            <c:numFmt formatCode="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Sheet1!$A$2:$A$4</c:f>
              <c:strCache>
                <c:ptCount val="3"/>
                <c:pt idx="0">
                  <c:v>baseline</c:v>
                </c:pt>
                <c:pt idx="1">
                  <c:v>proposal</c:v>
                </c:pt>
                <c:pt idx="2">
                  <c:v>ablation</c:v>
                </c:pt>
              </c:strCache>
            </c:strRef>
          </c:cat>
          <c:val>
            <c:numRef>
              <c:f>Sheet1!$B$2:$B$4</c:f>
              <c:numCache>
                <c:formatCode>General</c:formatCode>
                <c:ptCount val="3"/>
                <c:pt idx="0">
                  <c:v>53.54333333333333</c:v>
                </c:pt>
                <c:pt idx="1">
                  <c:v>53.486666666666665</c:v>
                </c:pt>
                <c:pt idx="2">
                  <c:v>53.56666666666667</c:v>
                </c:pt>
              </c:numCache>
            </c:numRef>
          </c:val>
        </c:ser>
        <c:gapWidth val="50"/>
        <c:overlap val="-5"/>
        <c:axId val="511110001"/>
        <c:axId val="511110002"/>
      </c:barChart>
      <c:catAx>
        <c:axId val="511110001"/>
        <c:scaling>
          <c:orientation val="minMax"/>
        </c:scaling>
        <c:delete val="0"/>
        <c:axPos val="b"/>
        <c:numFmt formatCode="General" sourceLinked="0"/>
        <c:majorTickMark val="none"/>
        <c:minorTickMark val="none"/>
        <c:tickLblPos val="nextTo"/>
        <c:spPr>
          <a:ln w="12700">
            <a:solidFill>
              <a:srgbClr val="7F7F7F"/>
            </a:solidFill>
          </a:ln>
        </c:spPr>
        <c:txPr>
          <a:bodyPr/>
          <a:lstStyle/>
          <a:p>
            <a:pPr>
              <a:defRPr lang="ja-JP" sz="2200" b="0">
                <a:solidFill>
                  <a:srgbClr val="000000"/>
                </a:solidFill>
                <a:latin typeface="游ゴシック"/>
                <a:ea typeface="游ゴシック"/>
              </a:defRPr>
            </a:pPr>
            <a:endParaRPr lang="ja-JP"/>
          </a:p>
        </c:txPr>
        <c:crossAx val="511110002"/>
        <c:crosses val="autoZero"/>
        <c:auto val="1"/>
        <c:lblAlgn val="ctr"/>
        <c:lblOffset val="100"/>
        <c:noMultiLvlLbl val="0"/>
      </c:catAx>
      <c:valAx>
        <c:axId val="511110002"/>
        <c:scaling>
          <c:orientation val="minMax"/>
          <c:max val="100"/>
          <c:min val="0"/>
        </c:scaling>
        <c:delete val="0"/>
        <c:axPos val="l"/>
        <c:majorGridlines>
          <c:spPr>
            <a:ln w="9525">
              <a:solidFill>
                <a:srgbClr val="D9D9D9"/>
              </a:solidFill>
            </a:ln>
          </c:spPr>
        </c:majorGridlines>
        <c:title>
          <c:tx>
            <c:rich>
              <a:bodyPr rot="-5400000" vert="horz"/>
              <a:lstStyle/>
              <a:p>
                <a:pPr>
                  <a:defRPr lang="ja-JP" sz="2200" b="0">
                    <a:solidFill>
                      <a:srgbClr val="000000"/>
                    </a:solidFill>
                    <a:latin typeface="游ゴシック"/>
                    <a:ea typeface="游ゴシック"/>
                  </a:defRPr>
                </a:pPr>
                <a:r>
                  <a:rPr lang="ja-JP" sz="2200" b="0">
                    <a:solidFill>
                      <a:srgbClr val="000000"/>
                    </a:solidFill>
                    <a:latin typeface="游ゴシック"/>
                    <a:ea typeface="游ゴシック"/>
                  </a:rPr>
                  <a:t>正解率（%）</a:t>
                </a:r>
              </a:p>
            </c:rich>
          </c:tx>
          <c:overlay val="0"/>
        </c:title>
        <c:numFmt formatCode="General" sourceLinked="0"/>
        <c:majorTickMark val="none"/>
        <c:minorTickMark val="none"/>
        <c:tickLblPos val="nextTo"/>
        <c:spPr>
          <a:ln>
            <a:noFill/>
          </a:ln>
        </c:spPr>
        <c:txPr>
          <a:bodyPr/>
          <a:lstStyle/>
          <a:p>
            <a:pPr>
              <a:defRPr lang="ja-JP" sz="2200" b="0">
                <a:solidFill>
                  <a:srgbClr val="000000"/>
                </a:solidFill>
                <a:latin typeface="游ゴシック"/>
                <a:ea typeface="游ゴシック"/>
              </a:defRPr>
            </a:pPr>
            <a:endParaRPr lang="ja-JP"/>
          </a:p>
        </c:txPr>
        <c:crossAx val="511110001"/>
        <c:crosses val="autoZero"/>
        <c:crossBetween val="between"/>
        <c:majorUnit val="25"/>
      </c:valAx>
      <c:spPr>
        <a:noFill/>
        <a:ln>
          <a:noFill/>
        </a:ln>
      </c:spPr>
    </c:plotArea>
    <c:plotVisOnly val="1"/>
    <c:dispBlanksAs val="gap"/>
  </c:chart>
  <c:spPr>
    <a:noFill/>
    <a:ln>
      <a:noFill/>
    </a:ln>
  </c:spPr>
  <c:txPr>
    <a:bodyPr/>
    <a:lstStyle/>
    <a:p>
      <a:pPr>
        <a:defRPr lang="ja-JP" sz="2200" b="0">
          <a:solidFill>
            <a:srgbClr val="000000"/>
          </a:solidFill>
          <a:latin typeface="游ゴシック"/>
          <a:ea typeface="游ゴシック"/>
        </a:defRPr>
      </a:pPr>
      <a:endParaRPr lang="ja-JP"/>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ja-JP"/>
  <c:roundedCorners val="0"/>
  <c:chart>
    <c:autoTitleDeleted val="1"/>
    <c:plotArea>
      <c:layout/>
      <c:barChart>
        <c:barDir val="col"/>
        <c:grouping val="clustered"/>
        <c:varyColors val="0"/>
        <c:ser>
          <c:idx val="0"/>
          <c:order val="0"/>
          <c:tx>
            <c:strRef>
              <c:f>Sheet1!$B$1</c:f>
              <c:strCache>
                <c:ptCount val="1"/>
                <c:pt idx="0">
                  <c:v>距離（× 10⁻³）</c:v>
                </c:pt>
              </c:strCache>
            </c:strRef>
          </c:tx>
          <c:spPr>
            <a:solidFill>
              <a:srgbClr val="A6A6A6"/>
            </a:solidFill>
          </c:spPr>
          <c:invertIfNegative val="0"/>
          <c:dPt>
            <c:idx val="1"/>
            <c:invertIfNegative val="0"/>
            <c:bubble3D val="0"/>
            <c:spPr>
              <a:solidFill>
                <a:srgbClr val="C00000"/>
              </a:solidFill>
            </c:spPr>
          </c:dPt>
          <c:dPt>
            <c:idx val="2"/>
            <c:invertIfNegative val="0"/>
            <c:bubble3D val="0"/>
            <c:spPr>
              <a:solidFill>
                <a:srgbClr val="9DC3E6"/>
              </a:solidFill>
            </c:spPr>
          </c:dPt>
          <c:dLbls>
            <c:numFmt formatCode="0.00" sourceLinked="0"/>
            <c:spPr>
              <a:noFill/>
              <a:ln>
                <a:noFill/>
              </a:ln>
            </c:spPr>
            <c:txPr>
              <a:bodyPr/>
              <a:lstStyle/>
              <a:p>
                <a:pPr>
                  <a:defRPr lang="ja-JP" sz="2200" b="0">
                    <a:solidFill>
                      <a:srgbClr val="000000"/>
                    </a:solidFill>
                    <a:latin typeface="游ゴシック"/>
                    <a:ea typeface="游ゴシック"/>
                  </a:defRPr>
                </a:pPr>
                <a:endParaRPr lang="ja-JP"/>
              </a:p>
            </c:txPr>
            <c:dLblPos val="outEnd"/>
            <c:showLegendKey val="0"/>
            <c:showVal val="1"/>
            <c:showCatName val="0"/>
            <c:showSerName val="0"/>
            <c:showPercent val="0"/>
            <c:showBubbleSize val="0"/>
          </c:dLbls>
          <c:cat>
            <c:strRef>
              <c:f>Sheet1!$A$2:$A$4</c:f>
              <c:strCache>
                <c:ptCount val="3"/>
                <c:pt idx="0">
                  <c:v>baseline</c:v>
                </c:pt>
                <c:pt idx="1">
                  <c:v>proposal</c:v>
                </c:pt>
                <c:pt idx="2">
                  <c:v>ablation</c:v>
                </c:pt>
              </c:strCache>
            </c:strRef>
          </c:cat>
          <c:val>
            <c:numRef>
              <c:f>Sheet1!$B$2:$B$4</c:f>
              <c:numCache>
                <c:formatCode>General</c:formatCode>
                <c:ptCount val="3"/>
                <c:pt idx="0">
                  <c:v>0.9537221437009672</c:v>
                </c:pt>
                <c:pt idx="1">
                  <c:v>2.90264297897617</c:v>
                </c:pt>
                <c:pt idx="2">
                  <c:v>0.2921385069688161</c:v>
                </c:pt>
              </c:numCache>
            </c:numRef>
          </c:val>
        </c:ser>
        <c:gapWidth val="50"/>
        <c:overlap val="-5"/>
        <c:axId val="511110001"/>
        <c:axId val="511110002"/>
      </c:barChart>
      <c:catAx>
        <c:axId val="511110001"/>
        <c:scaling>
          <c:orientation val="minMax"/>
        </c:scaling>
        <c:delete val="0"/>
        <c:axPos val="b"/>
        <c:numFmt formatCode="General" sourceLinked="0"/>
        <c:majorTickMark val="none"/>
        <c:minorTickMark val="none"/>
        <c:tickLblPos val="nextTo"/>
        <c:spPr>
          <a:ln w="12700">
            <a:solidFill>
              <a:srgbClr val="7F7F7F"/>
            </a:solidFill>
          </a:ln>
        </c:spPr>
        <c:txPr>
          <a:bodyPr/>
          <a:lstStyle/>
          <a:p>
            <a:pPr>
              <a:defRPr lang="ja-JP" sz="2200" b="0">
                <a:solidFill>
                  <a:srgbClr val="000000"/>
                </a:solidFill>
                <a:latin typeface="游ゴシック"/>
                <a:ea typeface="游ゴシック"/>
              </a:defRPr>
            </a:pPr>
            <a:endParaRPr lang="ja-JP"/>
          </a:p>
        </c:txPr>
        <c:crossAx val="511110002"/>
        <c:crosses val="autoZero"/>
        <c:auto val="1"/>
        <c:lblAlgn val="ctr"/>
        <c:lblOffset val="100"/>
        <c:noMultiLvlLbl val="0"/>
      </c:catAx>
      <c:valAx>
        <c:axId val="511110002"/>
        <c:scaling>
          <c:orientation val="minMax"/>
          <c:max val="4"/>
          <c:min val="0"/>
        </c:scaling>
        <c:delete val="0"/>
        <c:axPos val="l"/>
        <c:majorGridlines>
          <c:spPr>
            <a:ln w="9525">
              <a:solidFill>
                <a:srgbClr val="D9D9D9"/>
              </a:solidFill>
            </a:ln>
          </c:spPr>
        </c:majorGridlines>
        <c:numFmt formatCode="General" sourceLinked="0"/>
        <c:majorTickMark val="none"/>
        <c:minorTickMark val="none"/>
        <c:tickLblPos val="nextTo"/>
        <c:spPr>
          <a:ln>
            <a:noFill/>
          </a:ln>
        </c:spPr>
        <c:txPr>
          <a:bodyPr/>
          <a:lstStyle/>
          <a:p>
            <a:pPr>
              <a:defRPr lang="ja-JP" sz="2200" b="0">
                <a:solidFill>
                  <a:srgbClr val="000000"/>
                </a:solidFill>
                <a:latin typeface="游ゴシック"/>
                <a:ea typeface="游ゴシック"/>
              </a:defRPr>
            </a:pPr>
            <a:endParaRPr lang="ja-JP"/>
          </a:p>
        </c:txPr>
        <c:crossAx val="511110001"/>
        <c:crosses val="autoZero"/>
        <c:crossBetween val="between"/>
        <c:majorUnit val="1"/>
      </c:valAx>
      <c:spPr>
        <a:noFill/>
        <a:ln>
          <a:noFill/>
        </a:ln>
      </c:spPr>
    </c:plotArea>
    <c:plotVisOnly val="1"/>
    <c:dispBlanksAs val="gap"/>
  </c:chart>
  <c:spPr>
    <a:noFill/>
    <a:ln>
      <a:noFill/>
    </a:ln>
  </c:spPr>
  <c:txPr>
    <a:bodyPr/>
    <a:lstStyle/>
    <a:p>
      <a:pPr>
        <a:defRPr lang="ja-JP" sz="2200" b="0">
          <a:solidFill>
            <a:srgbClr val="000000"/>
          </a:solidFill>
          <a:latin typeface="游ゴシック"/>
          <a:ea typeface="游ゴシック"/>
        </a:defRPr>
      </a:pPr>
      <a:endParaRPr lang="ja-JP"/>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ja-JP" smtClean="0"/>
              <a:t>Click to edit Master title style</a:t>
            </a:r>
            <a:endParaRPr lang="ja-JP"/>
          </a:p>
        </p:txBody>
      </p:sp>
      <p:sp>
        <p:nvSpPr>
          <p:cNvPr id="3" name="Subtitle 2"/>
          <p:cNvSpPr>
            <a:spLocks noGrp="1"/>
          </p:cNvSpPr>
          <p:nvPr>
            <p:ph type="subTitle" idx="1"/>
          </p:nvPr>
        </p:nvSpPr>
        <p:spPr>
          <a:xfrm>
            <a:off x="1371600" y="3886200"/>
            <a:ext cx="6400800" cy="1752600"/>
          </a:xfrm>
        </p:spPr>
        <p:txBody>
          <a:bodyPr/>
          <a:lstStyle>
            <a:lvl1pPr marL="0" indent="0" algn="ctr">
              <a:buNone/>
              <a:defRPr lang="ja-JP">
                <a:solidFill>
                  <a:schemeClr val="tx1">
                    <a:tint val="75000"/>
                  </a:schemeClr>
                </a:solidFill>
              </a:defRPr>
            </a:lvl1pPr>
            <a:lvl2pPr marL="457200" indent="0" algn="ctr">
              <a:buNone/>
              <a:defRPr lang="ja-JP">
                <a:solidFill>
                  <a:schemeClr val="tx1">
                    <a:tint val="75000"/>
                  </a:schemeClr>
                </a:solidFill>
              </a:defRPr>
            </a:lvl2pPr>
            <a:lvl3pPr marL="914400" indent="0" algn="ctr">
              <a:buNone/>
              <a:defRPr lang="ja-JP">
                <a:solidFill>
                  <a:schemeClr val="tx1">
                    <a:tint val="75000"/>
                  </a:schemeClr>
                </a:solidFill>
              </a:defRPr>
            </a:lvl3pPr>
            <a:lvl4pPr marL="1371600" indent="0" algn="ctr">
              <a:buNone/>
              <a:defRPr lang="ja-JP">
                <a:solidFill>
                  <a:schemeClr val="tx1">
                    <a:tint val="75000"/>
                  </a:schemeClr>
                </a:solidFill>
              </a:defRPr>
            </a:lvl4pPr>
            <a:lvl5pPr marL="1828800" indent="0" algn="ctr">
              <a:buNone/>
              <a:defRPr lang="ja-JP">
                <a:solidFill>
                  <a:schemeClr val="tx1">
                    <a:tint val="75000"/>
                  </a:schemeClr>
                </a:solidFill>
              </a:defRPr>
            </a:lvl5pPr>
            <a:lvl6pPr marL="2286000" indent="0" algn="ctr">
              <a:buNone/>
              <a:defRPr lang="ja-JP">
                <a:solidFill>
                  <a:schemeClr val="tx1">
                    <a:tint val="75000"/>
                  </a:schemeClr>
                </a:solidFill>
              </a:defRPr>
            </a:lvl6pPr>
            <a:lvl7pPr marL="2743200" indent="0" algn="ctr">
              <a:buNone/>
              <a:defRPr lang="ja-JP">
                <a:solidFill>
                  <a:schemeClr val="tx1">
                    <a:tint val="75000"/>
                  </a:schemeClr>
                </a:solidFill>
              </a:defRPr>
            </a:lvl7pPr>
            <a:lvl8pPr marL="3200400" indent="0" algn="ctr">
              <a:buNone/>
              <a:defRPr lang="ja-JP">
                <a:solidFill>
                  <a:schemeClr val="tx1">
                    <a:tint val="75000"/>
                  </a:schemeClr>
                </a:solidFill>
              </a:defRPr>
            </a:lvl8pPr>
            <a:lvl9pPr marL="3657600" indent="0" algn="ctr">
              <a:buNone/>
              <a:defRPr lang="ja-JP">
                <a:solidFill>
                  <a:schemeClr val="tx1">
                    <a:tint val="75000"/>
                  </a:schemeClr>
                </a:solidFill>
              </a:defRPr>
            </a:lvl9pPr>
          </a:lstStyle>
          <a:p>
            <a:r>
              <a:rPr lang="ja-JP" smtClean="0"/>
              <a:t>Click to edit Master subtitle style</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Content Placeholder 2"/>
          <p:cNvSpPr>
            <a:spLocks noGrp="1"/>
          </p:cNvSpPr>
          <p:nvPr>
            <p:ph idx="1"/>
          </p:nvPr>
        </p:nvSpPr>
        <p:spPr/>
        <p:txBody>
          <a:body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lang="ja-JP"/>
            </a:lvl1pPr>
          </a:lstStyle>
          <a:p>
            <a:r>
              <a:rPr lang="ja-JP" smtClean="0"/>
              <a:t>Click to edit Master title style</a:t>
            </a:r>
            <a:endParaRPr lang="ja-JP"/>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lang="ja-JP">
                <a:solidFill>
                  <a:schemeClr val="tx1">
                    <a:tint val="75000"/>
                  </a:schemeClr>
                </a:solidFill>
              </a:defRPr>
            </a:lvl1pPr>
            <a:lvl2pPr marL="457200" indent="0">
              <a:buNone/>
              <a:defRPr sz="1800" lang="ja-JP">
                <a:solidFill>
                  <a:schemeClr val="tx1">
                    <a:tint val="75000"/>
                  </a:schemeClr>
                </a:solidFill>
              </a:defRPr>
            </a:lvl2pPr>
            <a:lvl3pPr marL="914400" indent="0">
              <a:buNone/>
              <a:defRPr sz="1600" lang="ja-JP">
                <a:solidFill>
                  <a:schemeClr val="tx1">
                    <a:tint val="75000"/>
                  </a:schemeClr>
                </a:solidFill>
              </a:defRPr>
            </a:lvl3pPr>
            <a:lvl4pPr marL="1371600" indent="0">
              <a:buNone/>
              <a:defRPr sz="1400" lang="ja-JP">
                <a:solidFill>
                  <a:schemeClr val="tx1">
                    <a:tint val="75000"/>
                  </a:schemeClr>
                </a:solidFill>
              </a:defRPr>
            </a:lvl4pPr>
            <a:lvl5pPr marL="1828800" indent="0">
              <a:buNone/>
              <a:defRPr sz="1400" lang="ja-JP">
                <a:solidFill>
                  <a:schemeClr val="tx1">
                    <a:tint val="75000"/>
                  </a:schemeClr>
                </a:solidFill>
              </a:defRPr>
            </a:lvl5pPr>
            <a:lvl6pPr marL="2286000" indent="0">
              <a:buNone/>
              <a:defRPr sz="1400" lang="ja-JP">
                <a:solidFill>
                  <a:schemeClr val="tx1">
                    <a:tint val="75000"/>
                  </a:schemeClr>
                </a:solidFill>
              </a:defRPr>
            </a:lvl6pPr>
            <a:lvl7pPr marL="2743200" indent="0">
              <a:buNone/>
              <a:defRPr sz="1400" lang="ja-JP">
                <a:solidFill>
                  <a:schemeClr val="tx1">
                    <a:tint val="75000"/>
                  </a:schemeClr>
                </a:solidFill>
              </a:defRPr>
            </a:lvl7pPr>
            <a:lvl8pPr marL="3200400" indent="0">
              <a:buNone/>
              <a:defRPr sz="1400" lang="ja-JP">
                <a:solidFill>
                  <a:schemeClr val="tx1">
                    <a:tint val="75000"/>
                  </a:schemeClr>
                </a:solidFill>
              </a:defRPr>
            </a:lvl8pPr>
            <a:lvl9pPr marL="3657600" indent="0">
              <a:buNone/>
              <a:defRPr sz="1400" lang="ja-JP">
                <a:solidFill>
                  <a:schemeClr val="tx1">
                    <a:tint val="75000"/>
                  </a:schemeClr>
                </a:solidFill>
              </a:defRPr>
            </a:lvl9pPr>
          </a:lstStyle>
          <a:p>
            <a:pPr lvl="0"/>
            <a:r>
              <a:rPr lang="ja-JP"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Content Placeholder 2"/>
          <p:cNvSpPr>
            <a:spLocks noGrp="1"/>
          </p:cNvSpPr>
          <p:nvPr>
            <p:ph sz="half" idx="1"/>
          </p:nvPr>
        </p:nvSpPr>
        <p:spPr>
          <a:xfrm>
            <a:off x="457200" y="1600200"/>
            <a:ext cx="4038600" cy="4525963"/>
          </a:xfrm>
        </p:spPr>
        <p:txBody>
          <a:bodyPr/>
          <a:lstStyle>
            <a:lvl1pPr>
              <a:defRPr sz="2800" lang="ja-JP"/>
            </a:lvl1pPr>
            <a:lvl2pPr>
              <a:defRPr sz="2400" lang="ja-JP"/>
            </a:lvl2pPr>
            <a:lvl3pPr>
              <a:defRPr sz="2000" lang="ja-JP"/>
            </a:lvl3pPr>
            <a:lvl4pPr>
              <a:defRPr sz="1800" lang="ja-JP"/>
            </a:lvl4pPr>
            <a:lvl5pPr>
              <a:defRPr sz="1800" lang="ja-JP"/>
            </a:lvl5pPr>
            <a:lvl6pPr>
              <a:defRPr sz="1800" lang="ja-JP"/>
            </a:lvl6pPr>
            <a:lvl7pPr>
              <a:defRPr sz="1800" lang="ja-JP"/>
            </a:lvl7pPr>
            <a:lvl8pPr>
              <a:defRPr sz="1800" lang="ja-JP"/>
            </a:lvl8pPr>
            <a:lvl9pPr>
              <a:defRPr sz="18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Content Placeholder 3"/>
          <p:cNvSpPr>
            <a:spLocks noGrp="1"/>
          </p:cNvSpPr>
          <p:nvPr>
            <p:ph sz="half" idx="2"/>
          </p:nvPr>
        </p:nvSpPr>
        <p:spPr>
          <a:xfrm>
            <a:off x="4648200" y="1600200"/>
            <a:ext cx="4038600" cy="4525963"/>
          </a:xfrm>
        </p:spPr>
        <p:txBody>
          <a:bodyPr/>
          <a:lstStyle>
            <a:lvl1pPr>
              <a:defRPr sz="2800" lang="ja-JP"/>
            </a:lvl1pPr>
            <a:lvl2pPr>
              <a:defRPr sz="2400" lang="ja-JP"/>
            </a:lvl2pPr>
            <a:lvl3pPr>
              <a:defRPr sz="2000" lang="ja-JP"/>
            </a:lvl3pPr>
            <a:lvl4pPr>
              <a:defRPr sz="1800" lang="ja-JP"/>
            </a:lvl4pPr>
            <a:lvl5pPr>
              <a:defRPr sz="1800" lang="ja-JP"/>
            </a:lvl5pPr>
            <a:lvl6pPr>
              <a:defRPr sz="1800" lang="ja-JP"/>
            </a:lvl6pPr>
            <a:lvl7pPr>
              <a:defRPr sz="1800" lang="ja-JP"/>
            </a:lvl7pPr>
            <a:lvl8pPr>
              <a:defRPr sz="1800" lang="ja-JP"/>
            </a:lvl8pPr>
            <a:lvl9pPr>
              <a:defRPr sz="18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5" name="Date Placeholder 4"/>
          <p:cNvSpPr>
            <a:spLocks noGrp="1"/>
          </p:cNvSpPr>
          <p:nvPr>
            <p:ph type="dt" sz="half" idx="10"/>
          </p:nvPr>
        </p:nvSpPr>
        <p:spPr/>
        <p:txBody>
          <a:bodyPr/>
          <a:lstStyle/>
          <a:p>
            <a:fld id="{5BCAD085-E8A6-8845-BD4E-CB4CCA059FC4}" type="datetimeFigureOut">
              <a:rPr lang="ja-JP" smtClean="0"/>
              <a:t>1/27/13</a:t>
            </a:fld>
            <a:endParaRPr lang="ja-JP"/>
          </a:p>
        </p:txBody>
      </p:sp>
      <p:sp>
        <p:nvSpPr>
          <p:cNvPr id="6" name="Footer Placeholder 5"/>
          <p:cNvSpPr>
            <a:spLocks noGrp="1"/>
          </p:cNvSpPr>
          <p:nvPr>
            <p:ph type="ftr" sz="quarter" idx="11"/>
          </p:nvPr>
        </p:nvSpPr>
        <p:spPr/>
        <p:txBody>
          <a:bodyPr/>
          <a:lstStyle/>
          <a:p>
            <a:endParaRPr lang="ja-JP"/>
          </a:p>
        </p:txBody>
      </p:sp>
      <p:sp>
        <p:nvSpPr>
          <p:cNvPr id="7" name="Slide Number Placeholder 6"/>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ja-JP"/>
            </a:lvl1pPr>
          </a:lstStyle>
          <a:p>
            <a:r>
              <a:rPr lang="ja-JP" smtClean="0"/>
              <a:t>Click to edit Master title style</a:t>
            </a:r>
            <a:endParaRPr lang="ja-JP"/>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lang="ja-JP"/>
            </a:lvl1pPr>
            <a:lvl2pPr marL="457200" indent="0">
              <a:buNone/>
              <a:defRPr sz="2000" b="1" lang="ja-JP"/>
            </a:lvl2pPr>
            <a:lvl3pPr marL="914400" indent="0">
              <a:buNone/>
              <a:defRPr sz="1800" b="1" lang="ja-JP"/>
            </a:lvl3pPr>
            <a:lvl4pPr marL="1371600" indent="0">
              <a:buNone/>
              <a:defRPr sz="1600" b="1" lang="ja-JP"/>
            </a:lvl4pPr>
            <a:lvl5pPr marL="1828800" indent="0">
              <a:buNone/>
              <a:defRPr sz="1600" b="1" lang="ja-JP"/>
            </a:lvl5pPr>
            <a:lvl6pPr marL="2286000" indent="0">
              <a:buNone/>
              <a:defRPr sz="1600" b="1" lang="ja-JP"/>
            </a:lvl6pPr>
            <a:lvl7pPr marL="2743200" indent="0">
              <a:buNone/>
              <a:defRPr sz="1600" b="1" lang="ja-JP"/>
            </a:lvl7pPr>
            <a:lvl8pPr marL="3200400" indent="0">
              <a:buNone/>
              <a:defRPr sz="1600" b="1" lang="ja-JP"/>
            </a:lvl8pPr>
            <a:lvl9pPr marL="3657600" indent="0">
              <a:buNone/>
              <a:defRPr sz="1600" b="1" lang="ja-JP"/>
            </a:lvl9pPr>
          </a:lstStyle>
          <a:p>
            <a:pPr lvl="0"/>
            <a:r>
              <a:rPr lang="ja-JP"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lang="ja-JP"/>
            </a:lvl1pPr>
            <a:lvl2pPr>
              <a:defRPr sz="2000" lang="ja-JP"/>
            </a:lvl2pPr>
            <a:lvl3pPr>
              <a:defRPr sz="1800" lang="ja-JP"/>
            </a:lvl3pPr>
            <a:lvl4pPr>
              <a:defRPr sz="1600" lang="ja-JP"/>
            </a:lvl4pPr>
            <a:lvl5pPr>
              <a:defRPr sz="1600" lang="ja-JP"/>
            </a:lvl5pPr>
            <a:lvl6pPr>
              <a:defRPr sz="1600" lang="ja-JP"/>
            </a:lvl6pPr>
            <a:lvl7pPr>
              <a:defRPr sz="1600" lang="ja-JP"/>
            </a:lvl7pPr>
            <a:lvl8pPr>
              <a:defRPr sz="1600" lang="ja-JP"/>
            </a:lvl8pPr>
            <a:lvl9pPr>
              <a:defRPr sz="16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lang="ja-JP"/>
            </a:lvl1pPr>
            <a:lvl2pPr marL="457200" indent="0">
              <a:buNone/>
              <a:defRPr sz="2000" b="1" lang="ja-JP"/>
            </a:lvl2pPr>
            <a:lvl3pPr marL="914400" indent="0">
              <a:buNone/>
              <a:defRPr sz="1800" b="1" lang="ja-JP"/>
            </a:lvl3pPr>
            <a:lvl4pPr marL="1371600" indent="0">
              <a:buNone/>
              <a:defRPr sz="1600" b="1" lang="ja-JP"/>
            </a:lvl4pPr>
            <a:lvl5pPr marL="1828800" indent="0">
              <a:buNone/>
              <a:defRPr sz="1600" b="1" lang="ja-JP"/>
            </a:lvl5pPr>
            <a:lvl6pPr marL="2286000" indent="0">
              <a:buNone/>
              <a:defRPr sz="1600" b="1" lang="ja-JP"/>
            </a:lvl6pPr>
            <a:lvl7pPr marL="2743200" indent="0">
              <a:buNone/>
              <a:defRPr sz="1600" b="1" lang="ja-JP"/>
            </a:lvl7pPr>
            <a:lvl8pPr marL="3200400" indent="0">
              <a:buNone/>
              <a:defRPr sz="1600" b="1" lang="ja-JP"/>
            </a:lvl8pPr>
            <a:lvl9pPr marL="3657600" indent="0">
              <a:buNone/>
              <a:defRPr sz="1600" b="1" lang="ja-JP"/>
            </a:lvl9pPr>
          </a:lstStyle>
          <a:p>
            <a:pPr lvl="0"/>
            <a:r>
              <a:rPr lang="ja-JP"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lang="ja-JP"/>
            </a:lvl1pPr>
            <a:lvl2pPr>
              <a:defRPr sz="2000" lang="ja-JP"/>
            </a:lvl2pPr>
            <a:lvl3pPr>
              <a:defRPr sz="1800" lang="ja-JP"/>
            </a:lvl3pPr>
            <a:lvl4pPr>
              <a:defRPr sz="1600" lang="ja-JP"/>
            </a:lvl4pPr>
            <a:lvl5pPr>
              <a:defRPr sz="1600" lang="ja-JP"/>
            </a:lvl5pPr>
            <a:lvl6pPr>
              <a:defRPr sz="1600" lang="ja-JP"/>
            </a:lvl6pPr>
            <a:lvl7pPr>
              <a:defRPr sz="1600" lang="ja-JP"/>
            </a:lvl7pPr>
            <a:lvl8pPr>
              <a:defRPr sz="1600" lang="ja-JP"/>
            </a:lvl8pPr>
            <a:lvl9pPr>
              <a:defRPr sz="16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7" name="Date Placeholder 6"/>
          <p:cNvSpPr>
            <a:spLocks noGrp="1"/>
          </p:cNvSpPr>
          <p:nvPr>
            <p:ph type="dt" sz="half" idx="10"/>
          </p:nvPr>
        </p:nvSpPr>
        <p:spPr/>
        <p:txBody>
          <a:bodyPr/>
          <a:lstStyle/>
          <a:p>
            <a:fld id="{5BCAD085-E8A6-8845-BD4E-CB4CCA059FC4}" type="datetimeFigureOut">
              <a:rPr lang="ja-JP" smtClean="0"/>
              <a:t>1/27/13</a:t>
            </a:fld>
            <a:endParaRPr lang="ja-JP"/>
          </a:p>
        </p:txBody>
      </p:sp>
      <p:sp>
        <p:nvSpPr>
          <p:cNvPr id="8" name="Footer Placeholder 7"/>
          <p:cNvSpPr>
            <a:spLocks noGrp="1"/>
          </p:cNvSpPr>
          <p:nvPr>
            <p:ph type="ftr" sz="quarter" idx="11"/>
          </p:nvPr>
        </p:nvSpPr>
        <p:spPr/>
        <p:txBody>
          <a:bodyPr/>
          <a:lstStyle/>
          <a:p>
            <a:endParaRPr lang="ja-JP"/>
          </a:p>
        </p:txBody>
      </p:sp>
      <p:sp>
        <p:nvSpPr>
          <p:cNvPr id="9" name="Slide Number Placeholder 8"/>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Date Placeholder 2"/>
          <p:cNvSpPr>
            <a:spLocks noGrp="1"/>
          </p:cNvSpPr>
          <p:nvPr>
            <p:ph type="dt" sz="half" idx="10"/>
          </p:nvPr>
        </p:nvSpPr>
        <p:spPr/>
        <p:txBody>
          <a:bodyPr/>
          <a:lstStyle/>
          <a:p>
            <a:fld id="{5BCAD085-E8A6-8845-BD4E-CB4CCA059FC4}" type="datetimeFigureOut">
              <a:rPr lang="ja-JP" smtClean="0"/>
              <a:t>1/27/13</a:t>
            </a:fld>
            <a:endParaRPr lang="ja-JP"/>
          </a:p>
        </p:txBody>
      </p:sp>
      <p:sp>
        <p:nvSpPr>
          <p:cNvPr id="4" name="Footer Placeholder 3"/>
          <p:cNvSpPr>
            <a:spLocks noGrp="1"/>
          </p:cNvSpPr>
          <p:nvPr>
            <p:ph type="ftr" sz="quarter" idx="11"/>
          </p:nvPr>
        </p:nvSpPr>
        <p:spPr/>
        <p:txBody>
          <a:bodyPr/>
          <a:lstStyle/>
          <a:p>
            <a:endParaRPr lang="ja-JP"/>
          </a:p>
        </p:txBody>
      </p:sp>
      <p:sp>
        <p:nvSpPr>
          <p:cNvPr id="5" name="Slide Number Placeholder 4"/>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ja-JP" smtClean="0"/>
              <a:t>1/27/13</a:t>
            </a:fld>
            <a:endParaRPr lang="ja-JP"/>
          </a:p>
        </p:txBody>
      </p:sp>
      <p:sp>
        <p:nvSpPr>
          <p:cNvPr id="3" name="Footer Placeholder 2"/>
          <p:cNvSpPr>
            <a:spLocks noGrp="1"/>
          </p:cNvSpPr>
          <p:nvPr>
            <p:ph type="ftr" sz="quarter" idx="11"/>
          </p:nvPr>
        </p:nvSpPr>
        <p:spPr/>
        <p:txBody>
          <a:bodyPr/>
          <a:lstStyle/>
          <a:p>
            <a:endParaRPr lang="ja-JP"/>
          </a:p>
        </p:txBody>
      </p:sp>
      <p:sp>
        <p:nvSpPr>
          <p:cNvPr id="4" name="Slide Number Placeholder 3"/>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lang="ja-JP"/>
            </a:lvl1pPr>
          </a:lstStyle>
          <a:p>
            <a:r>
              <a:rPr lang="ja-JP" smtClean="0"/>
              <a:t>Click to edit Master title style</a:t>
            </a:r>
            <a:endParaRPr lang="ja-JP"/>
          </a:p>
        </p:txBody>
      </p:sp>
      <p:sp>
        <p:nvSpPr>
          <p:cNvPr id="3" name="Content Placeholder 2"/>
          <p:cNvSpPr>
            <a:spLocks noGrp="1"/>
          </p:cNvSpPr>
          <p:nvPr>
            <p:ph idx="1"/>
          </p:nvPr>
        </p:nvSpPr>
        <p:spPr>
          <a:xfrm>
            <a:off x="3575050" y="273050"/>
            <a:ext cx="5111750" cy="5853113"/>
          </a:xfrm>
        </p:spPr>
        <p:txBody>
          <a:bodyPr/>
          <a:lstStyle>
            <a:lvl1pPr>
              <a:defRPr sz="3200" lang="ja-JP"/>
            </a:lvl1pPr>
            <a:lvl2pPr>
              <a:defRPr sz="2800" lang="ja-JP"/>
            </a:lvl2pPr>
            <a:lvl3pPr>
              <a:defRPr sz="2400" lang="ja-JP"/>
            </a:lvl3pPr>
            <a:lvl4pPr>
              <a:defRPr sz="2000" lang="ja-JP"/>
            </a:lvl4pPr>
            <a:lvl5pPr>
              <a:defRPr sz="2000" lang="ja-JP"/>
            </a:lvl5pPr>
            <a:lvl6pPr>
              <a:defRPr sz="2000" lang="ja-JP"/>
            </a:lvl6pPr>
            <a:lvl7pPr>
              <a:defRPr sz="2000" lang="ja-JP"/>
            </a:lvl7pPr>
            <a:lvl8pPr>
              <a:defRPr sz="2000" lang="ja-JP"/>
            </a:lvl8pPr>
            <a:lvl9pPr>
              <a:defRPr sz="2000" lang="ja-JP"/>
            </a:lvl9p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lang="ja-JP"/>
            </a:lvl1pPr>
            <a:lvl2pPr marL="457200" indent="0">
              <a:buNone/>
              <a:defRPr sz="1200" lang="ja-JP"/>
            </a:lvl2pPr>
            <a:lvl3pPr marL="914400" indent="0">
              <a:buNone/>
              <a:defRPr sz="1000" lang="ja-JP"/>
            </a:lvl3pPr>
            <a:lvl4pPr marL="1371600" indent="0">
              <a:buNone/>
              <a:defRPr sz="900" lang="ja-JP"/>
            </a:lvl4pPr>
            <a:lvl5pPr marL="1828800" indent="0">
              <a:buNone/>
              <a:defRPr sz="900" lang="ja-JP"/>
            </a:lvl5pPr>
            <a:lvl6pPr marL="2286000" indent="0">
              <a:buNone/>
              <a:defRPr sz="900" lang="ja-JP"/>
            </a:lvl6pPr>
            <a:lvl7pPr marL="2743200" indent="0">
              <a:buNone/>
              <a:defRPr sz="900" lang="ja-JP"/>
            </a:lvl7pPr>
            <a:lvl8pPr marL="3200400" indent="0">
              <a:buNone/>
              <a:defRPr sz="900" lang="ja-JP"/>
            </a:lvl8pPr>
            <a:lvl9pPr marL="3657600" indent="0">
              <a:buNone/>
              <a:defRPr sz="900" lang="ja-JP"/>
            </a:lvl9pPr>
          </a:lstStyle>
          <a:p>
            <a:pPr lvl="0"/>
            <a:r>
              <a:rPr lang="ja-JP"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ja-JP" smtClean="0"/>
              <a:t>1/27/13</a:t>
            </a:fld>
            <a:endParaRPr lang="ja-JP"/>
          </a:p>
        </p:txBody>
      </p:sp>
      <p:sp>
        <p:nvSpPr>
          <p:cNvPr id="6" name="Footer Placeholder 5"/>
          <p:cNvSpPr>
            <a:spLocks noGrp="1"/>
          </p:cNvSpPr>
          <p:nvPr>
            <p:ph type="ftr" sz="quarter" idx="11"/>
          </p:nvPr>
        </p:nvSpPr>
        <p:spPr/>
        <p:txBody>
          <a:bodyPr/>
          <a:lstStyle/>
          <a:p>
            <a:endParaRPr lang="ja-JP"/>
          </a:p>
        </p:txBody>
      </p:sp>
      <p:sp>
        <p:nvSpPr>
          <p:cNvPr id="7" name="Slide Number Placeholder 6"/>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lang="ja-JP"/>
            </a:lvl1pPr>
          </a:lstStyle>
          <a:p>
            <a:r>
              <a:rPr lang="ja-JP" smtClean="0"/>
              <a:t>Click to edit Master title style</a:t>
            </a:r>
            <a:endParaRPr lang="ja-JP"/>
          </a:p>
        </p:txBody>
      </p:sp>
      <p:sp>
        <p:nvSpPr>
          <p:cNvPr id="3" name="Picture Placeholder 2"/>
          <p:cNvSpPr>
            <a:spLocks noGrp="1"/>
          </p:cNvSpPr>
          <p:nvPr>
            <p:ph type="pic" idx="1"/>
          </p:nvPr>
        </p:nvSpPr>
        <p:spPr>
          <a:xfrm>
            <a:off x="1792288" y="612775"/>
            <a:ext cx="5486400" cy="4114800"/>
          </a:xfrm>
        </p:spPr>
        <p:txBody>
          <a:bodyPr/>
          <a:lstStyle>
            <a:lvl1pPr marL="0" indent="0">
              <a:buNone/>
              <a:defRPr sz="3200" lang="ja-JP"/>
            </a:lvl1pPr>
            <a:lvl2pPr marL="457200" indent="0">
              <a:buNone/>
              <a:defRPr sz="2800" lang="ja-JP"/>
            </a:lvl2pPr>
            <a:lvl3pPr marL="914400" indent="0">
              <a:buNone/>
              <a:defRPr sz="2400" lang="ja-JP"/>
            </a:lvl3pPr>
            <a:lvl4pPr marL="1371600" indent="0">
              <a:buNone/>
              <a:defRPr sz="2000" lang="ja-JP"/>
            </a:lvl4pPr>
            <a:lvl5pPr marL="1828800" indent="0">
              <a:buNone/>
              <a:defRPr sz="2000" lang="ja-JP"/>
            </a:lvl5pPr>
            <a:lvl6pPr marL="2286000" indent="0">
              <a:buNone/>
              <a:defRPr sz="2000" lang="ja-JP"/>
            </a:lvl6pPr>
            <a:lvl7pPr marL="2743200" indent="0">
              <a:buNone/>
              <a:defRPr sz="2000" lang="ja-JP"/>
            </a:lvl7pPr>
            <a:lvl8pPr marL="3200400" indent="0">
              <a:buNone/>
              <a:defRPr sz="2000" lang="ja-JP"/>
            </a:lvl8pPr>
            <a:lvl9pPr marL="3657600" indent="0">
              <a:buNone/>
              <a:defRPr sz="2000" lang="ja-JP"/>
            </a:lvl9pPr>
          </a:lstStyle>
          <a:p>
            <a:endParaRPr lang="ja-JP"/>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lang="ja-JP"/>
            </a:lvl1pPr>
            <a:lvl2pPr marL="457200" indent="0">
              <a:buNone/>
              <a:defRPr sz="1200" lang="ja-JP"/>
            </a:lvl2pPr>
            <a:lvl3pPr marL="914400" indent="0">
              <a:buNone/>
              <a:defRPr sz="1000" lang="ja-JP"/>
            </a:lvl3pPr>
            <a:lvl4pPr marL="1371600" indent="0">
              <a:buNone/>
              <a:defRPr sz="900" lang="ja-JP"/>
            </a:lvl4pPr>
            <a:lvl5pPr marL="1828800" indent="0">
              <a:buNone/>
              <a:defRPr sz="900" lang="ja-JP"/>
            </a:lvl5pPr>
            <a:lvl6pPr marL="2286000" indent="0">
              <a:buNone/>
              <a:defRPr sz="900" lang="ja-JP"/>
            </a:lvl6pPr>
            <a:lvl7pPr marL="2743200" indent="0">
              <a:buNone/>
              <a:defRPr sz="900" lang="ja-JP"/>
            </a:lvl7pPr>
            <a:lvl8pPr marL="3200400" indent="0">
              <a:buNone/>
              <a:defRPr sz="900" lang="ja-JP"/>
            </a:lvl8pPr>
            <a:lvl9pPr marL="3657600" indent="0">
              <a:buNone/>
              <a:defRPr sz="900" lang="ja-JP"/>
            </a:lvl9pPr>
          </a:lstStyle>
          <a:p>
            <a:pPr lvl="0"/>
            <a:r>
              <a:rPr lang="ja-JP"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ja-JP" smtClean="0"/>
              <a:t>1/27/13</a:t>
            </a:fld>
            <a:endParaRPr lang="ja-JP"/>
          </a:p>
        </p:txBody>
      </p:sp>
      <p:sp>
        <p:nvSpPr>
          <p:cNvPr id="6" name="Footer Placeholder 5"/>
          <p:cNvSpPr>
            <a:spLocks noGrp="1"/>
          </p:cNvSpPr>
          <p:nvPr>
            <p:ph type="ftr" sz="quarter" idx="11"/>
          </p:nvPr>
        </p:nvSpPr>
        <p:spPr/>
        <p:txBody>
          <a:bodyPr/>
          <a:lstStyle/>
          <a:p>
            <a:endParaRPr lang="ja-JP"/>
          </a:p>
        </p:txBody>
      </p:sp>
      <p:sp>
        <p:nvSpPr>
          <p:cNvPr id="7" name="Slide Number Placeholder 6"/>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smtClean="0"/>
              <a:t>Click to edit Master title style</a:t>
            </a:r>
            <a:endParaRPr lang="ja-JP"/>
          </a:p>
        </p:txBody>
      </p:sp>
      <p:sp>
        <p:nvSpPr>
          <p:cNvPr id="3" name="Vertical Text Placeholder 2"/>
          <p:cNvSpPr>
            <a:spLocks noGrp="1"/>
          </p:cNvSpPr>
          <p:nvPr>
            <p:ph type="body" orient="vert" idx="1"/>
          </p:nvPr>
        </p:nvSpPr>
        <p:spPr/>
        <p:txBody>
          <a:bodyPr vert="eaVert"/>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ja-JP" smtClean="0"/>
              <a:t>Click to edit Master title style</a:t>
            </a:r>
            <a:endParaRPr lang="ja-JP"/>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10"/>
          </p:nvPr>
        </p:nvSpPr>
        <p:spPr/>
        <p:txBody>
          <a:bodyPr/>
          <a:lstStyle/>
          <a:p>
            <a:fld id="{5BCAD085-E8A6-8845-BD4E-CB4CCA059FC4}" type="datetimeFigureOut">
              <a:rPr lang="ja-JP" smtClean="0"/>
              <a:t>1/27/13</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C1FF6DA9-008F-8B48-92A6-B652298478BF}" type="slidenum">
              <a:rPr lang="ja-JP" smtClean="0"/>
              <a:t>‹#›</a:t>
            </a:fld>
            <a:endParaRPr lang="ja-JP"/>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smtClean="0"/>
              <a:t>Click to edit Master title style</a:t>
            </a:r>
            <a:endParaRPr lang="ja-JP"/>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smtClean="0"/>
              <a:t>Click to edit Master text styles</a:t>
            </a:r>
          </a:p>
          <a:p>
            <a:pPr lvl="1"/>
            <a:r>
              <a:rPr lang="ja-JP" smtClean="0"/>
              <a:t>Second level</a:t>
            </a:r>
          </a:p>
          <a:p>
            <a:pPr lvl="2"/>
            <a:r>
              <a:rPr lang="ja-JP" smtClean="0"/>
              <a:t>Third level</a:t>
            </a:r>
          </a:p>
          <a:p>
            <a:pPr lvl="3"/>
            <a:r>
              <a:rPr lang="ja-JP" smtClean="0"/>
              <a:t>Fourth level</a:t>
            </a:r>
          </a:p>
          <a:p>
            <a:pPr lvl="4"/>
            <a:r>
              <a:rPr lang="ja-JP" smtClean="0"/>
              <a:t>Fifth level</a:t>
            </a:r>
            <a:endParaRPr lang="ja-JP"/>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ja-JP">
                <a:solidFill>
                  <a:schemeClr val="tx1">
                    <a:tint val="75000"/>
                  </a:schemeClr>
                </a:solidFill>
              </a:defRPr>
            </a:lvl1pPr>
          </a:lstStyle>
          <a:p>
            <a:fld id="{5BCAD085-E8A6-8845-BD4E-CB4CCA059FC4}" type="datetimeFigureOut">
              <a:rPr lang="ja-JP" smtClean="0"/>
              <a:t>1/27/13</a:t>
            </a:fld>
            <a:endParaRPr lang="ja-JP"/>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ja-JP">
                <a:solidFill>
                  <a:schemeClr val="tx1">
                    <a:tint val="75000"/>
                  </a:schemeClr>
                </a:solidFill>
              </a:defRPr>
            </a:lvl1pPr>
          </a:lstStyle>
          <a:p>
            <a:endParaRPr lang="ja-JP"/>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ja-JP">
                <a:solidFill>
                  <a:schemeClr val="tx1">
                    <a:tint val="75000"/>
                  </a:schemeClr>
                </a:solidFill>
              </a:defRPr>
            </a:lvl1pPr>
          </a:lstStyle>
          <a:p>
            <a:fld id="{C1FF6DA9-008F-8B48-92A6-B652298478BF}" type="slidenum">
              <a:rPr lang="ja-JP" smtClean="0"/>
              <a:t>‹#›</a:t>
            </a:fld>
            <a:endParaRPr lang="ja-JP"/>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lang="ja-JP">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ja-JP">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ja-JP">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ja-JP">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ja-JP">
          <a:solidFill>
            <a:schemeClr val="tx1"/>
          </a:solidFill>
          <a:latin typeface="+mn-lt"/>
          <a:ea typeface="+mn-ea"/>
          <a:cs typeface="+mn-cs"/>
        </a:defRPr>
      </a:lvl9pPr>
    </p:bodyStyle>
    <p:otherStyle>
      <a:defPPr>
        <a:defRPr lang="ja-JP"/>
      </a:defPPr>
      <a:lvl1pPr marL="0" algn="l" defTabSz="457200" rtl="0" eaLnBrk="1" latinLnBrk="0" hangingPunct="1">
        <a:defRPr sz="1800" kern="1200" lang="ja-JP">
          <a:solidFill>
            <a:schemeClr val="tx1"/>
          </a:solidFill>
          <a:latin typeface="+mn-lt"/>
          <a:ea typeface="+mn-ea"/>
          <a:cs typeface="+mn-cs"/>
        </a:defRPr>
      </a:lvl1pPr>
      <a:lvl2pPr marL="457200" algn="l" defTabSz="457200" rtl="0" eaLnBrk="1" latinLnBrk="0" hangingPunct="1">
        <a:defRPr sz="1800" kern="1200" lang="ja-JP">
          <a:solidFill>
            <a:schemeClr val="tx1"/>
          </a:solidFill>
          <a:latin typeface="+mn-lt"/>
          <a:ea typeface="+mn-ea"/>
          <a:cs typeface="+mn-cs"/>
        </a:defRPr>
      </a:lvl2pPr>
      <a:lvl3pPr marL="914400" algn="l" defTabSz="457200" rtl="0" eaLnBrk="1" latinLnBrk="0" hangingPunct="1">
        <a:defRPr sz="1800" kern="1200" lang="ja-JP">
          <a:solidFill>
            <a:schemeClr val="tx1"/>
          </a:solidFill>
          <a:latin typeface="+mn-lt"/>
          <a:ea typeface="+mn-ea"/>
          <a:cs typeface="+mn-cs"/>
        </a:defRPr>
      </a:lvl3pPr>
      <a:lvl4pPr marL="1371600" algn="l" defTabSz="457200" rtl="0" eaLnBrk="1" latinLnBrk="0" hangingPunct="1">
        <a:defRPr sz="1800" kern="1200" lang="ja-JP">
          <a:solidFill>
            <a:schemeClr val="tx1"/>
          </a:solidFill>
          <a:latin typeface="+mn-lt"/>
          <a:ea typeface="+mn-ea"/>
          <a:cs typeface="+mn-cs"/>
        </a:defRPr>
      </a:lvl4pPr>
      <a:lvl5pPr marL="1828800" algn="l" defTabSz="457200" rtl="0" eaLnBrk="1" latinLnBrk="0" hangingPunct="1">
        <a:defRPr sz="1800" kern="1200" lang="ja-JP">
          <a:solidFill>
            <a:schemeClr val="tx1"/>
          </a:solidFill>
          <a:latin typeface="+mn-lt"/>
          <a:ea typeface="+mn-ea"/>
          <a:cs typeface="+mn-cs"/>
        </a:defRPr>
      </a:lvl5pPr>
      <a:lvl6pPr marL="2286000" algn="l" defTabSz="457200" rtl="0" eaLnBrk="1" latinLnBrk="0" hangingPunct="1">
        <a:defRPr sz="1800" kern="1200" lang="ja-JP">
          <a:solidFill>
            <a:schemeClr val="tx1"/>
          </a:solidFill>
          <a:latin typeface="+mn-lt"/>
          <a:ea typeface="+mn-ea"/>
          <a:cs typeface="+mn-cs"/>
        </a:defRPr>
      </a:lvl6pPr>
      <a:lvl7pPr marL="2743200" algn="l" defTabSz="457200" rtl="0" eaLnBrk="1" latinLnBrk="0" hangingPunct="1">
        <a:defRPr sz="1800" kern="1200" lang="ja-JP">
          <a:solidFill>
            <a:schemeClr val="tx1"/>
          </a:solidFill>
          <a:latin typeface="+mn-lt"/>
          <a:ea typeface="+mn-ea"/>
          <a:cs typeface="+mn-cs"/>
        </a:defRPr>
      </a:lvl7pPr>
      <a:lvl8pPr marL="3200400" algn="l" defTabSz="457200" rtl="0" eaLnBrk="1" latinLnBrk="0" hangingPunct="1">
        <a:defRPr sz="1800" kern="1200" lang="ja-JP">
          <a:solidFill>
            <a:schemeClr val="tx1"/>
          </a:solidFill>
          <a:latin typeface="+mn-lt"/>
          <a:ea typeface="+mn-ea"/>
          <a:cs typeface="+mn-cs"/>
        </a:defRPr>
      </a:lvl8pPr>
      <a:lvl9pPr marL="3657600" algn="l" defTabSz="457200" rtl="0" eaLnBrk="1" latinLnBrk="0" hangingPunct="1">
        <a:defRPr sz="1800" kern="1200" lang="ja-JP">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20" Type="http://schemas.openxmlformats.org/officeDocument/2006/relationships/chart" Target="../charts/chart1.xml"/><Relationship Id="rId21" Type="http://schemas.openxmlformats.org/officeDocument/2006/relationships/chart" Target="../charts/chart2.xml"/><Relationship Id="rId22" Type="http://schemas.openxmlformats.org/officeDocument/2006/relationships/chart" Target="../charts/chart3.xml"/><Relationship Id="rId23" Type="http://schemas.openxmlformats.org/officeDocument/2006/relationships/chart" Target="../charts/chart4.xml"/><Relationship Id="rId24"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2"/>
          <p:cNvSpPr/>
          <p:nvPr/>
        </p:nvSpPr>
        <p:spPr>
          <a:xfrm>
            <a:off x="720000" y="720000"/>
            <a:ext cx="2592000" cy="936000"/>
          </a:xfrm>
          <a:prstGeom prst="roundRect">
            <a:avLst>
              <a:gd name="adj" fmla="val 15000"/>
            </a:avLst>
          </a:prstGeom>
          <a:solidFill>
            <a:srgbClr val="70AD47"/>
          </a:solidFill>
          <a:ln>
            <a:noFill/>
          </a:ln>
        </p:spPr>
        <p:txBody>
          <a:bodyPr wrap="square" lIns="0" tIns="0" rIns="0" bIns="0" rtlCol="0" anchor="ctr">
            <a:noAutofit/>
          </a:bodyPr>
          <a:lstStyle/>
          <a:p>
            <a:pPr algn="ctr" marL="0" indent="0">
              <a:lnSpc>
                <a:spcPts val="5280"/>
              </a:lnSpc>
              <a:spcBef>
                <a:spcPts val="0"/>
              </a:spcBef>
              <a:spcAft>
                <a:spcPts val="0"/>
              </a:spcAft>
              <a:buNone/>
            </a:pPr>
            <a:r>
              <a:rPr lang="ja-JP" sz="4800" b="1" i="0" dirty="0">
                <a:solidFill>
                  <a:srgbClr val="FFFFFF"/>
                </a:solidFill>
                <a:latin typeface="游ゴシック"/>
                <a:ea typeface="游ゴシック"/>
                <a:cs typeface="游ゴシック"/>
              </a:rPr>
              <a:t>P3-15</a:t>
            </a:r>
            <a:endParaRPr lang="ja-JP" sz="4800" dirty="0"/>
          </a:p>
        </p:txBody>
      </p:sp>
      <p:sp>
        <p:nvSpPr>
          <p:cNvPr id="3" name="Title 3"/>
          <p:cNvSpPr txBox="1"/>
          <p:nvPr/>
        </p:nvSpPr>
        <p:spPr>
          <a:xfrm>
            <a:off x="3600000" y="720000"/>
            <a:ext cx="35604000" cy="1044000"/>
          </a:xfrm>
          <a:prstGeom prst="rect">
            <a:avLst/>
          </a:prstGeom>
          <a:noFill/>
          <a:ln>
            <a:noFill/>
          </a:ln>
        </p:spPr>
        <p:txBody>
          <a:bodyPr wrap="square" lIns="0" tIns="0" rIns="0" bIns="0" rtlCol="0" anchor="ctr">
            <a:noAutofit/>
          </a:bodyPr>
          <a:lstStyle/>
          <a:p>
            <a:pPr algn="ctr" marL="0" indent="0">
              <a:lnSpc>
                <a:spcPts val="7480"/>
              </a:lnSpc>
              <a:spcBef>
                <a:spcPts val="0"/>
              </a:spcBef>
              <a:spcAft>
                <a:spcPts val="0"/>
              </a:spcAft>
              <a:buNone/>
            </a:pPr>
            <a:r>
              <a:rPr lang="ja-JP" sz="6800" b="1" i="0" dirty="0">
                <a:solidFill>
                  <a:srgbClr val="000000"/>
                </a:solidFill>
                <a:latin typeface="游ゴシック"/>
                <a:ea typeface="游ゴシック"/>
                <a:cs typeface="游ゴシック"/>
              </a:rPr>
              <a:t>タスク類似性に基づく内部表現整合学習が視覚言語モデルの出力に与える影響</a:t>
            </a:r>
            <a:endParaRPr lang="ja-JP" sz="6800" dirty="0"/>
          </a:p>
        </p:txBody>
      </p:sp>
      <p:sp>
        <p:nvSpPr>
          <p:cNvPr id="4" name="Authors 4"/>
          <p:cNvSpPr txBox="1"/>
          <p:nvPr/>
        </p:nvSpPr>
        <p:spPr>
          <a:xfrm>
            <a:off x="3600000" y="1800000"/>
            <a:ext cx="35604000" cy="540000"/>
          </a:xfrm>
          <a:prstGeom prst="rect">
            <a:avLst/>
          </a:prstGeom>
          <a:noFill/>
          <a:ln>
            <a:noFill/>
          </a:ln>
        </p:spPr>
        <p:txBody>
          <a:bodyPr wrap="square" lIns="0" tIns="0" rIns="0" bIns="0" rtlCol="0" anchor="ctr">
            <a:noAutofit/>
          </a:bodyPr>
          <a:lstStyle/>
          <a:p>
            <a:pPr algn="ctr" marL="0" indent="0">
              <a:lnSpc>
                <a:spcPts val="4400"/>
              </a:lnSpc>
              <a:spcBef>
                <a:spcPts val="0"/>
              </a:spcBef>
              <a:spcAft>
                <a:spcPts val="0"/>
              </a:spcAft>
              <a:buNone/>
            </a:pPr>
            <a:r>
              <a:rPr lang="ja-JP" sz="4000" b="0" i="0" dirty="0">
                <a:solidFill>
                  <a:srgbClr val="000000"/>
                </a:solidFill>
                <a:latin typeface="游ゴシック"/>
                <a:ea typeface="游ゴシック"/>
                <a:cs typeface="游ゴシック"/>
              </a:rPr>
              <a:t>中野 友晴，杉村 大輔（東京都立大学）</a:t>
            </a:r>
            <a:endParaRPr lang="ja-JP" sz="4000" dirty="0"/>
          </a:p>
        </p:txBody>
      </p:sp>
      <p:sp>
        <p:nvSpPr>
          <p:cNvPr id="5" name="Rule 5"/>
          <p:cNvSpPr/>
          <p:nvPr/>
        </p:nvSpPr>
        <p:spPr>
          <a:xfrm>
            <a:off x="720000" y="2484000"/>
            <a:ext cx="41364000" cy="57600"/>
          </a:xfrm>
          <a:prstGeom prst="rect">
            <a:avLst/>
          </a:prstGeom>
          <a:solidFill>
            <a:srgbClr val="70AD47"/>
          </a:solidFill>
          <a:ln>
            <a:noFill/>
          </a:ln>
        </p:spPr>
        <p:txBody>
          <a:bodyPr wrap="square" lIns="0" tIns="0" rIns="0" bIns="0" rtlCol="0" anchor="t">
            <a:noAutofit/>
          </a:bodyPr>
          <a:lstStyle/>
          <a:p>
            <a:endParaRPr lang="ja-JP" dirty="0"/>
          </a:p>
        </p:txBody>
      </p:sp>
      <p:sp>
        <p:nvSpPr>
          <p:cNvPr id="6" name="Key 6"/>
          <p:cNvSpPr/>
          <p:nvPr/>
        </p:nvSpPr>
        <p:spPr>
          <a:xfrm>
            <a:off x="720000" y="2628000"/>
            <a:ext cx="41364000" cy="1548000"/>
          </a:xfrm>
          <a:prstGeom prst="roundRect">
            <a:avLst>
              <a:gd name="adj" fmla="val 8000"/>
            </a:avLst>
          </a:prstGeom>
          <a:solidFill>
            <a:srgbClr val="E2F0D9"/>
          </a:solidFill>
          <a:ln w="28800">
            <a:solidFill>
              <a:srgbClr val="70AD47"/>
            </a:solidFill>
          </a:ln>
        </p:spPr>
        <p:txBody>
          <a:bodyPr wrap="square" lIns="0" tIns="0" rIns="0" bIns="0" rtlCol="0" anchor="t">
            <a:noAutofit/>
          </a:bodyPr>
          <a:lstStyle/>
          <a:p>
            <a:endParaRPr lang="ja-JP" dirty="0"/>
          </a:p>
        </p:txBody>
      </p:sp>
      <p:sp>
        <p:nvSpPr>
          <p:cNvPr id="7" name="KeyText 7"/>
          <p:cNvSpPr txBox="1"/>
          <p:nvPr/>
        </p:nvSpPr>
        <p:spPr>
          <a:xfrm>
            <a:off x="1080000" y="2682000"/>
            <a:ext cx="40644000" cy="1440000"/>
          </a:xfrm>
          <a:prstGeom prst="rect">
            <a:avLst/>
          </a:prstGeom>
          <a:noFill/>
          <a:ln>
            <a:noFill/>
          </a:ln>
        </p:spPr>
        <p:txBody>
          <a:bodyPr wrap="square" lIns="0" tIns="0" rIns="0" bIns="0" rtlCol="0" anchor="ctr">
            <a:noAutofit/>
          </a:bodyPr>
          <a:lstStyle/>
          <a:p>
            <a:pPr algn="l" marL="0" indent="0">
              <a:lnSpc>
                <a:spcPts val="4600"/>
              </a:lnSpc>
              <a:spcBef>
                <a:spcPts val="0"/>
              </a:spcBef>
              <a:spcAft>
                <a:spcPts val="900"/>
              </a:spcAft>
              <a:buNone/>
            </a:pPr>
            <a:r>
              <a:rPr lang="ja-JP" sz="4000" b="1" i="0" dirty="0">
                <a:solidFill>
                  <a:srgbClr val="70AD47"/>
                </a:solidFill>
                <a:latin typeface="游ゴシック"/>
                <a:ea typeface="游ゴシック"/>
                <a:cs typeface="游ゴシック"/>
              </a:rPr>
              <a:t>アイデア　</a:t>
            </a:r>
            <a:r>
              <a:rPr lang="ja-JP" sz="4000" b="1" i="0" dirty="0">
                <a:solidFill>
                  <a:srgbClr val="000000"/>
                </a:solidFill>
                <a:latin typeface="游ゴシック"/>
                <a:ea typeface="游ゴシック"/>
                <a:cs typeface="游ゴシック"/>
              </a:rPr>
              <a:t>解き方が同じ質問どうしの内部表現を，学習で近づける</a:t>
            </a:r>
            <a:endParaRPr lang="ja-JP" sz="4000" dirty="0"/>
          </a:p>
          <a:p>
            <a:pPr algn="l" marL="0" indent="0">
              <a:lnSpc>
                <a:spcPts val="4600"/>
              </a:lnSpc>
              <a:spcBef>
                <a:spcPts val="0"/>
              </a:spcBef>
              <a:spcAft>
                <a:spcPts val="0"/>
              </a:spcAft>
              <a:buNone/>
            </a:pPr>
            <a:r>
              <a:rPr lang="ja-JP" sz="4000" b="1" i="0" dirty="0">
                <a:solidFill>
                  <a:srgbClr val="70AD47"/>
                </a:solidFill>
                <a:latin typeface="游ゴシック"/>
                <a:ea typeface="游ゴシック"/>
                <a:cs typeface="游ゴシック"/>
              </a:rPr>
              <a:t>わかったこと　</a:t>
            </a:r>
            <a:r>
              <a:rPr lang="ja-JP" sz="4000" b="1" i="0" dirty="0">
                <a:solidFill>
                  <a:srgbClr val="000000"/>
                </a:solidFill>
                <a:latin typeface="游ゴシック"/>
                <a:ea typeface="游ゴシック"/>
                <a:cs typeface="游ゴシック"/>
              </a:rPr>
              <a:t>解き方は内部表現から読み取れるようになるが，</a:t>
            </a:r>
            <a:r>
              <a:rPr lang="ja-JP" sz="4000" b="1" i="0" dirty="0">
                <a:solidFill>
                  <a:srgbClr val="C00000"/>
                </a:solidFill>
                <a:latin typeface="游ゴシック"/>
                <a:ea typeface="游ゴシック"/>
                <a:cs typeface="游ゴシック"/>
              </a:rPr>
              <a:t>答えの生成に使われるようにはならない</a:t>
            </a:r>
            <a:endParaRPr lang="ja-JP" sz="4000" dirty="0"/>
          </a:p>
        </p:txBody>
      </p:sp>
      <p:sp>
        <p:nvSpPr>
          <p:cNvPr id="8" name="Section 8"/>
          <p:cNvSpPr/>
          <p:nvPr/>
        </p:nvSpPr>
        <p:spPr>
          <a:xfrm>
            <a:off x="720000" y="4680000"/>
            <a:ext cx="10944000" cy="684000"/>
          </a:xfrm>
          <a:prstGeom prst="rect">
            <a:avLst/>
          </a:prstGeom>
          <a:solidFill>
            <a:srgbClr val="70AD47"/>
          </a:solidFill>
          <a:ln>
            <a:noFill/>
          </a:ln>
        </p:spPr>
        <p:txBody>
          <a:bodyPr wrap="square" lIns="180000" tIns="180000" rIns="180000" bIns="180000" rtlCol="0" anchor="ctr">
            <a:noAutofit/>
          </a:bodyPr>
          <a:lstStyle/>
          <a:p>
            <a:pPr algn="l" marL="0" indent="0">
              <a:lnSpc>
                <a:spcPts val="4400"/>
              </a:lnSpc>
              <a:spcBef>
                <a:spcPts val="0"/>
              </a:spcBef>
              <a:spcAft>
                <a:spcPts val="0"/>
              </a:spcAft>
              <a:buNone/>
            </a:pPr>
            <a:r>
              <a:rPr lang="ja-JP" sz="4000" b="1" i="0" dirty="0">
                <a:solidFill>
                  <a:srgbClr val="FFFFFF"/>
                </a:solidFill>
                <a:latin typeface="游ゴシック"/>
                <a:ea typeface="游ゴシック"/>
                <a:cs typeface="游ゴシック"/>
              </a:rPr>
              <a:t>1．背景と問い</a:t>
            </a:r>
            <a:endParaRPr lang="ja-JP" sz="4000" dirty="0"/>
          </a:p>
        </p:txBody>
      </p:sp>
      <p:sp>
        <p:nvSpPr>
          <p:cNvPr id="9" name="TextBox 9"/>
          <p:cNvSpPr txBox="1"/>
          <p:nvPr/>
        </p:nvSpPr>
        <p:spPr>
          <a:xfrm>
            <a:off x="720000" y="5544000"/>
            <a:ext cx="10944000" cy="1008000"/>
          </a:xfrm>
          <a:prstGeom prst="rect">
            <a:avLst/>
          </a:prstGeom>
          <a:noFill/>
          <a:ln>
            <a:noFill/>
          </a:ln>
        </p:spPr>
        <p:txBody>
          <a:bodyPr wrap="square" lIns="0" tIns="0" rIns="0" bIns="0" rtlCol="0" anchor="t">
            <a:noAutofit/>
          </a:bodyPr>
          <a:lstStyle/>
          <a:p>
            <a:pPr algn="l" marL="373380" indent="-373380">
              <a:lnSpc>
                <a:spcPts val="3416"/>
              </a:lnSpc>
              <a:spcBef>
                <a:spcPts val="0"/>
              </a:spcBef>
              <a:spcAft>
                <a:spcPts val="300"/>
              </a:spcAft>
              <a:buFont typeface="Arial"/>
              <a:buChar char="•"/>
            </a:pPr>
            <a:r>
              <a:rPr lang="ja-JP" sz="2800" b="0" i="0" dirty="0">
                <a:solidFill>
                  <a:srgbClr val="000000"/>
                </a:solidFill>
                <a:latin typeface="游ゴシック"/>
                <a:ea typeface="游ゴシック"/>
                <a:cs typeface="游ゴシック"/>
              </a:rPr>
              <a:t>VLM：画像と質問文から答えを生成</a:t>
            </a:r>
            <a:endParaRPr lang="ja-JP" sz="2800" dirty="0"/>
          </a:p>
          <a:p>
            <a:pPr algn="l" marL="373380" indent="-373380">
              <a:lnSpc>
                <a:spcPts val="3416"/>
              </a:lnSpc>
              <a:spcBef>
                <a:spcPts val="0"/>
              </a:spcBef>
              <a:spcAft>
                <a:spcPts val="0"/>
              </a:spcAft>
              <a:buFont typeface="Arial"/>
              <a:buChar char="•"/>
            </a:pPr>
            <a:r>
              <a:rPr lang="ja-JP" sz="2800" b="0" i="0" dirty="0">
                <a:solidFill>
                  <a:srgbClr val="000000"/>
                </a:solidFill>
                <a:latin typeface="游ゴシック"/>
                <a:ea typeface="游ゴシック"/>
                <a:cs typeface="游ゴシック"/>
              </a:rPr>
              <a:t>従来の学習：答えの正しさだけを最適化</a:t>
            </a:r>
            <a:endParaRPr lang="ja-JP" sz="2800" dirty="0"/>
          </a:p>
        </p:txBody>
      </p:sp>
      <p:sp>
        <p:nvSpPr>
          <p:cNvPr id="10" name="TextBox 10"/>
          <p:cNvSpPr txBox="1"/>
          <p:nvPr/>
        </p:nvSpPr>
        <p:spPr>
          <a:xfrm>
            <a:off x="720000" y="6696000"/>
            <a:ext cx="10944000" cy="468000"/>
          </a:xfrm>
          <a:prstGeom prst="rect">
            <a:avLst/>
          </a:prstGeom>
          <a:noFill/>
          <a:ln>
            <a:noFill/>
          </a:ln>
        </p:spPr>
        <p:txBody>
          <a:bodyPr wrap="square" lIns="0" tIns="0" rIns="0" bIns="0" rtlCol="0" anchor="t">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Wani ら[1]</a:t>
            </a:r>
            <a:r>
              <a:rPr lang="ja-JP" sz="2800" b="1" i="0" dirty="0">
                <a:solidFill>
                  <a:srgbClr val="000000"/>
                </a:solidFill>
                <a:latin typeface="游ゴシック"/>
                <a:ea typeface="游ゴシック"/>
                <a:cs typeface="游ゴシック"/>
              </a:rPr>
              <a:t>：答えは同じでも，内部表現は変化</a:t>
            </a:r>
            <a:endParaRPr lang="ja-JP" sz="2800" dirty="0"/>
          </a:p>
        </p:txBody>
      </p:sp>
      <p:pic>
        <p:nvPicPr>
          <p:cNvPr id="11" name="Picture 11" descr="元画像"/>
          <p:cNvPicPr>
            <a:picLocks noChangeAspect="1"/>
          </p:cNvPicPr>
          <p:nvPr/>
        </p:nvPicPr>
        <p:blipFill>
          <a:blip r:embed="rId2"/>
          <a:stretch>
            <a:fillRect/>
          </a:stretch>
        </p:blipFill>
        <p:spPr>
          <a:xfrm>
            <a:off x="720000" y="7272000"/>
            <a:ext cx="1584000" cy="1188000"/>
          </a:xfrm>
          <a:prstGeom prst="rect">
            <a:avLst/>
          </a:prstGeom>
        </p:spPr>
      </p:pic>
      <p:sp>
        <p:nvSpPr>
          <p:cNvPr id="12" name="TextBox 12"/>
          <p:cNvSpPr txBox="1"/>
          <p:nvPr/>
        </p:nvSpPr>
        <p:spPr>
          <a:xfrm>
            <a:off x="720000" y="8478000"/>
            <a:ext cx="1584000" cy="288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元画像</a:t>
            </a:r>
            <a:endParaRPr lang="ja-JP" sz="2200" dirty="0"/>
          </a:p>
        </p:txBody>
      </p:sp>
      <p:cxnSp>
        <p:nvCxnSpPr>
          <p:cNvPr id="13" name="Arrow 13"/>
          <p:cNvCxnSpPr/>
          <p:nvPr/>
        </p:nvCxnSpPr>
        <p:spPr>
          <a:xfrm>
            <a:off x="2376000" y="7866000"/>
            <a:ext cx="504000" cy="0"/>
          </a:xfrm>
          <a:prstGeom prst="straightConnector1">
            <a:avLst/>
          </a:prstGeom>
          <a:ln w="21600">
            <a:solidFill>
              <a:srgbClr val="000000"/>
            </a:solidFill>
            <a:tailEnd type="triangle" w="med" len="med"/>
          </a:ln>
        </p:spPr>
      </p:cxnSp>
      <p:sp>
        <p:nvSpPr>
          <p:cNvPr id="14" name="VLM 14"/>
          <p:cNvSpPr/>
          <p:nvPr/>
        </p:nvSpPr>
        <p:spPr>
          <a:xfrm>
            <a:off x="2916000" y="7470000"/>
            <a:ext cx="1656000" cy="792000"/>
          </a:xfrm>
          <a:prstGeom prst="rect">
            <a:avLst/>
          </a:prstGeom>
          <a:solidFill>
            <a:srgbClr val="FFFFFF"/>
          </a:solidFill>
          <a:ln w="18000">
            <a:solidFill>
              <a:srgbClr val="000000"/>
            </a:solidFill>
          </a:ln>
        </p:spPr>
        <p:txBody>
          <a:bodyPr wrap="square" lIns="0" tIns="0" rIns="0" bIns="0" rtlCol="0" anchor="ctr">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VLM</a:t>
            </a:r>
            <a:endParaRPr lang="ja-JP" sz="2200" dirty="0"/>
          </a:p>
        </p:txBody>
      </p:sp>
      <p:cxnSp>
        <p:nvCxnSpPr>
          <p:cNvPr id="15" name="Arrow 15"/>
          <p:cNvCxnSpPr/>
          <p:nvPr/>
        </p:nvCxnSpPr>
        <p:spPr>
          <a:xfrm>
            <a:off x="4608000" y="7866000"/>
            <a:ext cx="504000" cy="0"/>
          </a:xfrm>
          <a:prstGeom prst="straightConnector1">
            <a:avLst/>
          </a:prstGeom>
          <a:ln w="21600">
            <a:solidFill>
              <a:srgbClr val="000000"/>
            </a:solidFill>
            <a:tailEnd type="triangle" w="med" len="med"/>
          </a:ln>
        </p:spPr>
      </p:cxnSp>
      <p:sp>
        <p:nvSpPr>
          <p:cNvPr id="16" name="TextBox 16"/>
          <p:cNvSpPr txBox="1"/>
          <p:nvPr/>
        </p:nvSpPr>
        <p:spPr>
          <a:xfrm>
            <a:off x="5148000" y="7650000"/>
            <a:ext cx="1584000" cy="432000"/>
          </a:xfrm>
          <a:prstGeom prst="rect">
            <a:avLst/>
          </a:prstGeom>
          <a:noFill/>
          <a:ln>
            <a:noFill/>
          </a:ln>
        </p:spPr>
        <p:txBody>
          <a:bodyPr wrap="square" lIns="0" tIns="0" rIns="0" bIns="0" rtlCol="0" anchor="ctr">
            <a:noAutofit/>
          </a:bodyPr>
          <a:lstStyle/>
          <a:p>
            <a:pPr algn="l"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答え</a:t>
            </a:r>
            <a:endParaRPr lang="ja-JP" sz="2200" dirty="0"/>
          </a:p>
        </p:txBody>
      </p:sp>
      <p:pic>
        <p:nvPicPr>
          <p:cNvPr id="17" name="Picture 17" descr="加工後"/>
          <p:cNvPicPr>
            <a:picLocks noChangeAspect="1"/>
          </p:cNvPicPr>
          <p:nvPr/>
        </p:nvPicPr>
        <p:blipFill>
          <a:blip r:embed="rId5"/>
          <a:stretch>
            <a:fillRect/>
          </a:stretch>
        </p:blipFill>
        <p:spPr>
          <a:xfrm>
            <a:off x="720000" y="8856000"/>
            <a:ext cx="1584000" cy="1188000"/>
          </a:xfrm>
          <a:prstGeom prst="rect">
            <a:avLst/>
          </a:prstGeom>
        </p:spPr>
      </p:pic>
      <p:sp>
        <p:nvSpPr>
          <p:cNvPr id="18" name="TextBox 18"/>
          <p:cNvSpPr txBox="1"/>
          <p:nvPr/>
        </p:nvSpPr>
        <p:spPr>
          <a:xfrm>
            <a:off x="720000" y="10062000"/>
            <a:ext cx="1584000" cy="288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加工後</a:t>
            </a:r>
            <a:endParaRPr lang="ja-JP" sz="2200" dirty="0"/>
          </a:p>
        </p:txBody>
      </p:sp>
      <p:cxnSp>
        <p:nvCxnSpPr>
          <p:cNvPr id="19" name="Arrow 19"/>
          <p:cNvCxnSpPr/>
          <p:nvPr/>
        </p:nvCxnSpPr>
        <p:spPr>
          <a:xfrm>
            <a:off x="2376000" y="9450000"/>
            <a:ext cx="504000" cy="0"/>
          </a:xfrm>
          <a:prstGeom prst="straightConnector1">
            <a:avLst/>
          </a:prstGeom>
          <a:ln w="21600">
            <a:solidFill>
              <a:srgbClr val="000000"/>
            </a:solidFill>
            <a:tailEnd type="triangle" w="med" len="med"/>
          </a:ln>
        </p:spPr>
      </p:cxnSp>
      <p:sp>
        <p:nvSpPr>
          <p:cNvPr id="20" name="VLM 20"/>
          <p:cNvSpPr/>
          <p:nvPr/>
        </p:nvSpPr>
        <p:spPr>
          <a:xfrm>
            <a:off x="2916000" y="9054000"/>
            <a:ext cx="1656000" cy="792000"/>
          </a:xfrm>
          <a:prstGeom prst="rect">
            <a:avLst/>
          </a:prstGeom>
          <a:solidFill>
            <a:srgbClr val="FFFFFF"/>
          </a:solidFill>
          <a:ln w="18000">
            <a:solidFill>
              <a:srgbClr val="000000"/>
            </a:solidFill>
          </a:ln>
        </p:spPr>
        <p:txBody>
          <a:bodyPr wrap="square" lIns="0" tIns="0" rIns="0" bIns="0" rtlCol="0" anchor="ctr">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VLM</a:t>
            </a:r>
            <a:endParaRPr lang="ja-JP" sz="2200" dirty="0"/>
          </a:p>
        </p:txBody>
      </p:sp>
      <p:cxnSp>
        <p:nvCxnSpPr>
          <p:cNvPr id="21" name="Arrow 21"/>
          <p:cNvCxnSpPr/>
          <p:nvPr/>
        </p:nvCxnSpPr>
        <p:spPr>
          <a:xfrm>
            <a:off x="4608000" y="9450000"/>
            <a:ext cx="504000" cy="0"/>
          </a:xfrm>
          <a:prstGeom prst="straightConnector1">
            <a:avLst/>
          </a:prstGeom>
          <a:ln w="21600">
            <a:solidFill>
              <a:srgbClr val="000000"/>
            </a:solidFill>
            <a:tailEnd type="triangle" w="med" len="med"/>
          </a:ln>
        </p:spPr>
      </p:cxnSp>
      <p:sp>
        <p:nvSpPr>
          <p:cNvPr id="22" name="TextBox 22"/>
          <p:cNvSpPr txBox="1"/>
          <p:nvPr/>
        </p:nvSpPr>
        <p:spPr>
          <a:xfrm>
            <a:off x="5148000" y="9234000"/>
            <a:ext cx="1584000" cy="432000"/>
          </a:xfrm>
          <a:prstGeom prst="rect">
            <a:avLst/>
          </a:prstGeom>
          <a:noFill/>
          <a:ln>
            <a:noFill/>
          </a:ln>
        </p:spPr>
        <p:txBody>
          <a:bodyPr wrap="square" lIns="0" tIns="0" rIns="0" bIns="0" rtlCol="0" anchor="ctr">
            <a:noAutofit/>
          </a:bodyPr>
          <a:lstStyle/>
          <a:p>
            <a:pPr algn="l"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答え</a:t>
            </a:r>
            <a:endParaRPr lang="ja-JP" sz="2200" dirty="0"/>
          </a:p>
        </p:txBody>
      </p:sp>
      <p:sp>
        <p:nvSpPr>
          <p:cNvPr id="23" name="TextBox 23"/>
          <p:cNvSpPr txBox="1"/>
          <p:nvPr/>
        </p:nvSpPr>
        <p:spPr>
          <a:xfrm>
            <a:off x="5148000" y="9630000"/>
            <a:ext cx="1584000" cy="324000"/>
          </a:xfrm>
          <a:prstGeom prst="rect">
            <a:avLst/>
          </a:prstGeom>
          <a:noFill/>
          <a:ln>
            <a:noFill/>
          </a:ln>
        </p:spPr>
        <p:txBody>
          <a:bodyPr wrap="square" lIns="0" tIns="0" rIns="0" bIns="0" rtlCol="0" anchor="t">
            <a:noAutofit/>
          </a:bodyPr>
          <a:lstStyle/>
          <a:p>
            <a:pPr algn="l"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（同じ）</a:t>
            </a:r>
            <a:endParaRPr lang="ja-JP" sz="2200" dirty="0"/>
          </a:p>
        </p:txBody>
      </p:sp>
      <p:sp>
        <p:nvSpPr>
          <p:cNvPr id="24" name="Space 24"/>
          <p:cNvSpPr/>
          <p:nvPr/>
        </p:nvSpPr>
        <p:spPr>
          <a:xfrm>
            <a:off x="8280000" y="7380000"/>
            <a:ext cx="3384000" cy="2520000"/>
          </a:xfrm>
          <a:prstGeom prst="rect">
            <a:avLst/>
          </a:prstGeom>
          <a:solidFill>
            <a:srgbClr val="FFFFFF"/>
          </a:solidFill>
          <a:ln w="14400">
            <a:solidFill>
              <a:srgbClr val="7F7F7F"/>
            </a:solidFill>
            <a:prstDash val="dash"/>
          </a:ln>
        </p:spPr>
        <p:txBody>
          <a:bodyPr wrap="square" lIns="0" tIns="0" rIns="0" bIns="0" rtlCol="0" anchor="t">
            <a:noAutofit/>
          </a:bodyPr>
          <a:lstStyle/>
          <a:p>
            <a:endParaRPr lang="ja-JP" dirty="0"/>
          </a:p>
        </p:txBody>
      </p:sp>
      <p:sp>
        <p:nvSpPr>
          <p:cNvPr id="25" name="TextBox 25"/>
          <p:cNvSpPr txBox="1"/>
          <p:nvPr/>
        </p:nvSpPr>
        <p:spPr>
          <a:xfrm>
            <a:off x="8280000" y="7434000"/>
            <a:ext cx="3384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内部表現</a:t>
            </a:r>
            <a:endParaRPr lang="ja-JP" sz="2200" dirty="0"/>
          </a:p>
        </p:txBody>
      </p:sp>
      <p:sp>
        <p:nvSpPr>
          <p:cNvPr id="26" name="Dot 26"/>
          <p:cNvSpPr/>
          <p:nvPr/>
        </p:nvSpPr>
        <p:spPr>
          <a:xfrm>
            <a:off x="8640000" y="7956000"/>
            <a:ext cx="324000" cy="324000"/>
          </a:xfrm>
          <a:prstGeom prst="ellipse">
            <a:avLst/>
          </a:prstGeom>
          <a:solidFill>
            <a:srgbClr val="000000"/>
          </a:solidFill>
          <a:ln>
            <a:noFill/>
          </a:ln>
        </p:spPr>
        <p:txBody>
          <a:bodyPr wrap="square" lIns="0" tIns="0" rIns="0" bIns="0" rtlCol="0" anchor="t">
            <a:noAutofit/>
          </a:bodyPr>
          <a:lstStyle/>
          <a:p>
            <a:endParaRPr lang="ja-JP" dirty="0"/>
          </a:p>
        </p:txBody>
      </p:sp>
      <p:sp>
        <p:nvSpPr>
          <p:cNvPr id="27" name="Dot 27"/>
          <p:cNvSpPr/>
          <p:nvPr/>
        </p:nvSpPr>
        <p:spPr>
          <a:xfrm>
            <a:off x="10800000" y="9144000"/>
            <a:ext cx="324000" cy="324000"/>
          </a:xfrm>
          <a:prstGeom prst="ellipse">
            <a:avLst/>
          </a:prstGeom>
          <a:solidFill>
            <a:srgbClr val="FFFFFF"/>
          </a:solidFill>
          <a:ln w="21600">
            <a:solidFill>
              <a:srgbClr val="000000"/>
            </a:solidFill>
          </a:ln>
        </p:spPr>
        <p:txBody>
          <a:bodyPr wrap="square" lIns="0" tIns="0" rIns="0" bIns="0" rtlCol="0" anchor="t">
            <a:noAutofit/>
          </a:bodyPr>
          <a:lstStyle/>
          <a:p>
            <a:endParaRPr lang="ja-JP" dirty="0"/>
          </a:p>
        </p:txBody>
      </p:sp>
      <p:cxnSp>
        <p:nvCxnSpPr>
          <p:cNvPr id="28" name="Arrow 28"/>
          <p:cNvCxnSpPr/>
          <p:nvPr/>
        </p:nvCxnSpPr>
        <p:spPr>
          <a:xfrm>
            <a:off x="9000000" y="8208000"/>
            <a:ext cx="1764000" cy="1008000"/>
          </a:xfrm>
          <a:prstGeom prst="straightConnector1">
            <a:avLst/>
          </a:prstGeom>
          <a:ln w="28800">
            <a:solidFill>
              <a:srgbClr val="C00000"/>
            </a:solidFill>
            <a:headEnd type="triangle" w="med" len="med"/>
            <a:tailEnd type="triangle" w="med" len="med"/>
          </a:ln>
        </p:spPr>
      </p:cxnSp>
      <p:sp>
        <p:nvSpPr>
          <p:cNvPr id="29" name="TextBox 29"/>
          <p:cNvSpPr txBox="1"/>
          <p:nvPr/>
        </p:nvSpPr>
        <p:spPr>
          <a:xfrm>
            <a:off x="8388000" y="8928000"/>
            <a:ext cx="1944000" cy="648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1" i="0" dirty="0">
                <a:solidFill>
                  <a:srgbClr val="C00000"/>
                </a:solidFill>
                <a:latin typeface="游ゴシック"/>
                <a:ea typeface="游ゴシック"/>
                <a:cs typeface="游ゴシック"/>
              </a:rPr>
              <a:t>大きく</a:t>
            </a:r>
            <a:endParaRPr lang="ja-JP" sz="2200" dirty="0"/>
          </a:p>
          <a:p>
            <a:pPr algn="ctr" marL="0" indent="0">
              <a:lnSpc>
                <a:spcPts val="2420"/>
              </a:lnSpc>
              <a:spcBef>
                <a:spcPts val="0"/>
              </a:spcBef>
              <a:spcAft>
                <a:spcPts val="0"/>
              </a:spcAft>
              <a:buNone/>
            </a:pPr>
            <a:r>
              <a:rPr lang="ja-JP" sz="2200" b="1" i="0" dirty="0">
                <a:solidFill>
                  <a:srgbClr val="C00000"/>
                </a:solidFill>
                <a:latin typeface="游ゴシック"/>
                <a:ea typeface="游ゴシック"/>
                <a:cs typeface="游ゴシック"/>
              </a:rPr>
              <a:t>離れる</a:t>
            </a:r>
            <a:endParaRPr lang="ja-JP" sz="2200" dirty="0"/>
          </a:p>
        </p:txBody>
      </p:sp>
      <p:cxnSp>
        <p:nvCxnSpPr>
          <p:cNvPr id="30" name="Arrow 30"/>
          <p:cNvCxnSpPr/>
          <p:nvPr/>
        </p:nvCxnSpPr>
        <p:spPr>
          <a:xfrm>
            <a:off x="5904000" y="7866000"/>
            <a:ext cx="2358000" cy="252000"/>
          </a:xfrm>
          <a:prstGeom prst="straightConnector1">
            <a:avLst/>
          </a:prstGeom>
          <a:ln w="14400">
            <a:solidFill>
              <a:srgbClr val="7F7F7F"/>
            </a:solidFill>
            <a:prstDash val="sysDash"/>
          </a:ln>
        </p:spPr>
      </p:cxnSp>
      <p:cxnSp>
        <p:nvCxnSpPr>
          <p:cNvPr id="31" name="Arrow 31"/>
          <p:cNvCxnSpPr/>
          <p:nvPr/>
        </p:nvCxnSpPr>
        <p:spPr>
          <a:xfrm flipV="1">
            <a:off x="5904000" y="9306000"/>
            <a:ext cx="2358000" cy="144000"/>
          </a:xfrm>
          <a:prstGeom prst="straightConnector1">
            <a:avLst/>
          </a:prstGeom>
          <a:ln w="14400">
            <a:solidFill>
              <a:srgbClr val="7F7F7F"/>
            </a:solidFill>
            <a:prstDash val="sysDash"/>
          </a:ln>
        </p:spPr>
      </p:cxnSp>
      <p:sp>
        <p:nvSpPr>
          <p:cNvPr id="32" name="TextBox 32"/>
          <p:cNvSpPr txBox="1"/>
          <p:nvPr/>
        </p:nvSpPr>
        <p:spPr>
          <a:xfrm>
            <a:off x="720000" y="10476000"/>
            <a:ext cx="10944000" cy="324000"/>
          </a:xfrm>
          <a:prstGeom prst="rect">
            <a:avLst/>
          </a:prstGeom>
          <a:noFill/>
          <a:ln>
            <a:noFill/>
          </a:ln>
        </p:spPr>
        <p:txBody>
          <a:bodyPr wrap="square" lIns="0" tIns="0" rIns="0" bIns="0" rtlCol="0" anchor="t">
            <a:noAutofit/>
          </a:bodyPr>
          <a:lstStyle/>
          <a:p>
            <a:pPr algn="l"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加工：平行移動・回転・文字の重ね書きなど（正解は変えない）</a:t>
            </a:r>
            <a:endParaRPr lang="ja-JP" sz="2200" dirty="0"/>
          </a:p>
        </p:txBody>
      </p:sp>
      <p:sp>
        <p:nvSpPr>
          <p:cNvPr id="33" name="TextBox 33"/>
          <p:cNvSpPr txBox="1"/>
          <p:nvPr/>
        </p:nvSpPr>
        <p:spPr>
          <a:xfrm>
            <a:off x="720000" y="11052000"/>
            <a:ext cx="10944000" cy="468000"/>
          </a:xfrm>
          <a:prstGeom prst="rect">
            <a:avLst/>
          </a:prstGeom>
          <a:noFill/>
          <a:ln>
            <a:noFill/>
          </a:ln>
        </p:spPr>
        <p:txBody>
          <a:bodyPr wrap="square" lIns="0" tIns="0" rIns="0" bIns="0" rtlCol="0" anchor="t">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解き方</a:t>
            </a:r>
            <a:r>
              <a:rPr lang="ja-JP" sz="2800" b="1" i="0" dirty="0">
                <a:solidFill>
                  <a:srgbClr val="000000"/>
                </a:solidFill>
                <a:latin typeface="游ゴシック"/>
                <a:ea typeface="游ゴシック"/>
                <a:cs typeface="游ゴシック"/>
              </a:rPr>
              <a:t>：GQA[2] の各質問に付く手順</a:t>
            </a:r>
            <a:endParaRPr lang="ja-JP" sz="2800" dirty="0"/>
          </a:p>
        </p:txBody>
      </p:sp>
      <p:sp>
        <p:nvSpPr>
          <p:cNvPr id="34" name="Question 34"/>
          <p:cNvSpPr/>
          <p:nvPr/>
        </p:nvSpPr>
        <p:spPr>
          <a:xfrm>
            <a:off x="720000" y="11592000"/>
            <a:ext cx="10944000" cy="468000"/>
          </a:xfrm>
          <a:prstGeom prst="roundRect">
            <a:avLst>
              <a:gd name="adj" fmla="val 30000"/>
            </a:avLst>
          </a:prstGeom>
          <a:solidFill>
            <a:srgbClr val="EBF1E9"/>
          </a:solidFill>
          <a:ln>
            <a:noFill/>
          </a:ln>
        </p:spPr>
        <p:txBody>
          <a:bodyPr wrap="square" lIns="0" tIns="0" rIns="0" bIns="0" rtlCol="0" anchor="ctr">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Who is wearing the dress?</a:t>
            </a:r>
            <a:endParaRPr lang="ja-JP" sz="2200" dirty="0"/>
          </a:p>
        </p:txBody>
      </p:sp>
      <p:sp>
        <p:nvSpPr>
          <p:cNvPr id="35" name="Step 35"/>
          <p:cNvSpPr/>
          <p:nvPr/>
        </p:nvSpPr>
        <p:spPr>
          <a:xfrm>
            <a:off x="720000" y="12240000"/>
            <a:ext cx="3240000" cy="1260000"/>
          </a:xfrm>
          <a:prstGeom prst="roundRect">
            <a:avLst>
              <a:gd name="adj" fmla="val 12000"/>
            </a:avLst>
          </a:prstGeom>
          <a:solidFill>
            <a:srgbClr val="FFFFFF"/>
          </a:solidFill>
          <a:ln w="21600">
            <a:solidFill>
              <a:srgbClr val="70AD47"/>
            </a:solidFill>
          </a:ln>
        </p:spPr>
        <p:txBody>
          <a:bodyPr wrap="square" lIns="0" tIns="0" rIns="0" bIns="0" rtlCol="0" anchor="ctr">
            <a:noAutofit/>
          </a:bodyPr>
          <a:lstStyle/>
          <a:p>
            <a:pPr algn="ctr" marL="0" indent="0">
              <a:lnSpc>
                <a:spcPts val="2530"/>
              </a:lnSpc>
              <a:spcBef>
                <a:spcPts val="0"/>
              </a:spcBef>
              <a:spcAft>
                <a:spcPts val="0"/>
              </a:spcAft>
              <a:buNone/>
            </a:pPr>
            <a:r>
              <a:rPr lang="ja-JP" sz="2200" b="1" i="0" dirty="0">
                <a:solidFill>
                  <a:srgbClr val="70AD47"/>
                </a:solidFill>
                <a:latin typeface="游ゴシック"/>
                <a:ea typeface="游ゴシック"/>
                <a:cs typeface="游ゴシック"/>
              </a:rPr>
              <a:t>select</a:t>
            </a:r>
            <a:endParaRPr lang="ja-JP" sz="2200" dirty="0"/>
          </a:p>
          <a:p>
            <a:pPr algn="ctr"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ドレスを</a:t>
            </a:r>
            <a:endParaRPr lang="ja-JP" sz="2200" dirty="0"/>
          </a:p>
          <a:p>
            <a:pPr algn="ctr"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見つける</a:t>
            </a:r>
            <a:endParaRPr lang="ja-JP" sz="2200" dirty="0"/>
          </a:p>
        </p:txBody>
      </p:sp>
      <p:cxnSp>
        <p:nvCxnSpPr>
          <p:cNvPr id="36" name="Arrow 36"/>
          <p:cNvCxnSpPr/>
          <p:nvPr/>
        </p:nvCxnSpPr>
        <p:spPr>
          <a:xfrm>
            <a:off x="4014000" y="12870000"/>
            <a:ext cx="504000" cy="0"/>
          </a:xfrm>
          <a:prstGeom prst="straightConnector1">
            <a:avLst/>
          </a:prstGeom>
          <a:ln w="36000">
            <a:solidFill>
              <a:srgbClr val="70AD47"/>
            </a:solidFill>
            <a:tailEnd type="triangle" w="med" len="med"/>
          </a:ln>
        </p:spPr>
      </p:cxnSp>
      <p:sp>
        <p:nvSpPr>
          <p:cNvPr id="37" name="Step 37"/>
          <p:cNvSpPr/>
          <p:nvPr/>
        </p:nvSpPr>
        <p:spPr>
          <a:xfrm>
            <a:off x="4572000" y="12240000"/>
            <a:ext cx="3240000" cy="1260000"/>
          </a:xfrm>
          <a:prstGeom prst="roundRect">
            <a:avLst>
              <a:gd name="adj" fmla="val 12000"/>
            </a:avLst>
          </a:prstGeom>
          <a:solidFill>
            <a:srgbClr val="FFFFFF"/>
          </a:solidFill>
          <a:ln w="21600">
            <a:solidFill>
              <a:srgbClr val="70AD47"/>
            </a:solidFill>
          </a:ln>
        </p:spPr>
        <p:txBody>
          <a:bodyPr wrap="square" lIns="0" tIns="0" rIns="0" bIns="0" rtlCol="0" anchor="ctr">
            <a:noAutofit/>
          </a:bodyPr>
          <a:lstStyle/>
          <a:p>
            <a:pPr algn="ctr" marL="0" indent="0">
              <a:lnSpc>
                <a:spcPts val="2530"/>
              </a:lnSpc>
              <a:spcBef>
                <a:spcPts val="0"/>
              </a:spcBef>
              <a:spcAft>
                <a:spcPts val="0"/>
              </a:spcAft>
              <a:buNone/>
            </a:pPr>
            <a:r>
              <a:rPr lang="ja-JP" sz="2200" b="1" i="0" dirty="0">
                <a:solidFill>
                  <a:srgbClr val="70AD47"/>
                </a:solidFill>
                <a:latin typeface="游ゴシック"/>
                <a:ea typeface="游ゴシック"/>
                <a:cs typeface="游ゴシック"/>
              </a:rPr>
              <a:t>relate</a:t>
            </a:r>
            <a:endParaRPr lang="ja-JP" sz="2200" dirty="0"/>
          </a:p>
          <a:p>
            <a:pPr algn="ctr"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着ている人へ</a:t>
            </a:r>
            <a:endParaRPr lang="ja-JP" sz="2200" dirty="0"/>
          </a:p>
          <a:p>
            <a:pPr algn="ctr"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たどる</a:t>
            </a:r>
            <a:endParaRPr lang="ja-JP" sz="2200" dirty="0"/>
          </a:p>
        </p:txBody>
      </p:sp>
      <p:cxnSp>
        <p:nvCxnSpPr>
          <p:cNvPr id="38" name="Arrow 38"/>
          <p:cNvCxnSpPr/>
          <p:nvPr/>
        </p:nvCxnSpPr>
        <p:spPr>
          <a:xfrm>
            <a:off x="7866000" y="12870000"/>
            <a:ext cx="504000" cy="0"/>
          </a:xfrm>
          <a:prstGeom prst="straightConnector1">
            <a:avLst/>
          </a:prstGeom>
          <a:ln w="36000">
            <a:solidFill>
              <a:srgbClr val="70AD47"/>
            </a:solidFill>
            <a:tailEnd type="triangle" w="med" len="med"/>
          </a:ln>
        </p:spPr>
      </p:cxnSp>
      <p:sp>
        <p:nvSpPr>
          <p:cNvPr id="39" name="Step 39"/>
          <p:cNvSpPr/>
          <p:nvPr/>
        </p:nvSpPr>
        <p:spPr>
          <a:xfrm>
            <a:off x="8424000" y="12240000"/>
            <a:ext cx="3240000" cy="1260000"/>
          </a:xfrm>
          <a:prstGeom prst="roundRect">
            <a:avLst>
              <a:gd name="adj" fmla="val 12000"/>
            </a:avLst>
          </a:prstGeom>
          <a:solidFill>
            <a:srgbClr val="FFFFFF"/>
          </a:solidFill>
          <a:ln w="21600">
            <a:solidFill>
              <a:srgbClr val="70AD47"/>
            </a:solidFill>
          </a:ln>
        </p:spPr>
        <p:txBody>
          <a:bodyPr wrap="square" lIns="0" tIns="0" rIns="0" bIns="0" rtlCol="0" anchor="ctr">
            <a:noAutofit/>
          </a:bodyPr>
          <a:lstStyle/>
          <a:p>
            <a:pPr algn="ctr" marL="0" indent="0">
              <a:lnSpc>
                <a:spcPts val="2530"/>
              </a:lnSpc>
              <a:spcBef>
                <a:spcPts val="0"/>
              </a:spcBef>
              <a:spcAft>
                <a:spcPts val="0"/>
              </a:spcAft>
              <a:buNone/>
            </a:pPr>
            <a:r>
              <a:rPr lang="ja-JP" sz="2200" b="1" i="0" dirty="0">
                <a:solidFill>
                  <a:srgbClr val="70AD47"/>
                </a:solidFill>
                <a:latin typeface="游ゴシック"/>
                <a:ea typeface="游ゴシック"/>
                <a:cs typeface="游ゴシック"/>
              </a:rPr>
              <a:t>query</a:t>
            </a:r>
            <a:endParaRPr lang="ja-JP" sz="2200" dirty="0"/>
          </a:p>
          <a:p>
            <a:pPr algn="ctr"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その名前を</a:t>
            </a:r>
            <a:endParaRPr lang="ja-JP" sz="2200" dirty="0"/>
          </a:p>
          <a:p>
            <a:pPr algn="ctr"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答える</a:t>
            </a:r>
            <a:endParaRPr lang="ja-JP" sz="2200" dirty="0"/>
          </a:p>
        </p:txBody>
      </p:sp>
      <p:sp>
        <p:nvSpPr>
          <p:cNvPr id="40" name="TextBox 40"/>
          <p:cNvSpPr txBox="1"/>
          <p:nvPr/>
        </p:nvSpPr>
        <p:spPr>
          <a:xfrm>
            <a:off x="720000" y="13680000"/>
            <a:ext cx="10944000" cy="468000"/>
          </a:xfrm>
          <a:prstGeom prst="rect">
            <a:avLst/>
          </a:prstGeom>
          <a:noFill/>
          <a:ln>
            <a:noFill/>
          </a:ln>
        </p:spPr>
        <p:txBody>
          <a:bodyPr wrap="square" lIns="0" tIns="0" rIns="0" bIns="0" rtlCol="0" anchor="t">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タスク署名</a:t>
            </a:r>
            <a:r>
              <a:rPr lang="ja-JP" sz="2800" b="0" i="0" dirty="0">
                <a:solidFill>
                  <a:srgbClr val="000000"/>
                </a:solidFill>
                <a:latin typeface="游ゴシック"/>
                <a:ea typeface="游ゴシック"/>
                <a:cs typeface="游ゴシック"/>
              </a:rPr>
              <a:t>：手順の名前の列（以下，署名）</a:t>
            </a:r>
            <a:endParaRPr lang="ja-JP" sz="2800" dirty="0"/>
          </a:p>
        </p:txBody>
      </p:sp>
      <p:graphicFrame>
        <p:nvGraphicFramePr>
          <p:cNvPr id="41" name="Table 41"/>
          <p:cNvGraphicFramePr>
            <a:graphicFrameLocks noGrp="1"/>
          </p:cNvGraphicFramePr>
          <p:nvPr/>
        </p:nvGraphicFramePr>
        <p:xfrm>
          <a:off x="720000" y="14220000"/>
          <a:ext cx="10944000" cy="1512000"/>
        </p:xfrm>
        <a:graphic>
          <a:graphicData uri="http://schemas.openxmlformats.org/drawingml/2006/table">
            <a:tbl>
              <a:tblPr firstRow="1" bandRow="1">
                <a:tableStyleId>{5C22544A-7EE6-4342-B048-85BDC9FD1C3A}</a:tableStyleId>
              </a:tblPr>
              <a:tblGrid>
                <a:gridCol w="5256000"/>
                <a:gridCol w="5688000"/>
              </a:tblGrid>
              <a:tr h="378000">
                <a:tc>
                  <a:txBody>
                    <a:bodyPr/>
                    <a:lstStyle/>
                    <a:p>
                      <a:pPr algn="ctr" marL="0" indent="0">
                        <a:lnSpc>
                          <a:spcPts val="2684"/>
                        </a:lnSpc>
                        <a:spcBef>
                          <a:spcPts val="0"/>
                        </a:spcBef>
                        <a:spcAft>
                          <a:spcPts val="0"/>
                        </a:spcAft>
                        <a:buNone/>
                      </a:pPr>
                      <a:r>
                        <a:rPr lang="ja-JP" sz="2200" b="1" i="0" dirty="0">
                          <a:solidFill>
                            <a:srgbClr val="FFFFFF"/>
                          </a:solidFill>
                          <a:latin typeface="游ゴシック"/>
                          <a:ea typeface="游ゴシック"/>
                          <a:cs typeface="游ゴシック"/>
                        </a:rPr>
                        <a:t>質問</a:t>
                      </a:r>
                      <a:endParaRPr lang="ja-JP" sz="2200" dirty="0"/>
                    </a:p>
                  </a:txBody>
                  <a:tcPr marL="90000" marR="90000" marT="28800" marB="28800" anchor="ctr">
                    <a:solidFill>
                      <a:srgbClr val="70AD47"/>
                    </a:solidFill>
                  </a:tcPr>
                </a:tc>
                <a:tc>
                  <a:txBody>
                    <a:bodyPr/>
                    <a:lstStyle/>
                    <a:p>
                      <a:pPr algn="ctr" marL="0" indent="0">
                        <a:lnSpc>
                          <a:spcPts val="2684"/>
                        </a:lnSpc>
                        <a:spcBef>
                          <a:spcPts val="0"/>
                        </a:spcBef>
                        <a:spcAft>
                          <a:spcPts val="0"/>
                        </a:spcAft>
                        <a:buNone/>
                      </a:pPr>
                      <a:r>
                        <a:rPr lang="ja-JP" sz="2200" b="1" i="0" dirty="0">
                          <a:solidFill>
                            <a:srgbClr val="FFFFFF"/>
                          </a:solidFill>
                          <a:latin typeface="游ゴシック"/>
                          <a:ea typeface="游ゴシック"/>
                          <a:cs typeface="游ゴシック"/>
                        </a:rPr>
                        <a:t>署名</a:t>
                      </a:r>
                      <a:endParaRPr lang="ja-JP" sz="2200" dirty="0"/>
                    </a:p>
                  </a:txBody>
                  <a:tcPr marL="90000" marR="90000" marT="28800" marB="28800" anchor="ctr">
                    <a:solidFill>
                      <a:srgbClr val="70AD47"/>
                    </a:solidFill>
                  </a:tcPr>
                </a:tc>
              </a:tr>
              <a:tr h="378000">
                <a:tc>
                  <a:txBody>
                    <a:bodyPr/>
                    <a:lstStyle/>
                    <a:p>
                      <a:pPr algn="ctr" marL="0" indent="0">
                        <a:lnSpc>
                          <a:spcPts val="2684"/>
                        </a:lnSpc>
                        <a:spcBef>
                          <a:spcPts val="0"/>
                        </a:spcBef>
                        <a:spcAft>
                          <a:spcPts val="0"/>
                        </a:spcAft>
                        <a:buNone/>
                      </a:pPr>
                      <a:r>
                        <a:rPr lang="ja-JP" sz="2200" b="0" i="0" dirty="0">
                          <a:solidFill>
                            <a:srgbClr val="000000"/>
                          </a:solidFill>
                          <a:latin typeface="游ゴシック"/>
                          <a:ea typeface="游ゴシック"/>
                          <a:cs typeface="游ゴシック"/>
                        </a:rPr>
                        <a:t>Who is wearing the dress?</a:t>
                      </a:r>
                      <a:endParaRPr lang="ja-JP" sz="2200" dirty="0"/>
                    </a:p>
                  </a:txBody>
                  <a:tcPr marL="90000" marR="90000" marT="28800" marB="28800" anchor="ctr">
                    <a:solidFill>
                      <a:srgbClr val="EBF1E9"/>
                    </a:solidFill>
                  </a:tcPr>
                </a:tc>
                <a:tc>
                  <a:txBody>
                    <a:bodyPr/>
                    <a:lstStyle/>
                    <a:p>
                      <a:pPr algn="ctr" marL="0" indent="0">
                        <a:lnSpc>
                          <a:spcPts val="2684"/>
                        </a:lnSpc>
                        <a:spcBef>
                          <a:spcPts val="0"/>
                        </a:spcBef>
                        <a:spcAft>
                          <a:spcPts val="0"/>
                        </a:spcAft>
                        <a:buNone/>
                      </a:pPr>
                      <a:r>
                        <a:rPr lang="ja-JP" sz="2200" b="0" i="0" dirty="0">
                          <a:solidFill>
                            <a:srgbClr val="000000"/>
                          </a:solidFill>
                          <a:latin typeface="游ゴシック"/>
                          <a:ea typeface="游ゴシック"/>
                          <a:cs typeface="游ゴシック"/>
                        </a:rPr>
                        <a:t>select &gt; relate &gt; query</a:t>
                      </a:r>
                      <a:endParaRPr lang="ja-JP" sz="2200" dirty="0"/>
                    </a:p>
                  </a:txBody>
                  <a:tcPr marL="90000" marR="90000" marT="28800" marB="28800" anchor="ctr">
                    <a:solidFill>
                      <a:srgbClr val="EBF1E9"/>
                    </a:solidFill>
                  </a:tcPr>
                </a:tc>
              </a:tr>
              <a:tr h="378000">
                <a:tc>
                  <a:txBody>
                    <a:bodyPr/>
                    <a:lstStyle/>
                    <a:p>
                      <a:pPr algn="ctr" marL="0" indent="0">
                        <a:lnSpc>
                          <a:spcPts val="2684"/>
                        </a:lnSpc>
                        <a:spcBef>
                          <a:spcPts val="0"/>
                        </a:spcBef>
                        <a:spcAft>
                          <a:spcPts val="0"/>
                        </a:spcAft>
                        <a:buNone/>
                      </a:pPr>
                      <a:r>
                        <a:rPr lang="ja-JP" sz="2200" b="0" i="0" dirty="0">
                          <a:solidFill>
                            <a:srgbClr val="000000"/>
                          </a:solidFill>
                          <a:latin typeface="游ゴシック"/>
                          <a:ea typeface="游ゴシック"/>
                          <a:cs typeface="游ゴシック"/>
                        </a:rPr>
                        <a:t>What is the boy wearing?</a:t>
                      </a:r>
                      <a:endParaRPr lang="ja-JP" sz="2200" dirty="0"/>
                    </a:p>
                  </a:txBody>
                  <a:tcPr marL="90000" marR="90000" marT="28800" marB="28800" anchor="ctr">
                    <a:solidFill>
                      <a:srgbClr val="EBF1E9"/>
                    </a:solidFill>
                  </a:tcPr>
                </a:tc>
                <a:tc>
                  <a:txBody>
                    <a:bodyPr/>
                    <a:lstStyle/>
                    <a:p>
                      <a:pPr algn="ctr" marL="0" indent="0">
                        <a:lnSpc>
                          <a:spcPts val="2684"/>
                        </a:lnSpc>
                        <a:spcBef>
                          <a:spcPts val="0"/>
                        </a:spcBef>
                        <a:spcAft>
                          <a:spcPts val="0"/>
                        </a:spcAft>
                        <a:buNone/>
                      </a:pPr>
                      <a:r>
                        <a:rPr lang="ja-JP" sz="2200" b="0" i="0" dirty="0">
                          <a:solidFill>
                            <a:srgbClr val="000000"/>
                          </a:solidFill>
                          <a:latin typeface="游ゴシック"/>
                          <a:ea typeface="游ゴシック"/>
                          <a:cs typeface="游ゴシック"/>
                        </a:rPr>
                        <a:t>select &gt; relate &gt; query</a:t>
                      </a:r>
                      <a:endParaRPr lang="ja-JP" sz="2200" dirty="0"/>
                    </a:p>
                  </a:txBody>
                  <a:tcPr marL="90000" marR="90000" marT="28800" marB="28800" anchor="ctr">
                    <a:solidFill>
                      <a:srgbClr val="EBF1E9"/>
                    </a:solidFill>
                  </a:tcPr>
                </a:tc>
              </a:tr>
              <a:tr h="378000">
                <a:tc>
                  <a:txBody>
                    <a:bodyPr/>
                    <a:lstStyle/>
                    <a:p>
                      <a:pPr algn="ctr" marL="0" indent="0">
                        <a:lnSpc>
                          <a:spcPts val="2684"/>
                        </a:lnSpc>
                        <a:spcBef>
                          <a:spcPts val="0"/>
                        </a:spcBef>
                        <a:spcAft>
                          <a:spcPts val="0"/>
                        </a:spcAft>
                        <a:buNone/>
                      </a:pPr>
                      <a:r>
                        <a:rPr lang="ja-JP" sz="2200" b="0" i="0" dirty="0">
                          <a:solidFill>
                            <a:srgbClr val="000000"/>
                          </a:solidFill>
                          <a:latin typeface="游ゴシック"/>
                          <a:ea typeface="游ゴシック"/>
                          <a:cs typeface="游ゴシック"/>
                        </a:rPr>
                        <a:t>What color is the cup?</a:t>
                      </a:r>
                      <a:endParaRPr lang="ja-JP" sz="2200" dirty="0"/>
                    </a:p>
                  </a:txBody>
                  <a:tcPr marL="90000" marR="90000" marT="28800" marB="28800" anchor="ctr">
                    <a:solidFill>
                      <a:srgbClr val="FFFFFF"/>
                    </a:solidFill>
                  </a:tcPr>
                </a:tc>
                <a:tc>
                  <a:txBody>
                    <a:bodyPr/>
                    <a:lstStyle/>
                    <a:p>
                      <a:pPr algn="ctr" marL="0" indent="0">
                        <a:lnSpc>
                          <a:spcPts val="2684"/>
                        </a:lnSpc>
                        <a:spcBef>
                          <a:spcPts val="0"/>
                        </a:spcBef>
                        <a:spcAft>
                          <a:spcPts val="0"/>
                        </a:spcAft>
                        <a:buNone/>
                      </a:pPr>
                      <a:r>
                        <a:rPr lang="ja-JP" sz="2200" b="0" i="0" dirty="0">
                          <a:solidFill>
                            <a:srgbClr val="000000"/>
                          </a:solidFill>
                          <a:latin typeface="游ゴシック"/>
                          <a:ea typeface="游ゴシック"/>
                          <a:cs typeface="游ゴシック"/>
                        </a:rPr>
                        <a:t>select &gt; query</a:t>
                      </a:r>
                      <a:endParaRPr lang="ja-JP" sz="2200" dirty="0"/>
                    </a:p>
                  </a:txBody>
                  <a:tcPr marL="90000" marR="90000" marT="28800" marB="28800" anchor="ctr">
                    <a:solidFill>
                      <a:srgbClr val="FFFFFF"/>
                    </a:solidFill>
                  </a:tcPr>
                </a:tc>
              </a:tr>
            </a:tbl>
          </a:graphicData>
        </a:graphic>
      </p:graphicFrame>
      <p:sp>
        <p:nvSpPr>
          <p:cNvPr id="42" name="Question 42"/>
          <p:cNvSpPr/>
          <p:nvPr/>
        </p:nvSpPr>
        <p:spPr>
          <a:xfrm>
            <a:off x="720000" y="15984000"/>
            <a:ext cx="10944000" cy="936000"/>
          </a:xfrm>
          <a:prstGeom prst="roundRect">
            <a:avLst>
              <a:gd name="adj" fmla="val 8000"/>
            </a:avLst>
          </a:prstGeom>
          <a:solidFill>
            <a:srgbClr val="E2F0D9"/>
          </a:solidFill>
          <a:ln w="21600">
            <a:solidFill>
              <a:srgbClr val="70AD47"/>
            </a:solidFill>
          </a:ln>
        </p:spPr>
        <p:txBody>
          <a:bodyPr wrap="square" lIns="216000" tIns="216000" rIns="216000" bIns="216000" rtlCol="0" anchor="ctr">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問い</a:t>
            </a:r>
            <a:r>
              <a:rPr lang="ja-JP" sz="2800" b="1" i="0" dirty="0">
                <a:solidFill>
                  <a:srgbClr val="000000"/>
                </a:solidFill>
                <a:latin typeface="游ゴシック"/>
                <a:ea typeface="游ゴシック"/>
                <a:cs typeface="游ゴシック"/>
              </a:rPr>
              <a:t>　解き方が同じ質問どうしの内部表現を近づけて学習すれば，内部表現は解き方に沿って整い，答えの生成に使われるか？</a:t>
            </a:r>
            <a:endParaRPr lang="ja-JP" sz="2800" dirty="0"/>
          </a:p>
        </p:txBody>
      </p:sp>
      <p:sp>
        <p:nvSpPr>
          <p:cNvPr id="43" name="Section 43"/>
          <p:cNvSpPr/>
          <p:nvPr/>
        </p:nvSpPr>
        <p:spPr>
          <a:xfrm>
            <a:off x="12168000" y="4680000"/>
            <a:ext cx="22032000" cy="684000"/>
          </a:xfrm>
          <a:prstGeom prst="rect">
            <a:avLst/>
          </a:prstGeom>
          <a:solidFill>
            <a:srgbClr val="70AD47"/>
          </a:solidFill>
          <a:ln>
            <a:noFill/>
          </a:ln>
        </p:spPr>
        <p:txBody>
          <a:bodyPr wrap="square" lIns="180000" tIns="180000" rIns="180000" bIns="180000" rtlCol="0" anchor="ctr">
            <a:noAutofit/>
          </a:bodyPr>
          <a:lstStyle/>
          <a:p>
            <a:pPr algn="l" marL="0" indent="0">
              <a:lnSpc>
                <a:spcPts val="4400"/>
              </a:lnSpc>
              <a:spcBef>
                <a:spcPts val="0"/>
              </a:spcBef>
              <a:spcAft>
                <a:spcPts val="0"/>
              </a:spcAft>
              <a:buNone/>
            </a:pPr>
            <a:r>
              <a:rPr lang="ja-JP" sz="4000" b="1" i="0" dirty="0">
                <a:solidFill>
                  <a:srgbClr val="FFFFFF"/>
                </a:solidFill>
                <a:latin typeface="游ゴシック"/>
                <a:ea typeface="游ゴシック"/>
                <a:cs typeface="游ゴシック"/>
              </a:rPr>
              <a:t>2．提案手法</a:t>
            </a:r>
            <a:endParaRPr lang="ja-JP" sz="4000" dirty="0"/>
          </a:p>
        </p:txBody>
      </p:sp>
      <p:sp>
        <p:nvSpPr>
          <p:cNvPr id="44" name="TextBox 44"/>
          <p:cNvSpPr txBox="1"/>
          <p:nvPr/>
        </p:nvSpPr>
        <p:spPr>
          <a:xfrm>
            <a:off x="12168000" y="5544000"/>
            <a:ext cx="22032000" cy="504000"/>
          </a:xfrm>
          <a:prstGeom prst="rect">
            <a:avLst/>
          </a:prstGeom>
          <a:noFill/>
          <a:ln>
            <a:noFill/>
          </a:ln>
        </p:spPr>
        <p:txBody>
          <a:bodyPr wrap="square" lIns="0" tIns="0" rIns="0" bIns="0" rtlCol="0" anchor="t">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アプローチ</a:t>
            </a:r>
            <a:r>
              <a:rPr lang="ja-JP" sz="2800" b="1" i="0" dirty="0">
                <a:solidFill>
                  <a:srgbClr val="000000"/>
                </a:solidFill>
                <a:latin typeface="游ゴシック"/>
                <a:ea typeface="游ゴシック"/>
                <a:cs typeface="游ゴシック"/>
              </a:rPr>
              <a:t>　署名が同じ質問どうしの内部表現 </a:t>
            </a:r>
            <a:r>
              <a:rPr lang="ja-JP" sz="2800" b="1" i="0" dirty="0">
                <a:solidFill>
                  <a:srgbClr val="000000"/>
                </a:solidFill>
                <a:latin typeface="Cambria Math"/>
                <a:ea typeface="Cambria Math"/>
                <a:cs typeface="Cambria Math"/>
              </a:rPr>
              <a:t>𝒉</a:t>
            </a:r>
            <a:r>
              <a:rPr lang="ja-JP" sz="2800" b="1" i="0" dirty="0">
                <a:solidFill>
                  <a:srgbClr val="000000"/>
                </a:solidFill>
                <a:latin typeface="游ゴシック"/>
                <a:ea typeface="游ゴシック"/>
                <a:cs typeface="游ゴシック"/>
              </a:rPr>
              <a:t> を，損失で直接近づける学習（整合）</a:t>
            </a:r>
            <a:endParaRPr lang="ja-JP" sz="2800" dirty="0"/>
          </a:p>
        </p:txBody>
      </p:sp>
      <p:pic>
        <p:nvPicPr>
          <p:cNvPr id="45" name="Picture 45" descr="元画像"/>
          <p:cNvPicPr>
            <a:picLocks noChangeAspect="1"/>
          </p:cNvPicPr>
          <p:nvPr/>
        </p:nvPicPr>
        <p:blipFill>
          <a:blip r:embed="rId2"/>
          <a:stretch>
            <a:fillRect/>
          </a:stretch>
        </p:blipFill>
        <p:spPr>
          <a:xfrm>
            <a:off x="12240000" y="6768000"/>
            <a:ext cx="2016000" cy="1512000"/>
          </a:xfrm>
          <a:prstGeom prst="rect">
            <a:avLst/>
          </a:prstGeom>
        </p:spPr>
      </p:pic>
      <p:sp>
        <p:nvSpPr>
          <p:cNvPr id="46" name="TextBox 46"/>
          <p:cNvSpPr txBox="1"/>
          <p:nvPr/>
        </p:nvSpPr>
        <p:spPr>
          <a:xfrm>
            <a:off x="12240000" y="8316000"/>
            <a:ext cx="2016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画像</a:t>
            </a:r>
            <a:endParaRPr lang="ja-JP" sz="2200" dirty="0"/>
          </a:p>
        </p:txBody>
      </p:sp>
      <p:sp>
        <p:nvSpPr>
          <p:cNvPr id="47" name="Input 47"/>
          <p:cNvSpPr/>
          <p:nvPr/>
        </p:nvSpPr>
        <p:spPr>
          <a:xfrm>
            <a:off x="12240000" y="9000000"/>
            <a:ext cx="2016000" cy="1080000"/>
          </a:xfrm>
          <a:prstGeom prst="rect">
            <a:avLst/>
          </a:prstGeom>
          <a:solidFill>
            <a:srgbClr val="EBF1E9"/>
          </a:solidFill>
          <a:ln w="14400">
            <a:solidFill>
              <a:srgbClr val="7F7F7F"/>
            </a:solidFill>
          </a:ln>
        </p:spPr>
        <p:txBody>
          <a:bodyPr wrap="square" lIns="0" tIns="0" rIns="0" bIns="0" rtlCol="0" anchor="ctr">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質問文</a:t>
            </a:r>
            <a:endParaRPr lang="ja-JP" sz="2200" dirty="0"/>
          </a:p>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Who is wearing</a:t>
            </a:r>
            <a:endParaRPr lang="ja-JP" sz="2200" dirty="0"/>
          </a:p>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the dress?</a:t>
            </a:r>
            <a:endParaRPr lang="ja-JP" sz="2200" dirty="0"/>
          </a:p>
        </p:txBody>
      </p:sp>
      <p:sp>
        <p:nvSpPr>
          <p:cNvPr id="48" name="VLMFrame 48"/>
          <p:cNvSpPr/>
          <p:nvPr/>
        </p:nvSpPr>
        <p:spPr>
          <a:xfrm>
            <a:off x="14616000" y="6336000"/>
            <a:ext cx="14400000" cy="4896000"/>
          </a:xfrm>
          <a:prstGeom prst="rect">
            <a:avLst/>
          </a:prstGeom>
          <a:noFill/>
          <a:ln w="18000">
            <a:solidFill>
              <a:srgbClr val="000000"/>
            </a:solidFill>
            <a:prstDash val="dash"/>
          </a:ln>
        </p:spPr>
        <p:txBody>
          <a:bodyPr wrap="square" lIns="0" tIns="0" rIns="0" bIns="0" rtlCol="0" anchor="t">
            <a:noAutofit/>
          </a:bodyPr>
          <a:lstStyle/>
          <a:p>
            <a:endParaRPr lang="ja-JP" dirty="0"/>
          </a:p>
        </p:txBody>
      </p:sp>
      <p:sp>
        <p:nvSpPr>
          <p:cNvPr id="49" name="TextBox 49"/>
          <p:cNvSpPr txBox="1"/>
          <p:nvPr/>
        </p:nvSpPr>
        <p:spPr>
          <a:xfrm>
            <a:off x="26856000" y="10872000"/>
            <a:ext cx="2088000" cy="324000"/>
          </a:xfrm>
          <a:prstGeom prst="rect">
            <a:avLst/>
          </a:prstGeom>
          <a:noFill/>
          <a:ln>
            <a:noFill/>
          </a:ln>
        </p:spPr>
        <p:txBody>
          <a:bodyPr wrap="square" lIns="0" tIns="0" rIns="0" bIns="0" rtlCol="0" anchor="t">
            <a:noAutofit/>
          </a:bodyPr>
          <a:lstStyle/>
          <a:p>
            <a:pPr algn="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VLM</a:t>
            </a:r>
            <a:endParaRPr lang="ja-JP" sz="2200" dirty="0"/>
          </a:p>
        </p:txBody>
      </p:sp>
      <p:sp>
        <p:nvSpPr>
          <p:cNvPr id="50" name="Encoder 50"/>
          <p:cNvSpPr/>
          <p:nvPr/>
        </p:nvSpPr>
        <p:spPr>
          <a:xfrm>
            <a:off x="14832000" y="6912000"/>
            <a:ext cx="1584000" cy="1584000"/>
          </a:xfrm>
          <a:prstGeom prst="rect">
            <a:avLst/>
          </a:prstGeom>
          <a:solidFill>
            <a:srgbClr val="FFFFFF"/>
          </a:solidFill>
          <a:ln w="18000">
            <a:solidFill>
              <a:srgbClr val="000000"/>
            </a:solidFill>
          </a:ln>
        </p:spPr>
        <p:txBody>
          <a:bodyPr wrap="square" lIns="0" tIns="0" rIns="0" bIns="0" rtlCol="0" anchor="ctr">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視覚</a:t>
            </a:r>
            <a:endParaRPr lang="ja-JP" sz="2200" dirty="0"/>
          </a:p>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エンコーダ</a:t>
            </a:r>
            <a:endParaRPr lang="ja-JP" sz="2200" dirty="0"/>
          </a:p>
        </p:txBody>
      </p:sp>
      <p:cxnSp>
        <p:nvCxnSpPr>
          <p:cNvPr id="51" name="Arrow 51"/>
          <p:cNvCxnSpPr/>
          <p:nvPr/>
        </p:nvCxnSpPr>
        <p:spPr>
          <a:xfrm>
            <a:off x="14292000" y="7524000"/>
            <a:ext cx="522000" cy="0"/>
          </a:xfrm>
          <a:prstGeom prst="straightConnector1">
            <a:avLst/>
          </a:prstGeom>
          <a:ln w="21600">
            <a:solidFill>
              <a:srgbClr val="000000"/>
            </a:solidFill>
            <a:tailEnd type="triangle" w="med" len="med"/>
          </a:ln>
        </p:spPr>
      </p:cxnSp>
      <p:sp>
        <p:nvSpPr>
          <p:cNvPr id="52" name="LMFrame 52"/>
          <p:cNvSpPr/>
          <p:nvPr/>
        </p:nvSpPr>
        <p:spPr>
          <a:xfrm>
            <a:off x="16776000" y="6516000"/>
            <a:ext cx="12024000" cy="4212000"/>
          </a:xfrm>
          <a:prstGeom prst="rect">
            <a:avLst/>
          </a:prstGeom>
          <a:solidFill>
            <a:srgbClr val="FFFFFF"/>
          </a:solidFill>
          <a:ln w="18000">
            <a:solidFill>
              <a:srgbClr val="000000"/>
            </a:solidFill>
          </a:ln>
        </p:spPr>
        <p:txBody>
          <a:bodyPr wrap="square" lIns="0" tIns="0" rIns="0" bIns="0" rtlCol="0" anchor="t">
            <a:noAutofit/>
          </a:bodyPr>
          <a:lstStyle/>
          <a:p>
            <a:endParaRPr lang="ja-JP" dirty="0"/>
          </a:p>
        </p:txBody>
      </p:sp>
      <p:sp>
        <p:nvSpPr>
          <p:cNvPr id="53" name="TextBox 53"/>
          <p:cNvSpPr txBox="1"/>
          <p:nvPr/>
        </p:nvSpPr>
        <p:spPr>
          <a:xfrm>
            <a:off x="24372000" y="10332000"/>
            <a:ext cx="4320000" cy="324000"/>
          </a:xfrm>
          <a:prstGeom prst="rect">
            <a:avLst/>
          </a:prstGeom>
          <a:noFill/>
          <a:ln>
            <a:noFill/>
          </a:ln>
        </p:spPr>
        <p:txBody>
          <a:bodyPr wrap="square" lIns="0" tIns="0" rIns="0" bIns="0" rtlCol="0" anchor="t">
            <a:noAutofit/>
          </a:bodyPr>
          <a:lstStyle/>
          <a:p>
            <a:pPr algn="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言語モデル（32層）</a:t>
            </a:r>
            <a:endParaRPr lang="ja-JP" sz="2200" dirty="0"/>
          </a:p>
        </p:txBody>
      </p:sp>
      <p:sp>
        <p:nvSpPr>
          <p:cNvPr id="54" name="Layer 54"/>
          <p:cNvSpPr/>
          <p:nvPr/>
        </p:nvSpPr>
        <p:spPr>
          <a:xfrm>
            <a:off x="17496000" y="7020000"/>
            <a:ext cx="720000" cy="2952000"/>
          </a:xfrm>
          <a:prstGeom prst="rect">
            <a:avLst/>
          </a:prstGeom>
          <a:solidFill>
            <a:srgbClr val="F2F2F2"/>
          </a:solidFill>
          <a:ln w="18000">
            <a:solidFill>
              <a:srgbClr val="000000"/>
            </a:solidFill>
          </a:ln>
        </p:spPr>
        <p:txBody>
          <a:bodyPr wrap="square" lIns="0" tIns="0" rIns="0" bIns="0" rtlCol="0" anchor="t">
            <a:noAutofit/>
          </a:bodyPr>
          <a:lstStyle/>
          <a:p>
            <a:endParaRPr lang="ja-JP" dirty="0"/>
          </a:p>
        </p:txBody>
      </p:sp>
      <p:sp>
        <p:nvSpPr>
          <p:cNvPr id="55" name="TextBox 55"/>
          <p:cNvSpPr txBox="1"/>
          <p:nvPr/>
        </p:nvSpPr>
        <p:spPr>
          <a:xfrm>
            <a:off x="16956000" y="6606000"/>
            <a:ext cx="1800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第1層</a:t>
            </a:r>
            <a:endParaRPr lang="ja-JP" sz="2200" dirty="0"/>
          </a:p>
        </p:txBody>
      </p:sp>
      <p:sp>
        <p:nvSpPr>
          <p:cNvPr id="56" name="Layer 56"/>
          <p:cNvSpPr/>
          <p:nvPr/>
        </p:nvSpPr>
        <p:spPr>
          <a:xfrm>
            <a:off x="20016000" y="7020000"/>
            <a:ext cx="720000" cy="2952000"/>
          </a:xfrm>
          <a:prstGeom prst="rect">
            <a:avLst/>
          </a:prstGeom>
          <a:solidFill>
            <a:srgbClr val="FBE5E5"/>
          </a:solidFill>
          <a:ln w="28800">
            <a:solidFill>
              <a:srgbClr val="C00000"/>
            </a:solidFill>
          </a:ln>
        </p:spPr>
        <p:txBody>
          <a:bodyPr wrap="square" lIns="0" tIns="0" rIns="0" bIns="0" rtlCol="0" anchor="t">
            <a:noAutofit/>
          </a:bodyPr>
          <a:lstStyle/>
          <a:p>
            <a:endParaRPr lang="ja-JP" dirty="0"/>
          </a:p>
        </p:txBody>
      </p:sp>
      <p:sp>
        <p:nvSpPr>
          <p:cNvPr id="57" name="TextBox 57"/>
          <p:cNvSpPr txBox="1"/>
          <p:nvPr/>
        </p:nvSpPr>
        <p:spPr>
          <a:xfrm>
            <a:off x="19476000" y="6606000"/>
            <a:ext cx="1800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1" i="0" dirty="0">
                <a:solidFill>
                  <a:srgbClr val="C00000"/>
                </a:solidFill>
                <a:latin typeface="游ゴシック"/>
                <a:ea typeface="游ゴシック"/>
                <a:cs typeface="游ゴシック"/>
              </a:rPr>
              <a:t>第16層</a:t>
            </a:r>
            <a:endParaRPr lang="ja-JP" sz="2200" dirty="0"/>
          </a:p>
        </p:txBody>
      </p:sp>
      <p:sp>
        <p:nvSpPr>
          <p:cNvPr id="58" name="Layer 58"/>
          <p:cNvSpPr/>
          <p:nvPr/>
        </p:nvSpPr>
        <p:spPr>
          <a:xfrm>
            <a:off x="22536000" y="7020000"/>
            <a:ext cx="720000" cy="2952000"/>
          </a:xfrm>
          <a:prstGeom prst="rect">
            <a:avLst/>
          </a:prstGeom>
          <a:solidFill>
            <a:srgbClr val="F2F2F2"/>
          </a:solidFill>
          <a:ln w="18000">
            <a:solidFill>
              <a:srgbClr val="000000"/>
            </a:solidFill>
          </a:ln>
        </p:spPr>
        <p:txBody>
          <a:bodyPr wrap="square" lIns="0" tIns="0" rIns="0" bIns="0" rtlCol="0" anchor="t">
            <a:noAutofit/>
          </a:bodyPr>
          <a:lstStyle/>
          <a:p>
            <a:endParaRPr lang="ja-JP" dirty="0"/>
          </a:p>
        </p:txBody>
      </p:sp>
      <p:sp>
        <p:nvSpPr>
          <p:cNvPr id="59" name="TextBox 59"/>
          <p:cNvSpPr txBox="1"/>
          <p:nvPr/>
        </p:nvSpPr>
        <p:spPr>
          <a:xfrm>
            <a:off x="21996000" y="6606000"/>
            <a:ext cx="1800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第32層</a:t>
            </a:r>
            <a:endParaRPr lang="ja-JP" sz="2200" dirty="0"/>
          </a:p>
        </p:txBody>
      </p:sp>
      <p:cxnSp>
        <p:nvCxnSpPr>
          <p:cNvPr id="60" name="Arrow 60"/>
          <p:cNvCxnSpPr/>
          <p:nvPr/>
        </p:nvCxnSpPr>
        <p:spPr>
          <a:xfrm>
            <a:off x="16452000" y="7380000"/>
            <a:ext cx="1026000" cy="0"/>
          </a:xfrm>
          <a:prstGeom prst="straightConnector1">
            <a:avLst/>
          </a:prstGeom>
          <a:ln w="21600">
            <a:solidFill>
              <a:srgbClr val="000000"/>
            </a:solidFill>
            <a:tailEnd type="triangle" w="med" len="med"/>
          </a:ln>
        </p:spPr>
      </p:cxnSp>
      <p:cxnSp>
        <p:nvCxnSpPr>
          <p:cNvPr id="61" name="Arrow 61"/>
          <p:cNvCxnSpPr/>
          <p:nvPr/>
        </p:nvCxnSpPr>
        <p:spPr>
          <a:xfrm>
            <a:off x="16452000" y="8028000"/>
            <a:ext cx="1026000" cy="0"/>
          </a:xfrm>
          <a:prstGeom prst="straightConnector1">
            <a:avLst/>
          </a:prstGeom>
          <a:ln w="21600">
            <a:solidFill>
              <a:srgbClr val="000000"/>
            </a:solidFill>
            <a:tailEnd type="triangle" w="med" len="med"/>
          </a:ln>
        </p:spPr>
      </p:cxnSp>
      <p:cxnSp>
        <p:nvCxnSpPr>
          <p:cNvPr id="62" name="Arrow 62"/>
          <p:cNvCxnSpPr/>
          <p:nvPr/>
        </p:nvCxnSpPr>
        <p:spPr>
          <a:xfrm flipV="1">
            <a:off x="14292000" y="8820000"/>
            <a:ext cx="3186000" cy="144000"/>
          </a:xfrm>
          <a:prstGeom prst="straightConnector1">
            <a:avLst/>
          </a:prstGeom>
          <a:ln w="21600">
            <a:solidFill>
              <a:srgbClr val="000000"/>
            </a:solidFill>
            <a:tailEnd type="triangle" w="med" len="med"/>
          </a:ln>
        </p:spPr>
      </p:cxnSp>
      <p:cxnSp>
        <p:nvCxnSpPr>
          <p:cNvPr id="63" name="Arrow 63"/>
          <p:cNvCxnSpPr/>
          <p:nvPr/>
        </p:nvCxnSpPr>
        <p:spPr>
          <a:xfrm flipV="1">
            <a:off x="14292000" y="9612000"/>
            <a:ext cx="3186000" cy="144000"/>
          </a:xfrm>
          <a:prstGeom prst="straightConnector1">
            <a:avLst/>
          </a:prstGeom>
          <a:ln w="21600">
            <a:solidFill>
              <a:srgbClr val="000000"/>
            </a:solidFill>
            <a:tailEnd type="triangle" w="med" len="med"/>
          </a:ln>
        </p:spPr>
      </p:cxnSp>
      <p:cxnSp>
        <p:nvCxnSpPr>
          <p:cNvPr id="64" name="Arrow 64"/>
          <p:cNvCxnSpPr/>
          <p:nvPr/>
        </p:nvCxnSpPr>
        <p:spPr>
          <a:xfrm>
            <a:off x="18234000" y="7380000"/>
            <a:ext cx="1764000" cy="0"/>
          </a:xfrm>
          <a:prstGeom prst="straightConnector1">
            <a:avLst/>
          </a:prstGeom>
          <a:ln w="14400">
            <a:solidFill>
              <a:srgbClr val="000000"/>
            </a:solidFill>
            <a:tailEnd type="triangle" w="med" len="med"/>
          </a:ln>
        </p:spPr>
      </p:cxnSp>
      <p:cxnSp>
        <p:nvCxnSpPr>
          <p:cNvPr id="65" name="Arrow 65"/>
          <p:cNvCxnSpPr/>
          <p:nvPr/>
        </p:nvCxnSpPr>
        <p:spPr>
          <a:xfrm>
            <a:off x="18234000" y="8028000"/>
            <a:ext cx="1764000" cy="0"/>
          </a:xfrm>
          <a:prstGeom prst="straightConnector1">
            <a:avLst/>
          </a:prstGeom>
          <a:ln w="14400">
            <a:solidFill>
              <a:srgbClr val="000000"/>
            </a:solidFill>
            <a:tailEnd type="triangle" w="med" len="med"/>
          </a:ln>
        </p:spPr>
      </p:cxnSp>
      <p:cxnSp>
        <p:nvCxnSpPr>
          <p:cNvPr id="66" name="Arrow 66"/>
          <p:cNvCxnSpPr/>
          <p:nvPr/>
        </p:nvCxnSpPr>
        <p:spPr>
          <a:xfrm>
            <a:off x="18234000" y="8820000"/>
            <a:ext cx="1764000" cy="0"/>
          </a:xfrm>
          <a:prstGeom prst="straightConnector1">
            <a:avLst/>
          </a:prstGeom>
          <a:ln w="14400">
            <a:solidFill>
              <a:srgbClr val="000000"/>
            </a:solidFill>
            <a:tailEnd type="triangle" w="med" len="med"/>
          </a:ln>
        </p:spPr>
      </p:cxnSp>
      <p:cxnSp>
        <p:nvCxnSpPr>
          <p:cNvPr id="67" name="Arrow 67"/>
          <p:cNvCxnSpPr/>
          <p:nvPr/>
        </p:nvCxnSpPr>
        <p:spPr>
          <a:xfrm>
            <a:off x="18234000" y="9612000"/>
            <a:ext cx="1764000" cy="0"/>
          </a:xfrm>
          <a:prstGeom prst="straightConnector1">
            <a:avLst/>
          </a:prstGeom>
          <a:ln w="14400">
            <a:solidFill>
              <a:srgbClr val="000000"/>
            </a:solidFill>
            <a:tailEnd type="triangle" w="med" len="med"/>
          </a:ln>
        </p:spPr>
      </p:cxnSp>
      <p:cxnSp>
        <p:nvCxnSpPr>
          <p:cNvPr id="68" name="Arrow 68"/>
          <p:cNvCxnSpPr/>
          <p:nvPr/>
        </p:nvCxnSpPr>
        <p:spPr>
          <a:xfrm>
            <a:off x="20754000" y="7380000"/>
            <a:ext cx="1764000" cy="0"/>
          </a:xfrm>
          <a:prstGeom prst="straightConnector1">
            <a:avLst/>
          </a:prstGeom>
          <a:ln w="14400">
            <a:solidFill>
              <a:srgbClr val="000000"/>
            </a:solidFill>
            <a:tailEnd type="triangle" w="med" len="med"/>
          </a:ln>
        </p:spPr>
      </p:cxnSp>
      <p:cxnSp>
        <p:nvCxnSpPr>
          <p:cNvPr id="69" name="Arrow 69"/>
          <p:cNvCxnSpPr/>
          <p:nvPr/>
        </p:nvCxnSpPr>
        <p:spPr>
          <a:xfrm>
            <a:off x="20754000" y="8028000"/>
            <a:ext cx="1764000" cy="0"/>
          </a:xfrm>
          <a:prstGeom prst="straightConnector1">
            <a:avLst/>
          </a:prstGeom>
          <a:ln w="14400">
            <a:solidFill>
              <a:srgbClr val="000000"/>
            </a:solidFill>
            <a:tailEnd type="triangle" w="med" len="med"/>
          </a:ln>
        </p:spPr>
      </p:cxnSp>
      <p:cxnSp>
        <p:nvCxnSpPr>
          <p:cNvPr id="70" name="Arrow 70"/>
          <p:cNvCxnSpPr/>
          <p:nvPr/>
        </p:nvCxnSpPr>
        <p:spPr>
          <a:xfrm>
            <a:off x="20754000" y="8820000"/>
            <a:ext cx="1764000" cy="0"/>
          </a:xfrm>
          <a:prstGeom prst="straightConnector1">
            <a:avLst/>
          </a:prstGeom>
          <a:ln w="14400">
            <a:solidFill>
              <a:srgbClr val="000000"/>
            </a:solidFill>
            <a:tailEnd type="triangle" w="med" len="med"/>
          </a:ln>
        </p:spPr>
      </p:cxnSp>
      <p:cxnSp>
        <p:nvCxnSpPr>
          <p:cNvPr id="71" name="Arrow 71"/>
          <p:cNvCxnSpPr/>
          <p:nvPr/>
        </p:nvCxnSpPr>
        <p:spPr>
          <a:xfrm>
            <a:off x="20754000" y="9612000"/>
            <a:ext cx="1764000" cy="0"/>
          </a:xfrm>
          <a:prstGeom prst="straightConnector1">
            <a:avLst/>
          </a:prstGeom>
          <a:ln w="14400">
            <a:solidFill>
              <a:srgbClr val="000000"/>
            </a:solidFill>
            <a:tailEnd type="triangle" w="med" len="med"/>
          </a:ln>
        </p:spPr>
      </p:cxnSp>
      <p:sp>
        <p:nvSpPr>
          <p:cNvPr id="72" name="Head 72"/>
          <p:cNvSpPr/>
          <p:nvPr/>
        </p:nvSpPr>
        <p:spPr>
          <a:xfrm>
            <a:off x="23760000" y="9072000"/>
            <a:ext cx="1224000" cy="1080000"/>
          </a:xfrm>
          <a:prstGeom prst="rect">
            <a:avLst/>
          </a:prstGeom>
          <a:solidFill>
            <a:srgbClr val="FFFFFF"/>
          </a:solidFill>
          <a:ln w="18000">
            <a:solidFill>
              <a:srgbClr val="000000"/>
            </a:solidFill>
          </a:ln>
        </p:spPr>
        <p:txBody>
          <a:bodyPr wrap="square" lIns="0" tIns="0" rIns="0" bIns="0" rtlCol="0" anchor="ctr">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出力層</a:t>
            </a:r>
            <a:endParaRPr lang="ja-JP" sz="2200" dirty="0"/>
          </a:p>
        </p:txBody>
      </p:sp>
      <p:cxnSp>
        <p:nvCxnSpPr>
          <p:cNvPr id="73" name="Arrow 73"/>
          <p:cNvCxnSpPr/>
          <p:nvPr/>
        </p:nvCxnSpPr>
        <p:spPr>
          <a:xfrm>
            <a:off x="23274000" y="9612000"/>
            <a:ext cx="468000" cy="0"/>
          </a:xfrm>
          <a:prstGeom prst="straightConnector1">
            <a:avLst/>
          </a:prstGeom>
          <a:ln w="21600">
            <a:solidFill>
              <a:srgbClr val="000000"/>
            </a:solidFill>
            <a:tailEnd type="triangle" w="med" len="med"/>
          </a:ln>
        </p:spPr>
      </p:cxnSp>
      <p:cxnSp>
        <p:nvCxnSpPr>
          <p:cNvPr id="74" name="Arrow 74"/>
          <p:cNvCxnSpPr/>
          <p:nvPr/>
        </p:nvCxnSpPr>
        <p:spPr>
          <a:xfrm>
            <a:off x="25002000" y="9612000"/>
            <a:ext cx="4500000" cy="0"/>
          </a:xfrm>
          <a:prstGeom prst="straightConnector1">
            <a:avLst/>
          </a:prstGeom>
          <a:ln w="21600">
            <a:solidFill>
              <a:srgbClr val="000000"/>
            </a:solidFill>
            <a:tailEnd type="triangle" w="med" len="med"/>
          </a:ln>
        </p:spPr>
      </p:cxnSp>
      <p:sp>
        <p:nvSpPr>
          <p:cNvPr id="75" name="Answer 75"/>
          <p:cNvSpPr/>
          <p:nvPr/>
        </p:nvSpPr>
        <p:spPr>
          <a:xfrm>
            <a:off x="29520000" y="9216000"/>
            <a:ext cx="1800000" cy="792000"/>
          </a:xfrm>
          <a:prstGeom prst="rect">
            <a:avLst/>
          </a:prstGeom>
          <a:solidFill>
            <a:srgbClr val="FFFFFF"/>
          </a:solidFill>
          <a:ln w="18000">
            <a:solidFill>
              <a:srgbClr val="000000"/>
            </a:solidFill>
          </a:ln>
        </p:spPr>
        <p:txBody>
          <a:bodyPr wrap="square" lIns="0" tIns="0" rIns="0" bIns="0" rtlCol="0" anchor="ctr">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答え</a:t>
            </a:r>
            <a:endParaRPr lang="ja-JP" sz="2200" dirty="0"/>
          </a:p>
        </p:txBody>
      </p:sp>
      <p:sp>
        <p:nvSpPr>
          <p:cNvPr id="76" name="Truth 76"/>
          <p:cNvSpPr/>
          <p:nvPr/>
        </p:nvSpPr>
        <p:spPr>
          <a:xfrm>
            <a:off x="29520000" y="12168000"/>
            <a:ext cx="1800000" cy="792000"/>
          </a:xfrm>
          <a:prstGeom prst="rect">
            <a:avLst/>
          </a:prstGeom>
          <a:solidFill>
            <a:srgbClr val="FFFFFF"/>
          </a:solidFill>
          <a:ln w="18000">
            <a:solidFill>
              <a:srgbClr val="000000"/>
            </a:solidFill>
          </a:ln>
        </p:spPr>
        <p:txBody>
          <a:bodyPr wrap="square" lIns="0" tIns="0" rIns="0" bIns="0" rtlCol="0" anchor="ctr">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正解</a:t>
            </a:r>
            <a:endParaRPr lang="ja-JP" sz="2200" dirty="0"/>
          </a:p>
        </p:txBody>
      </p:sp>
      <p:cxnSp>
        <p:nvCxnSpPr>
          <p:cNvPr id="77" name="Arrow 77"/>
          <p:cNvCxnSpPr/>
          <p:nvPr/>
        </p:nvCxnSpPr>
        <p:spPr>
          <a:xfrm>
            <a:off x="30420000" y="10026000"/>
            <a:ext cx="0" cy="2124000"/>
          </a:xfrm>
          <a:prstGeom prst="straightConnector1">
            <a:avLst/>
          </a:prstGeom>
          <a:ln w="28800">
            <a:solidFill>
              <a:srgbClr val="70AD47"/>
            </a:solidFill>
            <a:headEnd type="triangle" w="med" len="med"/>
            <a:tailEnd type="triangle" w="med" len="med"/>
          </a:ln>
        </p:spPr>
      </p:cxnSp>
      <p:sp>
        <p:nvSpPr>
          <p:cNvPr id="78" name="TextBox 78"/>
          <p:cNvSpPr txBox="1"/>
          <p:nvPr/>
        </p:nvSpPr>
        <p:spPr>
          <a:xfrm>
            <a:off x="30564000" y="10620000"/>
            <a:ext cx="1800000" cy="504000"/>
          </a:xfrm>
          <a:prstGeom prst="rect">
            <a:avLst/>
          </a:prstGeom>
          <a:noFill/>
          <a:ln>
            <a:noFill/>
          </a:ln>
        </p:spPr>
        <p:txBody>
          <a:bodyPr wrap="square" lIns="0" tIns="0" rIns="0" bIns="0" rtlCol="0" anchor="t">
            <a:noAutofit/>
          </a:bodyPr>
          <a:lstStyle/>
          <a:p>
            <a:pPr algn="l" marL="0" indent="0">
              <a:lnSpc>
                <a:spcPts val="2860"/>
              </a:lnSpc>
              <a:spcBef>
                <a:spcPts val="0"/>
              </a:spcBef>
              <a:spcAft>
                <a:spcPts val="0"/>
              </a:spcAft>
              <a:buNone/>
            </a:pPr>
            <a:r>
              <a:rPr lang="ja-JP" sz="2600" b="1" i="0" dirty="0">
                <a:solidFill>
                  <a:srgbClr val="70AD47"/>
                </a:solidFill>
                <a:latin typeface="Cambria Math"/>
                <a:ea typeface="Cambria Math"/>
                <a:cs typeface="Cambria Math"/>
              </a:rPr>
              <a:t>ℒ</a:t>
            </a:r>
            <a:r>
              <a:rPr lang="ja-JP" sz="2600" b="1" i="0" baseline="-25000" dirty="0">
                <a:solidFill>
                  <a:srgbClr val="70AD47"/>
                </a:solidFill>
                <a:latin typeface="Cambria Math"/>
                <a:ea typeface="Cambria Math"/>
                <a:cs typeface="Cambria Math"/>
              </a:rPr>
              <a:t>LM</a:t>
            </a:r>
            <a:endParaRPr lang="ja-JP" sz="2600" dirty="0"/>
          </a:p>
        </p:txBody>
      </p:sp>
      <p:sp>
        <p:nvSpPr>
          <p:cNvPr id="79" name="h 79"/>
          <p:cNvSpPr/>
          <p:nvPr/>
        </p:nvSpPr>
        <p:spPr>
          <a:xfrm>
            <a:off x="21114000" y="9414000"/>
            <a:ext cx="396000" cy="396000"/>
          </a:xfrm>
          <a:prstGeom prst="ellipse">
            <a:avLst/>
          </a:prstGeom>
          <a:solidFill>
            <a:srgbClr val="C00000"/>
          </a:solidFill>
          <a:ln>
            <a:noFill/>
          </a:ln>
        </p:spPr>
        <p:txBody>
          <a:bodyPr wrap="square" lIns="0" tIns="0" rIns="0" bIns="0" rtlCol="0" anchor="t">
            <a:noAutofit/>
          </a:bodyPr>
          <a:lstStyle/>
          <a:p>
            <a:endParaRPr lang="ja-JP" dirty="0"/>
          </a:p>
        </p:txBody>
      </p:sp>
      <p:sp>
        <p:nvSpPr>
          <p:cNvPr id="80" name="TextBox 80"/>
          <p:cNvSpPr txBox="1"/>
          <p:nvPr/>
        </p:nvSpPr>
        <p:spPr>
          <a:xfrm>
            <a:off x="21240000" y="8982000"/>
            <a:ext cx="720000" cy="432000"/>
          </a:xfrm>
          <a:prstGeom prst="rect">
            <a:avLst/>
          </a:prstGeom>
          <a:noFill/>
          <a:ln>
            <a:noFill/>
          </a:ln>
        </p:spPr>
        <p:txBody>
          <a:bodyPr wrap="square" lIns="0" tIns="0" rIns="0" bIns="0" rtlCol="0" anchor="t">
            <a:noAutofit/>
          </a:bodyPr>
          <a:lstStyle/>
          <a:p>
            <a:pPr algn="l" marL="0" indent="0">
              <a:lnSpc>
                <a:spcPts val="2800"/>
              </a:lnSpc>
              <a:spcBef>
                <a:spcPts val="0"/>
              </a:spcBef>
              <a:spcAft>
                <a:spcPts val="0"/>
              </a:spcAft>
              <a:buNone/>
            </a:pPr>
            <a:r>
              <a:rPr lang="ja-JP" sz="2800" b="1" i="0" dirty="0">
                <a:solidFill>
                  <a:srgbClr val="C00000"/>
                </a:solidFill>
                <a:latin typeface="Cambria Math"/>
                <a:ea typeface="Cambria Math"/>
                <a:cs typeface="Cambria Math"/>
              </a:rPr>
              <a:t>𝒉</a:t>
            </a:r>
            <a:endParaRPr lang="ja-JP" sz="2800" dirty="0"/>
          </a:p>
        </p:txBody>
      </p:sp>
      <p:sp>
        <p:nvSpPr>
          <p:cNvPr id="81" name="AlignFrame 81"/>
          <p:cNvSpPr/>
          <p:nvPr/>
        </p:nvSpPr>
        <p:spPr>
          <a:xfrm>
            <a:off x="20016000" y="11808000"/>
            <a:ext cx="8928000" cy="2592000"/>
          </a:xfrm>
          <a:prstGeom prst="rect">
            <a:avLst/>
          </a:prstGeom>
          <a:solidFill>
            <a:srgbClr val="FFFFFF"/>
          </a:solidFill>
          <a:ln w="21600">
            <a:solidFill>
              <a:srgbClr val="70AD47"/>
            </a:solidFill>
            <a:prstDash val="sysDot"/>
          </a:ln>
        </p:spPr>
        <p:txBody>
          <a:bodyPr wrap="square" lIns="0" tIns="0" rIns="0" bIns="0" rtlCol="0" anchor="t">
            <a:noAutofit/>
          </a:bodyPr>
          <a:lstStyle/>
          <a:p>
            <a:endParaRPr lang="ja-JP" dirty="0"/>
          </a:p>
        </p:txBody>
      </p:sp>
      <p:cxnSp>
        <p:nvCxnSpPr>
          <p:cNvPr id="82" name="Arrow 82"/>
          <p:cNvCxnSpPr/>
          <p:nvPr/>
        </p:nvCxnSpPr>
        <p:spPr>
          <a:xfrm>
            <a:off x="21312000" y="9828000"/>
            <a:ext cx="0" cy="1962000"/>
          </a:xfrm>
          <a:prstGeom prst="straightConnector1">
            <a:avLst/>
          </a:prstGeom>
          <a:ln w="28800">
            <a:solidFill>
              <a:srgbClr val="C00000"/>
            </a:solidFill>
            <a:tailEnd type="triangle" w="med" len="med"/>
          </a:ln>
        </p:spPr>
      </p:cxnSp>
      <p:sp>
        <p:nvSpPr>
          <p:cNvPr id="83" name="TextBox 83"/>
          <p:cNvSpPr txBox="1"/>
          <p:nvPr/>
        </p:nvSpPr>
        <p:spPr>
          <a:xfrm>
            <a:off x="20160000" y="11880000"/>
            <a:ext cx="3240000" cy="360000"/>
          </a:xfrm>
          <a:prstGeom prst="rect">
            <a:avLst/>
          </a:prstGeom>
          <a:noFill/>
          <a:ln>
            <a:noFill/>
          </a:ln>
        </p:spPr>
        <p:txBody>
          <a:bodyPr wrap="square" lIns="0" tIns="0" rIns="0" bIns="0" rtlCol="0" anchor="t">
            <a:noAutofit/>
          </a:bodyPr>
          <a:lstStyle/>
          <a:p>
            <a:pPr algn="l"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1バッチの </a:t>
            </a:r>
            <a:r>
              <a:rPr lang="ja-JP" sz="2200" b="0" i="0" dirty="0">
                <a:solidFill>
                  <a:srgbClr val="000000"/>
                </a:solidFill>
                <a:latin typeface="Cambria Math"/>
                <a:ea typeface="Cambria Math"/>
                <a:cs typeface="Cambria Math"/>
              </a:rPr>
              <a:t>𝒉</a:t>
            </a:r>
            <a:r>
              <a:rPr lang="ja-JP" sz="2200" b="0" i="0" dirty="0">
                <a:solidFill>
                  <a:srgbClr val="000000"/>
                </a:solidFill>
                <a:latin typeface="游ゴシック"/>
                <a:ea typeface="游ゴシック"/>
                <a:cs typeface="游ゴシック"/>
              </a:rPr>
              <a:t> たち</a:t>
            </a:r>
            <a:endParaRPr lang="ja-JP" sz="2200" dirty="0"/>
          </a:p>
        </p:txBody>
      </p:sp>
      <p:sp>
        <p:nvSpPr>
          <p:cNvPr id="84" name="DotA 84"/>
          <p:cNvSpPr/>
          <p:nvPr/>
        </p:nvSpPr>
        <p:spPr>
          <a:xfrm>
            <a:off x="20916000" y="13500000"/>
            <a:ext cx="360000" cy="360000"/>
          </a:xfrm>
          <a:prstGeom prst="ellipse">
            <a:avLst/>
          </a:prstGeom>
          <a:solidFill>
            <a:srgbClr val="000000"/>
          </a:solidFill>
          <a:ln>
            <a:noFill/>
          </a:ln>
        </p:spPr>
        <p:txBody>
          <a:bodyPr wrap="square" lIns="0" tIns="0" rIns="0" bIns="0" rtlCol="0" anchor="t">
            <a:noAutofit/>
          </a:bodyPr>
          <a:lstStyle/>
          <a:p>
            <a:endParaRPr lang="ja-JP" dirty="0"/>
          </a:p>
        </p:txBody>
      </p:sp>
      <p:sp>
        <p:nvSpPr>
          <p:cNvPr id="85" name="DotA 85"/>
          <p:cNvSpPr/>
          <p:nvPr/>
        </p:nvSpPr>
        <p:spPr>
          <a:xfrm>
            <a:off x="22788000" y="12924000"/>
            <a:ext cx="360000" cy="360000"/>
          </a:xfrm>
          <a:prstGeom prst="ellipse">
            <a:avLst/>
          </a:prstGeom>
          <a:solidFill>
            <a:srgbClr val="000000"/>
          </a:solidFill>
          <a:ln>
            <a:noFill/>
          </a:ln>
        </p:spPr>
        <p:txBody>
          <a:bodyPr wrap="square" lIns="0" tIns="0" rIns="0" bIns="0" rtlCol="0" anchor="t">
            <a:noAutofit/>
          </a:bodyPr>
          <a:lstStyle/>
          <a:p>
            <a:endParaRPr lang="ja-JP" dirty="0"/>
          </a:p>
        </p:txBody>
      </p:sp>
      <p:sp>
        <p:nvSpPr>
          <p:cNvPr id="86" name="DotB 86"/>
          <p:cNvSpPr/>
          <p:nvPr/>
        </p:nvSpPr>
        <p:spPr>
          <a:xfrm>
            <a:off x="27684000" y="13572000"/>
            <a:ext cx="360000" cy="360000"/>
          </a:xfrm>
          <a:prstGeom prst="ellipse">
            <a:avLst/>
          </a:prstGeom>
          <a:solidFill>
            <a:srgbClr val="FFFFFF"/>
          </a:solidFill>
          <a:ln w="21600">
            <a:solidFill>
              <a:srgbClr val="000000"/>
            </a:solidFill>
          </a:ln>
        </p:spPr>
        <p:txBody>
          <a:bodyPr wrap="square" lIns="0" tIns="0" rIns="0" bIns="0" rtlCol="0" anchor="t">
            <a:noAutofit/>
          </a:bodyPr>
          <a:lstStyle/>
          <a:p>
            <a:endParaRPr lang="ja-JP" dirty="0"/>
          </a:p>
        </p:txBody>
      </p:sp>
      <p:cxnSp>
        <p:nvCxnSpPr>
          <p:cNvPr id="87" name="Arrow 87"/>
          <p:cNvCxnSpPr/>
          <p:nvPr/>
        </p:nvCxnSpPr>
        <p:spPr>
          <a:xfrm flipV="1">
            <a:off x="21312000" y="13158000"/>
            <a:ext cx="1440000" cy="450000"/>
          </a:xfrm>
          <a:prstGeom prst="straightConnector1">
            <a:avLst/>
          </a:prstGeom>
          <a:ln w="36000">
            <a:solidFill>
              <a:srgbClr val="70AD47"/>
            </a:solidFill>
            <a:headEnd type="triangle" w="med" len="med"/>
            <a:tailEnd type="triangle" w="med" len="med"/>
          </a:ln>
        </p:spPr>
      </p:cxnSp>
      <p:sp>
        <p:nvSpPr>
          <p:cNvPr id="88" name="TextBox 88"/>
          <p:cNvSpPr txBox="1"/>
          <p:nvPr/>
        </p:nvSpPr>
        <p:spPr>
          <a:xfrm>
            <a:off x="20808000" y="12312000"/>
            <a:ext cx="2160000" cy="360000"/>
          </a:xfrm>
          <a:prstGeom prst="rect">
            <a:avLst/>
          </a:prstGeom>
          <a:noFill/>
          <a:ln>
            <a:noFill/>
          </a:ln>
        </p:spPr>
        <p:txBody>
          <a:bodyPr wrap="square" lIns="0" tIns="0" rIns="0" bIns="0" rtlCol="0" anchor="t">
            <a:noAutofit/>
          </a:bodyPr>
          <a:lstStyle/>
          <a:p>
            <a:pPr algn="l" marL="0" indent="0">
              <a:lnSpc>
                <a:spcPts val="2420"/>
              </a:lnSpc>
              <a:spcBef>
                <a:spcPts val="0"/>
              </a:spcBef>
              <a:spcAft>
                <a:spcPts val="0"/>
              </a:spcAft>
              <a:buNone/>
            </a:pPr>
            <a:r>
              <a:rPr lang="ja-JP" sz="2200" b="1" i="0" dirty="0">
                <a:solidFill>
                  <a:srgbClr val="70AD47"/>
                </a:solidFill>
                <a:latin typeface="游ゴシック"/>
                <a:ea typeface="游ゴシック"/>
                <a:cs typeface="游ゴシック"/>
              </a:rPr>
              <a:t>近づける</a:t>
            </a:r>
            <a:endParaRPr lang="ja-JP" sz="2200" dirty="0"/>
          </a:p>
        </p:txBody>
      </p:sp>
      <p:cxnSp>
        <p:nvCxnSpPr>
          <p:cNvPr id="89" name="Arrow 89"/>
          <p:cNvCxnSpPr/>
          <p:nvPr/>
        </p:nvCxnSpPr>
        <p:spPr>
          <a:xfrm>
            <a:off x="23184000" y="13176000"/>
            <a:ext cx="4464000" cy="540000"/>
          </a:xfrm>
          <a:prstGeom prst="straightConnector1">
            <a:avLst/>
          </a:prstGeom>
          <a:ln w="28800">
            <a:solidFill>
              <a:srgbClr val="000000"/>
            </a:solidFill>
            <a:tailEnd type="triangle" w="med" len="med"/>
          </a:ln>
        </p:spPr>
      </p:cxnSp>
      <p:sp>
        <p:nvSpPr>
          <p:cNvPr id="90" name="TextBox 90"/>
          <p:cNvSpPr txBox="1"/>
          <p:nvPr/>
        </p:nvSpPr>
        <p:spPr>
          <a:xfrm>
            <a:off x="23400000" y="13680000"/>
            <a:ext cx="2160000" cy="360000"/>
          </a:xfrm>
          <a:prstGeom prst="rect">
            <a:avLst/>
          </a:prstGeom>
          <a:noFill/>
          <a:ln>
            <a:noFill/>
          </a:ln>
        </p:spPr>
        <p:txBody>
          <a:bodyPr wrap="square" lIns="0" tIns="0" rIns="0" bIns="0" rtlCol="0" anchor="t">
            <a:noAutofit/>
          </a:bodyPr>
          <a:lstStyle/>
          <a:p>
            <a:pPr algn="l"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遠ざける</a:t>
            </a:r>
            <a:endParaRPr lang="ja-JP" sz="2200" dirty="0"/>
          </a:p>
        </p:txBody>
      </p:sp>
      <p:sp>
        <p:nvSpPr>
          <p:cNvPr id="91" name="TextBox 91"/>
          <p:cNvSpPr txBox="1"/>
          <p:nvPr/>
        </p:nvSpPr>
        <p:spPr>
          <a:xfrm>
            <a:off x="26208000" y="11880000"/>
            <a:ext cx="2628000" cy="720000"/>
          </a:xfrm>
          <a:prstGeom prst="rect">
            <a:avLst/>
          </a:prstGeom>
          <a:noFill/>
          <a:ln>
            <a:noFill/>
          </a:ln>
        </p:spPr>
        <p:txBody>
          <a:bodyPr wrap="square" lIns="0" tIns="0" rIns="0" bIns="0" rtlCol="0" anchor="t">
            <a:noAutofit/>
          </a:bodyPr>
          <a:lstStyle/>
          <a:p>
            <a:pPr algn="l"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 署名 A の </a:t>
            </a:r>
            <a:r>
              <a:rPr lang="ja-JP" sz="2200" b="0" i="0" dirty="0">
                <a:solidFill>
                  <a:srgbClr val="000000"/>
                </a:solidFill>
                <a:latin typeface="Cambria Math"/>
                <a:ea typeface="Cambria Math"/>
                <a:cs typeface="Cambria Math"/>
              </a:rPr>
              <a:t>𝒉</a:t>
            </a:r>
            <a:endParaRPr lang="ja-JP" sz="2200" dirty="0"/>
          </a:p>
          <a:p>
            <a:pPr algn="l"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 署名 B の </a:t>
            </a:r>
            <a:r>
              <a:rPr lang="ja-JP" sz="2200" b="0" i="0" dirty="0">
                <a:solidFill>
                  <a:srgbClr val="000000"/>
                </a:solidFill>
                <a:latin typeface="Cambria Math"/>
                <a:ea typeface="Cambria Math"/>
                <a:cs typeface="Cambria Math"/>
              </a:rPr>
              <a:t>𝒉</a:t>
            </a:r>
            <a:endParaRPr lang="ja-JP" sz="2200" dirty="0"/>
          </a:p>
        </p:txBody>
      </p:sp>
      <p:sp>
        <p:nvSpPr>
          <p:cNvPr id="92" name="TextBox 92"/>
          <p:cNvSpPr txBox="1"/>
          <p:nvPr/>
        </p:nvSpPr>
        <p:spPr>
          <a:xfrm>
            <a:off x="20160000" y="13788000"/>
            <a:ext cx="2160000" cy="504000"/>
          </a:xfrm>
          <a:prstGeom prst="rect">
            <a:avLst/>
          </a:prstGeom>
          <a:noFill/>
          <a:ln>
            <a:noFill/>
          </a:ln>
        </p:spPr>
        <p:txBody>
          <a:bodyPr wrap="square" lIns="0" tIns="0" rIns="0" bIns="0" rtlCol="0" anchor="t">
            <a:noAutofit/>
          </a:bodyPr>
          <a:lstStyle/>
          <a:p>
            <a:pPr algn="l" marL="0" indent="0">
              <a:lnSpc>
                <a:spcPts val="2860"/>
              </a:lnSpc>
              <a:spcBef>
                <a:spcPts val="0"/>
              </a:spcBef>
              <a:spcAft>
                <a:spcPts val="0"/>
              </a:spcAft>
              <a:buNone/>
            </a:pPr>
            <a:r>
              <a:rPr lang="ja-JP" sz="2600" b="1" i="0" dirty="0">
                <a:solidFill>
                  <a:srgbClr val="C00000"/>
                </a:solidFill>
                <a:latin typeface="Cambria Math"/>
                <a:ea typeface="Cambria Math"/>
                <a:cs typeface="Cambria Math"/>
              </a:rPr>
              <a:t>ℒ</a:t>
            </a:r>
            <a:r>
              <a:rPr lang="ja-JP" sz="2600" b="1" i="0" baseline="-25000" dirty="0">
                <a:solidFill>
                  <a:srgbClr val="C00000"/>
                </a:solidFill>
                <a:latin typeface="Cambria Math"/>
                <a:ea typeface="Cambria Math"/>
                <a:cs typeface="Cambria Math"/>
              </a:rPr>
              <a:t>align</a:t>
            </a:r>
            <a:endParaRPr lang="ja-JP" sz="2600" dirty="0"/>
          </a:p>
        </p:txBody>
      </p:sp>
      <p:sp>
        <p:nvSpPr>
          <p:cNvPr id="93" name="Callout 93"/>
          <p:cNvSpPr/>
          <p:nvPr/>
        </p:nvSpPr>
        <p:spPr>
          <a:xfrm>
            <a:off x="12168000" y="11808000"/>
            <a:ext cx="7488000" cy="2592000"/>
          </a:xfrm>
          <a:prstGeom prst="roundRect">
            <a:avLst>
              <a:gd name="adj" fmla="val 6000"/>
            </a:avLst>
          </a:prstGeom>
          <a:solidFill>
            <a:srgbClr val="FFFFFF"/>
          </a:solidFill>
          <a:ln w="21600">
            <a:solidFill>
              <a:srgbClr val="70AD47"/>
            </a:solidFill>
          </a:ln>
        </p:spPr>
        <p:txBody>
          <a:bodyPr wrap="square" lIns="144000" tIns="144000" rIns="144000" bIns="144000" rtlCol="0" anchor="t">
            <a:noAutofit/>
          </a:bodyPr>
          <a:lstStyle/>
          <a:p>
            <a:pPr algn="l" marL="0" indent="0">
              <a:lnSpc>
                <a:spcPts val="3416"/>
              </a:lnSpc>
              <a:spcBef>
                <a:spcPts val="0"/>
              </a:spcBef>
              <a:spcAft>
                <a:spcPts val="200"/>
              </a:spcAft>
              <a:buNone/>
            </a:pPr>
            <a:r>
              <a:rPr lang="ja-JP" sz="2800" b="1" i="0" dirty="0">
                <a:solidFill>
                  <a:srgbClr val="70AD47"/>
                </a:solidFill>
                <a:latin typeface="游ゴシック"/>
                <a:ea typeface="游ゴシック"/>
                <a:cs typeface="游ゴシック"/>
              </a:rPr>
              <a:t>整合を掛ける位置</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第16層（32層の中間）の，質問を読み終えた位置の </a:t>
            </a:r>
            <a:r>
              <a:rPr lang="ja-JP" sz="2800" b="0" i="0" dirty="0">
                <a:solidFill>
                  <a:srgbClr val="000000"/>
                </a:solidFill>
                <a:latin typeface="Cambria Math"/>
                <a:ea typeface="Cambria Math"/>
                <a:cs typeface="Cambria Math"/>
              </a:rPr>
              <a:t>𝒉</a:t>
            </a:r>
            <a:r>
              <a:rPr lang="ja-JP" sz="2800" b="0" i="0" dirty="0">
                <a:solidFill>
                  <a:srgbClr val="000000"/>
                </a:solidFill>
                <a:latin typeface="游ゴシック"/>
                <a:ea typeface="游ゴシック"/>
                <a:cs typeface="游ゴシック"/>
              </a:rPr>
              <a:t>（答えを書き出す直前）</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射影を挟まず，</a:t>
            </a:r>
            <a:r>
              <a:rPr lang="ja-JP" sz="2800" b="0" i="0" dirty="0">
                <a:solidFill>
                  <a:srgbClr val="000000"/>
                </a:solidFill>
                <a:latin typeface="Cambria Math"/>
                <a:ea typeface="Cambria Math"/>
                <a:cs typeface="Cambria Math"/>
              </a:rPr>
              <a:t>𝒉</a:t>
            </a:r>
            <a:r>
              <a:rPr lang="ja-JP" sz="2800" b="0" i="0" dirty="0">
                <a:solidFill>
                  <a:srgbClr val="000000"/>
                </a:solidFill>
                <a:latin typeface="游ゴシック"/>
                <a:ea typeface="游ゴシック"/>
                <a:cs typeface="游ゴシック"/>
              </a:rPr>
              <a:t> そのものに</a:t>
            </a:r>
            <a:endParaRPr lang="ja-JP" sz="2800" dirty="0"/>
          </a:p>
        </p:txBody>
      </p:sp>
      <p:cxnSp>
        <p:nvCxnSpPr>
          <p:cNvPr id="94" name="Arrow 94"/>
          <p:cNvCxnSpPr/>
          <p:nvPr/>
        </p:nvCxnSpPr>
        <p:spPr>
          <a:xfrm flipV="1">
            <a:off x="17784000" y="9774000"/>
            <a:ext cx="3312000" cy="2016000"/>
          </a:xfrm>
          <a:prstGeom prst="straightConnector1">
            <a:avLst/>
          </a:prstGeom>
          <a:ln w="28800">
            <a:solidFill>
              <a:srgbClr val="70AD47"/>
            </a:solidFill>
            <a:tailEnd type="triangle" w="med" len="med"/>
          </a:ln>
        </p:spPr>
      </p:cxnSp>
      <p:sp>
        <p:nvSpPr>
          <p:cNvPr id="95" name="Loss 95"/>
          <p:cNvSpPr/>
          <p:nvPr/>
        </p:nvSpPr>
        <p:spPr>
          <a:xfrm>
            <a:off x="12168000" y="14724000"/>
            <a:ext cx="5580000" cy="2196000"/>
          </a:xfrm>
          <a:prstGeom prst="roundRect">
            <a:avLst>
              <a:gd name="adj" fmla="val 6000"/>
            </a:avLst>
          </a:prstGeom>
          <a:solidFill>
            <a:srgbClr val="E2F0D9"/>
          </a:solidFill>
          <a:ln w="21600">
            <a:solidFill>
              <a:srgbClr val="70AD47"/>
            </a:solidFill>
          </a:ln>
        </p:spPr>
        <p:txBody>
          <a:bodyPr wrap="square" lIns="144000" tIns="144000" rIns="144000" bIns="144000" rtlCol="0" anchor="t">
            <a:noAutofit/>
          </a:bodyPr>
          <a:lstStyle/>
          <a:p>
            <a:pPr algn="l" marL="0" indent="0">
              <a:lnSpc>
                <a:spcPts val="3416"/>
              </a:lnSpc>
              <a:spcBef>
                <a:spcPts val="0"/>
              </a:spcBef>
              <a:spcAft>
                <a:spcPts val="300"/>
              </a:spcAft>
              <a:buNone/>
            </a:pPr>
            <a:r>
              <a:rPr lang="ja-JP" sz="2800" b="1" i="0" dirty="0">
                <a:solidFill>
                  <a:srgbClr val="70AD47"/>
                </a:solidFill>
                <a:latin typeface="游ゴシック"/>
                <a:ea typeface="游ゴシック"/>
                <a:cs typeface="游ゴシック"/>
              </a:rPr>
              <a:t>学習の損失</a:t>
            </a:r>
            <a:endParaRPr lang="ja-JP" sz="2800" dirty="0"/>
          </a:p>
          <a:p>
            <a:pPr algn="ctr" marL="0" indent="0">
              <a:lnSpc>
                <a:spcPts val="3416"/>
              </a:lnSpc>
              <a:spcBef>
                <a:spcPts val="0"/>
              </a:spcBef>
              <a:spcAft>
                <a:spcPts val="300"/>
              </a:spcAft>
              <a:buNone/>
            </a:pPr>
            <a:r>
              <a:rPr lang="ja-JP" sz="2800" b="0" i="0" dirty="0">
                <a:solidFill>
                  <a:srgbClr val="000000"/>
                </a:solidFill>
                <a:latin typeface="Cambria Math"/>
                <a:ea typeface="Cambria Math"/>
                <a:cs typeface="Cambria Math"/>
              </a:rPr>
              <a:t>ℒ</a:t>
            </a:r>
            <a:r>
              <a:rPr lang="ja-JP" sz="2800" b="0" i="0" baseline="-25000" dirty="0">
                <a:solidFill>
                  <a:srgbClr val="000000"/>
                </a:solidFill>
                <a:latin typeface="Cambria Math"/>
                <a:ea typeface="Cambria Math"/>
                <a:cs typeface="Cambria Math"/>
              </a:rPr>
              <a:t/>
            </a:r>
            <a:r>
              <a:rPr lang="ja-JP" sz="2800" b="0" i="0" dirty="0">
                <a:solidFill>
                  <a:srgbClr val="000000"/>
                </a:solidFill>
                <a:latin typeface="Cambria Math"/>
                <a:ea typeface="Cambria Math"/>
                <a:cs typeface="Cambria Math"/>
              </a:rPr>
              <a:t> = </a:t>
            </a:r>
            <a:r>
              <a:rPr lang="ja-JP" sz="2800" b="0" i="0" dirty="0">
                <a:solidFill>
                  <a:srgbClr val="000000"/>
                </a:solidFill>
                <a:latin typeface="Cambria Math"/>
                <a:ea typeface="Cambria Math"/>
                <a:cs typeface="Cambria Math"/>
              </a:rPr>
              <a:t>ℒ</a:t>
            </a:r>
            <a:r>
              <a:rPr lang="ja-JP" sz="2800" b="0" i="0" baseline="-25000" dirty="0">
                <a:solidFill>
                  <a:srgbClr val="000000"/>
                </a:solidFill>
                <a:latin typeface="Cambria Math"/>
                <a:ea typeface="Cambria Math"/>
                <a:cs typeface="Cambria Math"/>
              </a:rPr>
              <a:t>LM</a:t>
            </a:r>
            <a:r>
              <a:rPr lang="ja-JP" sz="2800" b="0" i="0" dirty="0">
                <a:solidFill>
                  <a:srgbClr val="000000"/>
                </a:solidFill>
                <a:latin typeface="Cambria Math"/>
                <a:ea typeface="Cambria Math"/>
                <a:cs typeface="Cambria Math"/>
              </a:rPr>
              <a:t> + 𝜆</a:t>
            </a:r>
            <a:r>
              <a:rPr lang="ja-JP" sz="2800" b="0" i="0" dirty="0">
                <a:solidFill>
                  <a:srgbClr val="000000"/>
                </a:solidFill>
                <a:latin typeface="Cambria Math"/>
                <a:ea typeface="Cambria Math"/>
                <a:cs typeface="Cambria Math"/>
              </a:rPr>
              <a:t>ℒ</a:t>
            </a:r>
            <a:r>
              <a:rPr lang="ja-JP" sz="2800" b="0" i="0" baseline="-25000" dirty="0">
                <a:solidFill>
                  <a:srgbClr val="000000"/>
                </a:solidFill>
                <a:latin typeface="Cambria Math"/>
                <a:ea typeface="Cambria Math"/>
                <a:cs typeface="Cambria Math"/>
              </a:rPr>
              <a:t>align</a:t>
            </a:r>
            <a:endParaRPr lang="ja-JP" sz="2800" dirty="0"/>
          </a:p>
          <a:p>
            <a:pPr algn="ctr" marL="0" indent="0">
              <a:lnSpc>
                <a:spcPts val="3416"/>
              </a:lnSpc>
              <a:spcBef>
                <a:spcPts val="0"/>
              </a:spcBef>
              <a:spcAft>
                <a:spcPts val="0"/>
              </a:spcAft>
              <a:buNone/>
            </a:pPr>
            <a:r>
              <a:rPr lang="ja-JP" sz="2800" b="0" i="0" dirty="0">
                <a:solidFill>
                  <a:srgbClr val="000000"/>
                </a:solidFill>
                <a:latin typeface="游ゴシック"/>
                <a:ea typeface="游ゴシック"/>
                <a:cs typeface="游ゴシック"/>
              </a:rPr>
              <a:t>整合の強さ </a:t>
            </a:r>
            <a:r>
              <a:rPr lang="ja-JP" sz="2800" b="0" i="0" dirty="0">
                <a:solidFill>
                  <a:srgbClr val="000000"/>
                </a:solidFill>
                <a:latin typeface="Cambria Math"/>
                <a:ea typeface="Cambria Math"/>
                <a:cs typeface="Cambria Math"/>
              </a:rPr>
              <a:t>𝜆 = 0.1</a:t>
            </a:r>
            <a:endParaRPr lang="ja-JP" sz="2800" dirty="0"/>
          </a:p>
        </p:txBody>
      </p:sp>
      <p:sp>
        <p:nvSpPr>
          <p:cNvPr id="96" name="Callout 96"/>
          <p:cNvSpPr/>
          <p:nvPr/>
        </p:nvSpPr>
        <p:spPr>
          <a:xfrm>
            <a:off x="18036000" y="14724000"/>
            <a:ext cx="9720000" cy="2196000"/>
          </a:xfrm>
          <a:prstGeom prst="roundRect">
            <a:avLst>
              <a:gd name="adj" fmla="val 6000"/>
            </a:avLst>
          </a:prstGeom>
          <a:solidFill>
            <a:srgbClr val="FFFFFF"/>
          </a:solidFill>
          <a:ln w="21600">
            <a:solidFill>
              <a:srgbClr val="70AD47"/>
            </a:solidFill>
          </a:ln>
        </p:spPr>
        <p:txBody>
          <a:bodyPr wrap="square" lIns="144000" tIns="144000" rIns="144000" bIns="144000" rtlCol="0" anchor="t">
            <a:noAutofit/>
          </a:bodyPr>
          <a:lstStyle/>
          <a:p>
            <a:pPr algn="l" marL="0" indent="0">
              <a:lnSpc>
                <a:spcPts val="3416"/>
              </a:lnSpc>
              <a:spcBef>
                <a:spcPts val="0"/>
              </a:spcBef>
              <a:spcAft>
                <a:spcPts val="200"/>
              </a:spcAft>
              <a:buNone/>
            </a:pPr>
            <a:r>
              <a:rPr lang="ja-JP" sz="2800" b="1" i="0" dirty="0">
                <a:solidFill>
                  <a:srgbClr val="70AD47"/>
                </a:solidFill>
                <a:latin typeface="游ゴシック"/>
                <a:ea typeface="游ゴシック"/>
                <a:cs typeface="游ゴシック"/>
              </a:rPr>
              <a:t>整合損失 </a:t>
            </a:r>
            <a:r>
              <a:rPr lang="ja-JP" sz="2800" b="1" i="0" dirty="0">
                <a:solidFill>
                  <a:srgbClr val="70AD47"/>
                </a:solidFill>
                <a:latin typeface="Cambria Math"/>
                <a:ea typeface="Cambria Math"/>
                <a:cs typeface="Cambria Math"/>
              </a:rPr>
              <a:t>ℒ</a:t>
            </a:r>
            <a:r>
              <a:rPr lang="ja-JP" sz="2800" b="1" i="0" baseline="-25000" dirty="0">
                <a:solidFill>
                  <a:srgbClr val="70AD47"/>
                </a:solidFill>
                <a:latin typeface="Cambria Math"/>
                <a:ea typeface="Cambria Math"/>
                <a:cs typeface="Cambria Math"/>
              </a:rPr>
              <a:t>align</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同じ署名の </a:t>
            </a:r>
            <a:r>
              <a:rPr lang="ja-JP" sz="2800" b="0" i="0" dirty="0">
                <a:solidFill>
                  <a:srgbClr val="000000"/>
                </a:solidFill>
                <a:latin typeface="Cambria Math"/>
                <a:ea typeface="Cambria Math"/>
                <a:cs typeface="Cambria Math"/>
              </a:rPr>
              <a:t>𝒉</a:t>
            </a:r>
            <a:r>
              <a:rPr lang="ja-JP" sz="2800" b="0" i="0" dirty="0">
                <a:solidFill>
                  <a:srgbClr val="000000"/>
                </a:solidFill>
                <a:latin typeface="游ゴシック"/>
                <a:ea typeface="游ゴシック"/>
                <a:cs typeface="游ゴシック"/>
              </a:rPr>
              <a:t> は近くへ，違う署名の </a:t>
            </a:r>
            <a:r>
              <a:rPr lang="ja-JP" sz="2800" b="0" i="0" dirty="0">
                <a:solidFill>
                  <a:srgbClr val="000000"/>
                </a:solidFill>
                <a:latin typeface="Cambria Math"/>
                <a:ea typeface="Cambria Math"/>
                <a:cs typeface="Cambria Math"/>
              </a:rPr>
              <a:t>𝒉</a:t>
            </a:r>
            <a:r>
              <a:rPr lang="ja-JP" sz="2800" b="0" i="0" dirty="0">
                <a:solidFill>
                  <a:srgbClr val="000000"/>
                </a:solidFill>
                <a:latin typeface="游ゴシック"/>
                <a:ea typeface="游ゴシック"/>
                <a:cs typeface="游ゴシック"/>
              </a:rPr>
              <a:t> は遠くへ</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supervised contrastive loss[3]</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1バッチは16署名 × 2問</a:t>
            </a:r>
            <a:endParaRPr lang="ja-JP" sz="2800" dirty="0"/>
          </a:p>
        </p:txBody>
      </p:sp>
      <p:cxnSp>
        <p:nvCxnSpPr>
          <p:cNvPr id="97" name="Arrow 97"/>
          <p:cNvCxnSpPr/>
          <p:nvPr/>
        </p:nvCxnSpPr>
        <p:spPr>
          <a:xfrm flipV="1">
            <a:off x="24480000" y="14418000"/>
            <a:ext cx="0" cy="288000"/>
          </a:xfrm>
          <a:prstGeom prst="straightConnector1">
            <a:avLst/>
          </a:prstGeom>
          <a:ln w="28800">
            <a:solidFill>
              <a:srgbClr val="70AD47"/>
            </a:solidFill>
            <a:tailEnd type="triangle" w="med" len="med"/>
          </a:ln>
        </p:spPr>
      </p:cxnSp>
      <p:sp>
        <p:nvSpPr>
          <p:cNvPr id="98" name="Callout 98"/>
          <p:cNvSpPr/>
          <p:nvPr/>
        </p:nvSpPr>
        <p:spPr>
          <a:xfrm>
            <a:off x="28044000" y="14724000"/>
            <a:ext cx="6156000" cy="2196000"/>
          </a:xfrm>
          <a:prstGeom prst="roundRect">
            <a:avLst>
              <a:gd name="adj" fmla="val 6000"/>
            </a:avLst>
          </a:prstGeom>
          <a:solidFill>
            <a:srgbClr val="FFFFFF"/>
          </a:solidFill>
          <a:ln w="21600">
            <a:solidFill>
              <a:srgbClr val="70AD47"/>
            </a:solidFill>
          </a:ln>
        </p:spPr>
        <p:txBody>
          <a:bodyPr wrap="square" lIns="144000" tIns="144000" rIns="144000" bIns="144000" rtlCol="0" anchor="t">
            <a:noAutofit/>
          </a:bodyPr>
          <a:lstStyle/>
          <a:p>
            <a:pPr algn="l" marL="0" indent="0">
              <a:lnSpc>
                <a:spcPts val="3416"/>
              </a:lnSpc>
              <a:spcBef>
                <a:spcPts val="0"/>
              </a:spcBef>
              <a:spcAft>
                <a:spcPts val="200"/>
              </a:spcAft>
              <a:buNone/>
            </a:pPr>
            <a:r>
              <a:rPr lang="ja-JP" sz="2800" b="1" i="0" dirty="0">
                <a:solidFill>
                  <a:srgbClr val="70AD47"/>
                </a:solidFill>
                <a:latin typeface="游ゴシック"/>
                <a:ea typeface="游ゴシック"/>
                <a:cs typeface="游ゴシック"/>
              </a:rPr>
              <a:t>言語モデル損失 </a:t>
            </a:r>
            <a:r>
              <a:rPr lang="ja-JP" sz="2800" b="1" i="0" dirty="0">
                <a:solidFill>
                  <a:srgbClr val="70AD47"/>
                </a:solidFill>
                <a:latin typeface="Cambria Math"/>
                <a:ea typeface="Cambria Math"/>
                <a:cs typeface="Cambria Math"/>
              </a:rPr>
              <a:t>ℒ</a:t>
            </a:r>
            <a:r>
              <a:rPr lang="ja-JP" sz="2800" b="1" i="0" baseline="-25000" dirty="0">
                <a:solidFill>
                  <a:srgbClr val="70AD47"/>
                </a:solidFill>
                <a:latin typeface="Cambria Math"/>
                <a:ea typeface="Cambria Math"/>
                <a:cs typeface="Cambria Math"/>
              </a:rPr>
              <a:t>LM</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答えのトークンだけに掛かる，通常の学習の損失</a:t>
            </a:r>
            <a:endParaRPr lang="ja-JP" sz="2800" dirty="0"/>
          </a:p>
        </p:txBody>
      </p:sp>
      <p:cxnSp>
        <p:nvCxnSpPr>
          <p:cNvPr id="99" name="Arrow 99"/>
          <p:cNvCxnSpPr/>
          <p:nvPr/>
        </p:nvCxnSpPr>
        <p:spPr>
          <a:xfrm flipV="1">
            <a:off x="30420000" y="12978000"/>
            <a:ext cx="0" cy="1728000"/>
          </a:xfrm>
          <a:prstGeom prst="straightConnector1">
            <a:avLst/>
          </a:prstGeom>
          <a:ln w="28800">
            <a:solidFill>
              <a:srgbClr val="70AD47"/>
            </a:solidFill>
            <a:tailEnd type="triangle" w="med" len="med"/>
          </a:ln>
        </p:spPr>
      </p:cxnSp>
      <p:sp>
        <p:nvSpPr>
          <p:cNvPr id="100" name="Section 100"/>
          <p:cNvSpPr/>
          <p:nvPr/>
        </p:nvSpPr>
        <p:spPr>
          <a:xfrm>
            <a:off x="34704000" y="4680000"/>
            <a:ext cx="7380000" cy="684000"/>
          </a:xfrm>
          <a:prstGeom prst="rect">
            <a:avLst/>
          </a:prstGeom>
          <a:solidFill>
            <a:srgbClr val="70AD47"/>
          </a:solidFill>
          <a:ln>
            <a:noFill/>
          </a:ln>
        </p:spPr>
        <p:txBody>
          <a:bodyPr wrap="square" lIns="180000" tIns="180000" rIns="180000" bIns="180000" rtlCol="0" anchor="ctr">
            <a:noAutofit/>
          </a:bodyPr>
          <a:lstStyle/>
          <a:p>
            <a:pPr algn="l" marL="0" indent="0">
              <a:lnSpc>
                <a:spcPts val="4400"/>
              </a:lnSpc>
              <a:spcBef>
                <a:spcPts val="0"/>
              </a:spcBef>
              <a:spcAft>
                <a:spcPts val="0"/>
              </a:spcAft>
              <a:buNone/>
            </a:pPr>
            <a:r>
              <a:rPr lang="ja-JP" sz="4000" b="1" i="0" dirty="0">
                <a:solidFill>
                  <a:srgbClr val="FFFFFF"/>
                </a:solidFill>
                <a:latin typeface="游ゴシック"/>
                <a:ea typeface="游ゴシック"/>
                <a:cs typeface="游ゴシック"/>
              </a:rPr>
              <a:t>3．実験設定</a:t>
            </a:r>
            <a:endParaRPr lang="ja-JP" sz="4000" dirty="0"/>
          </a:p>
        </p:txBody>
      </p:sp>
      <p:sp>
        <p:nvSpPr>
          <p:cNvPr id="101" name="TextBox 101"/>
          <p:cNvSpPr txBox="1"/>
          <p:nvPr/>
        </p:nvSpPr>
        <p:spPr>
          <a:xfrm>
            <a:off x="34704000" y="5616000"/>
            <a:ext cx="7380000" cy="2520000"/>
          </a:xfrm>
          <a:prstGeom prst="rect">
            <a:avLst/>
          </a:prstGeom>
          <a:noFill/>
          <a:ln>
            <a:noFill/>
          </a:ln>
        </p:spPr>
        <p:txBody>
          <a:bodyPr wrap="square" lIns="0" tIns="0" rIns="0" bIns="0" rtlCol="0" anchor="t">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モデル</a:t>
            </a:r>
            <a:endParaRPr lang="ja-JP" sz="2800" dirty="0"/>
          </a:p>
          <a:p>
            <a:pPr algn="l" marL="0" indent="0">
              <a:lnSpc>
                <a:spcPts val="3416"/>
              </a:lnSpc>
              <a:spcBef>
                <a:spcPts val="0"/>
              </a:spcBef>
              <a:spcAft>
                <a:spcPts val="1000"/>
              </a:spcAft>
              <a:buNone/>
            </a:pPr>
            <a:r>
              <a:rPr lang="ja-JP" sz="2800" b="0" i="0" dirty="0">
                <a:solidFill>
                  <a:srgbClr val="000000"/>
                </a:solidFill>
                <a:latin typeface="游ゴシック"/>
                <a:ea typeface="游ゴシック"/>
                <a:cs typeface="游ゴシック"/>
              </a:rPr>
              <a:t>SmolVLM-500M-Instruct[4]</a:t>
            </a:r>
            <a:endParaRPr lang="ja-JP" sz="2800" dirty="0"/>
          </a:p>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学習</a:t>
            </a:r>
            <a:endParaRPr lang="ja-JP" sz="2800" dirty="0"/>
          </a:p>
          <a:p>
            <a:pPr algn="l" marL="0" indent="0">
              <a:lnSpc>
                <a:spcPts val="3416"/>
              </a:lnSpc>
              <a:spcBef>
                <a:spcPts val="0"/>
              </a:spcBef>
              <a:spcAft>
                <a:spcPts val="1000"/>
              </a:spcAft>
              <a:buNone/>
            </a:pPr>
            <a:r>
              <a:rPr lang="ja-JP" sz="2800" b="0" i="0" dirty="0">
                <a:solidFill>
                  <a:srgbClr val="000000"/>
                </a:solidFill>
                <a:latin typeface="游ゴシック"/>
                <a:ea typeface="游ゴシック"/>
                <a:cs typeface="游ゴシック"/>
              </a:rPr>
              <a:t>GQA[2] 942,116問，1エポック</a:t>
            </a:r>
            <a:endParaRPr lang="ja-JP" sz="2800" dirty="0"/>
          </a:p>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評価</a:t>
            </a:r>
            <a:endParaRPr lang="ja-JP" sz="2800" dirty="0"/>
          </a:p>
          <a:p>
            <a:pPr algn="l" marL="0" indent="0">
              <a:lnSpc>
                <a:spcPts val="3416"/>
              </a:lnSpc>
              <a:spcBef>
                <a:spcPts val="0"/>
              </a:spcBef>
              <a:spcAft>
                <a:spcPts val="0"/>
              </a:spcAft>
              <a:buNone/>
            </a:pPr>
            <a:r>
              <a:rPr lang="ja-JP" sz="2800" b="0" i="0" dirty="0">
                <a:solidFill>
                  <a:srgbClr val="000000"/>
                </a:solidFill>
                <a:latin typeface="游ゴシック"/>
                <a:ea typeface="游ゴシック"/>
                <a:cs typeface="游ゴシック"/>
              </a:rPr>
              <a:t>12,578問（学習に不使用）</a:t>
            </a:r>
            <a:endParaRPr lang="ja-JP" sz="2800" dirty="0"/>
          </a:p>
        </p:txBody>
      </p:sp>
      <p:graphicFrame>
        <p:nvGraphicFramePr>
          <p:cNvPr id="102" name="Table 102"/>
          <p:cNvGraphicFramePr>
            <a:graphicFrameLocks noGrp="1"/>
          </p:cNvGraphicFramePr>
          <p:nvPr/>
        </p:nvGraphicFramePr>
        <p:xfrm>
          <a:off x="34704000" y="9144000"/>
          <a:ext cx="7380000" cy="2304000"/>
        </p:xfrm>
        <a:graphic>
          <a:graphicData uri="http://schemas.openxmlformats.org/drawingml/2006/table">
            <a:tbl>
              <a:tblPr firstRow="1" bandRow="1">
                <a:tableStyleId>{5C22544A-7EE6-4342-B048-85BDC9FD1C3A}</a:tableStyleId>
              </a:tblPr>
              <a:tblGrid>
                <a:gridCol w="2304000"/>
                <a:gridCol w="5076000"/>
              </a:tblGrid>
              <a:tr h="576000">
                <a:tc>
                  <a:txBody>
                    <a:bodyPr/>
                    <a:lstStyle/>
                    <a:p>
                      <a:pPr algn="ctr" marL="0" indent="0">
                        <a:lnSpc>
                          <a:spcPts val="3416"/>
                        </a:lnSpc>
                        <a:spcBef>
                          <a:spcPts val="0"/>
                        </a:spcBef>
                        <a:spcAft>
                          <a:spcPts val="0"/>
                        </a:spcAft>
                        <a:buNone/>
                      </a:pPr>
                      <a:r>
                        <a:rPr lang="ja-JP" sz="2800" b="1" i="0" dirty="0">
                          <a:solidFill>
                            <a:srgbClr val="FFFFFF"/>
                          </a:solidFill>
                          <a:latin typeface="游ゴシック"/>
                          <a:ea typeface="游ゴシック"/>
                          <a:cs typeface="游ゴシック"/>
                        </a:rPr>
                        <a:t>群</a:t>
                      </a:r>
                      <a:endParaRPr lang="ja-JP" sz="2800" dirty="0"/>
                    </a:p>
                  </a:txBody>
                  <a:tcPr marL="90000" marR="90000" marT="28800" marB="28800" anchor="ctr">
                    <a:solidFill>
                      <a:srgbClr val="70AD47"/>
                    </a:solidFill>
                  </a:tcPr>
                </a:tc>
                <a:tc>
                  <a:txBody>
                    <a:bodyPr/>
                    <a:lstStyle/>
                    <a:p>
                      <a:pPr algn="ctr" marL="0" indent="0">
                        <a:lnSpc>
                          <a:spcPts val="3416"/>
                        </a:lnSpc>
                        <a:spcBef>
                          <a:spcPts val="0"/>
                        </a:spcBef>
                        <a:spcAft>
                          <a:spcPts val="0"/>
                        </a:spcAft>
                        <a:buNone/>
                      </a:pPr>
                      <a:r>
                        <a:rPr lang="ja-JP" sz="2800" b="1" i="0" dirty="0">
                          <a:solidFill>
                            <a:srgbClr val="FFFFFF"/>
                          </a:solidFill>
                          <a:latin typeface="游ゴシック"/>
                          <a:ea typeface="游ゴシック"/>
                          <a:cs typeface="游ゴシック"/>
                        </a:rPr>
                        <a:t>整合のラベル</a:t>
                      </a:r>
                      <a:endParaRPr lang="ja-JP" sz="2800" dirty="0"/>
                    </a:p>
                  </a:txBody>
                  <a:tcPr marL="90000" marR="90000" marT="28800" marB="28800" anchor="ctr">
                    <a:solidFill>
                      <a:srgbClr val="70AD47"/>
                    </a:solidFill>
                  </a:tcPr>
                </a:tc>
              </a:tr>
              <a:tr h="576000">
                <a:tc>
                  <a:txBody>
                    <a:bodyPr/>
                    <a:lstStyle/>
                    <a:p>
                      <a:pPr algn="ctr" marL="0" indent="0">
                        <a:lnSpc>
                          <a:spcPts val="3416"/>
                        </a:lnSpc>
                        <a:spcBef>
                          <a:spcPts val="0"/>
                        </a:spcBef>
                        <a:spcAft>
                          <a:spcPts val="0"/>
                        </a:spcAft>
                        <a:buNone/>
                      </a:pPr>
                      <a:r>
                        <a:rPr lang="ja-JP" sz="2800" b="0" i="0" dirty="0">
                          <a:solidFill>
                            <a:srgbClr val="000000"/>
                          </a:solidFill>
                          <a:latin typeface="游ゴシック"/>
                          <a:ea typeface="游ゴシック"/>
                          <a:cs typeface="游ゴシック"/>
                        </a:rPr>
                        <a:t>baseline</a:t>
                      </a:r>
                      <a:endParaRPr lang="ja-JP" sz="2800" dirty="0"/>
                    </a:p>
                  </a:txBody>
                  <a:tcPr marL="90000" marR="90000" marT="28800" marB="28800" anchor="ctr">
                    <a:solidFill>
                      <a:srgbClr val="EBF1E9"/>
                    </a:solidFill>
                  </a:tcPr>
                </a:tc>
                <a:tc>
                  <a:txBody>
                    <a:bodyPr/>
                    <a:lstStyle/>
                    <a:p>
                      <a:pPr algn="ctr" marL="0" indent="0">
                        <a:lnSpc>
                          <a:spcPts val="3416"/>
                        </a:lnSpc>
                        <a:spcBef>
                          <a:spcPts val="0"/>
                        </a:spcBef>
                        <a:spcAft>
                          <a:spcPts val="0"/>
                        </a:spcAft>
                        <a:buNone/>
                      </a:pPr>
                      <a:r>
                        <a:rPr lang="ja-JP" sz="2800" b="0" i="0" dirty="0">
                          <a:solidFill>
                            <a:srgbClr val="000000"/>
                          </a:solidFill>
                          <a:latin typeface="游ゴシック"/>
                          <a:ea typeface="游ゴシック"/>
                          <a:cs typeface="游ゴシック"/>
                        </a:rPr>
                        <a:t>整合なし</a:t>
                      </a:r>
                      <a:endParaRPr lang="ja-JP" sz="2800" dirty="0"/>
                    </a:p>
                  </a:txBody>
                  <a:tcPr marL="90000" marR="90000" marT="28800" marB="28800" anchor="ctr">
                    <a:solidFill>
                      <a:srgbClr val="EBF1E9"/>
                    </a:solidFill>
                  </a:tcPr>
                </a:tc>
              </a:tr>
              <a:tr h="576000">
                <a:tc>
                  <a:txBody>
                    <a:bodyPr/>
                    <a:lstStyle/>
                    <a:p>
                      <a:pPr algn="ctr" marL="0" indent="0">
                        <a:lnSpc>
                          <a:spcPts val="3416"/>
                        </a:lnSpc>
                        <a:spcBef>
                          <a:spcPts val="0"/>
                        </a:spcBef>
                        <a:spcAft>
                          <a:spcPts val="0"/>
                        </a:spcAft>
                        <a:buNone/>
                      </a:pPr>
                      <a:r>
                        <a:rPr lang="ja-JP" sz="2800" b="1" i="0" dirty="0">
                          <a:solidFill>
                            <a:srgbClr val="000000"/>
                          </a:solidFill>
                          <a:latin typeface="游ゴシック"/>
                          <a:ea typeface="游ゴシック"/>
                          <a:cs typeface="游ゴシック"/>
                        </a:rPr>
                        <a:t>proposal</a:t>
                      </a:r>
                      <a:endParaRPr lang="ja-JP" sz="2800" dirty="0"/>
                    </a:p>
                  </a:txBody>
                  <a:tcPr marL="90000" marR="90000" marT="28800" marB="28800" anchor="ctr">
                    <a:solidFill>
                      <a:srgbClr val="D5E3CF"/>
                    </a:solidFill>
                  </a:tcPr>
                </a:tc>
                <a:tc>
                  <a:txBody>
                    <a:bodyPr/>
                    <a:lstStyle/>
                    <a:p>
                      <a:pPr algn="ctr" marL="0" indent="0">
                        <a:lnSpc>
                          <a:spcPts val="3416"/>
                        </a:lnSpc>
                        <a:spcBef>
                          <a:spcPts val="0"/>
                        </a:spcBef>
                        <a:spcAft>
                          <a:spcPts val="0"/>
                        </a:spcAft>
                        <a:buNone/>
                      </a:pPr>
                      <a:r>
                        <a:rPr lang="ja-JP" sz="2800" b="1" i="0" dirty="0">
                          <a:solidFill>
                            <a:srgbClr val="000000"/>
                          </a:solidFill>
                          <a:latin typeface="游ゴシック"/>
                          <a:ea typeface="游ゴシック"/>
                          <a:cs typeface="游ゴシック"/>
                        </a:rPr>
                        <a:t>署名</a:t>
                      </a:r>
                      <a:endParaRPr lang="ja-JP" sz="2800" dirty="0"/>
                    </a:p>
                  </a:txBody>
                  <a:tcPr marL="90000" marR="90000" marT="28800" marB="28800" anchor="ctr">
                    <a:solidFill>
                      <a:srgbClr val="D5E3CF"/>
                    </a:solidFill>
                  </a:tcPr>
                </a:tc>
              </a:tr>
              <a:tr h="576000">
                <a:tc>
                  <a:txBody>
                    <a:bodyPr/>
                    <a:lstStyle/>
                    <a:p>
                      <a:pPr algn="ctr" marL="0" indent="0">
                        <a:lnSpc>
                          <a:spcPts val="3416"/>
                        </a:lnSpc>
                        <a:spcBef>
                          <a:spcPts val="0"/>
                        </a:spcBef>
                        <a:spcAft>
                          <a:spcPts val="0"/>
                        </a:spcAft>
                        <a:buNone/>
                      </a:pPr>
                      <a:r>
                        <a:rPr lang="ja-JP" sz="2800" b="0" i="0" dirty="0">
                          <a:solidFill>
                            <a:srgbClr val="000000"/>
                          </a:solidFill>
                          <a:latin typeface="游ゴシック"/>
                          <a:ea typeface="游ゴシック"/>
                          <a:cs typeface="游ゴシック"/>
                        </a:rPr>
                        <a:t>ablation</a:t>
                      </a:r>
                      <a:endParaRPr lang="ja-JP" sz="2800" dirty="0"/>
                    </a:p>
                  </a:txBody>
                  <a:tcPr marL="90000" marR="90000" marT="28800" marB="28800" anchor="ctr">
                    <a:solidFill>
                      <a:srgbClr val="EBF1E9"/>
                    </a:solidFill>
                  </a:tcPr>
                </a:tc>
                <a:tc>
                  <a:txBody>
                    <a:bodyPr/>
                    <a:lstStyle/>
                    <a:p>
                      <a:pPr algn="ctr" marL="0" indent="0">
                        <a:lnSpc>
                          <a:spcPts val="3416"/>
                        </a:lnSpc>
                        <a:spcBef>
                          <a:spcPts val="0"/>
                        </a:spcBef>
                        <a:spcAft>
                          <a:spcPts val="0"/>
                        </a:spcAft>
                        <a:buNone/>
                      </a:pPr>
                      <a:r>
                        <a:rPr lang="ja-JP" sz="2800" b="0" i="0" dirty="0">
                          <a:solidFill>
                            <a:srgbClr val="000000"/>
                          </a:solidFill>
                          <a:latin typeface="游ゴシック"/>
                          <a:ea typeface="游ゴシック"/>
                          <a:cs typeface="游ゴシック"/>
                        </a:rPr>
                        <a:t>署名を並べ替え</a:t>
                      </a:r>
                      <a:endParaRPr lang="ja-JP" sz="2800" dirty="0"/>
                    </a:p>
                  </a:txBody>
                  <a:tcPr marL="90000" marR="90000" marT="28800" marB="28800" anchor="ctr">
                    <a:solidFill>
                      <a:srgbClr val="EBF1E9"/>
                    </a:solidFill>
                  </a:tcPr>
                </a:tc>
              </a:tr>
            </a:tbl>
          </a:graphicData>
        </a:graphic>
      </p:graphicFrame>
      <p:sp>
        <p:nvSpPr>
          <p:cNvPr id="103" name="TextBox 103"/>
          <p:cNvSpPr txBox="1"/>
          <p:nvPr/>
        </p:nvSpPr>
        <p:spPr>
          <a:xfrm>
            <a:off x="34704000" y="12024000"/>
            <a:ext cx="7380000" cy="4896000"/>
          </a:xfrm>
          <a:prstGeom prst="rect">
            <a:avLst/>
          </a:prstGeom>
          <a:noFill/>
          <a:ln>
            <a:noFill/>
          </a:ln>
        </p:spPr>
        <p:txBody>
          <a:bodyPr wrap="square" lIns="0" tIns="0" rIns="0" bIns="0" rtlCol="0" anchor="t">
            <a:noAutofit/>
          </a:bodyPr>
          <a:lstStyle/>
          <a:p>
            <a:pPr algn="l" marL="373380" indent="-373380">
              <a:lnSpc>
                <a:spcPts val="3416"/>
              </a:lnSpc>
              <a:spcBef>
                <a:spcPts val="0"/>
              </a:spcBef>
              <a:spcAft>
                <a:spcPts val="1400"/>
              </a:spcAft>
              <a:buFont typeface="Arial"/>
              <a:buChar char="•"/>
            </a:pPr>
            <a:r>
              <a:rPr lang="ja-JP" sz="2800" b="0" i="0" dirty="0">
                <a:solidFill>
                  <a:srgbClr val="000000"/>
                </a:solidFill>
                <a:latin typeface="游ゴシック"/>
                <a:ea typeface="游ゴシック"/>
                <a:cs typeface="游ゴシック"/>
              </a:rPr>
              <a:t>ablation：バッチ内でラベルを並べ替え，意味だけを除いた対照</a:t>
            </a:r>
            <a:endParaRPr lang="ja-JP" sz="2800" dirty="0"/>
          </a:p>
          <a:p>
            <a:pPr algn="l" marL="373380" indent="-373380">
              <a:lnSpc>
                <a:spcPts val="3416"/>
              </a:lnSpc>
              <a:spcBef>
                <a:spcPts val="0"/>
              </a:spcBef>
              <a:spcAft>
                <a:spcPts val="1400"/>
              </a:spcAft>
              <a:buFont typeface="Arial"/>
              <a:buChar char="•"/>
            </a:pPr>
            <a:r>
              <a:rPr lang="ja-JP" sz="2800" b="0" i="0" dirty="0">
                <a:solidFill>
                  <a:srgbClr val="000000"/>
                </a:solidFill>
                <a:latin typeface="游ゴシック"/>
                <a:ea typeface="游ゴシック"/>
                <a:cs typeface="游ゴシック"/>
              </a:rPr>
              <a:t>baseline とも ablation とも違えば，署名ラベルの効果</a:t>
            </a:r>
            <a:endParaRPr lang="ja-JP" sz="2800" dirty="0"/>
          </a:p>
          <a:p>
            <a:pPr algn="l" marL="373380" indent="-373380">
              <a:lnSpc>
                <a:spcPts val="3416"/>
              </a:lnSpc>
              <a:spcBef>
                <a:spcPts val="0"/>
              </a:spcBef>
              <a:spcAft>
                <a:spcPts val="1400"/>
              </a:spcAft>
              <a:buFont typeface="Arial"/>
              <a:buChar char="•"/>
            </a:pPr>
            <a:r>
              <a:rPr lang="ja-JP" sz="2800" b="0" i="0" dirty="0">
                <a:solidFill>
                  <a:srgbClr val="000000"/>
                </a:solidFill>
                <a:latin typeface="游ゴシック"/>
                <a:ea typeface="游ゴシック"/>
                <a:cs typeface="游ゴシック"/>
              </a:rPr>
              <a:t>3群 × 3乱数種 = 9回学習．値は平均</a:t>
            </a:r>
            <a:endParaRPr lang="ja-JP" sz="2800" dirty="0"/>
          </a:p>
          <a:p>
            <a:pPr algn="l" marL="373380" indent="-373380">
              <a:lnSpc>
                <a:spcPts val="3416"/>
              </a:lnSpc>
              <a:spcBef>
                <a:spcPts val="0"/>
              </a:spcBef>
              <a:spcAft>
                <a:spcPts val="0"/>
              </a:spcAft>
              <a:buFont typeface="Arial"/>
              <a:buChar char="•"/>
            </a:pPr>
            <a:r>
              <a:rPr lang="ja-JP" sz="2800" b="0" i="0" dirty="0">
                <a:solidFill>
                  <a:srgbClr val="000000"/>
                </a:solidFill>
                <a:latin typeface="游ゴシック"/>
                <a:ea typeface="游ゴシック"/>
                <a:cs typeface="游ゴシック"/>
              </a:rPr>
              <a:t>群の差：乱数種を対にした95%信頼区間</a:t>
            </a:r>
            <a:endParaRPr lang="ja-JP" sz="2800" dirty="0"/>
          </a:p>
        </p:txBody>
      </p:sp>
      <p:sp>
        <p:nvSpPr>
          <p:cNvPr id="104" name="Section 104"/>
          <p:cNvSpPr/>
          <p:nvPr/>
        </p:nvSpPr>
        <p:spPr>
          <a:xfrm>
            <a:off x="720000" y="17424000"/>
            <a:ext cx="21600000" cy="684000"/>
          </a:xfrm>
          <a:prstGeom prst="rect">
            <a:avLst/>
          </a:prstGeom>
          <a:solidFill>
            <a:srgbClr val="70AD47"/>
          </a:solidFill>
          <a:ln>
            <a:noFill/>
          </a:ln>
        </p:spPr>
        <p:txBody>
          <a:bodyPr wrap="square" lIns="180000" tIns="180000" rIns="180000" bIns="180000" rtlCol="0" anchor="ctr">
            <a:noAutofit/>
          </a:bodyPr>
          <a:lstStyle/>
          <a:p>
            <a:pPr algn="l" marL="0" indent="0">
              <a:lnSpc>
                <a:spcPts val="4400"/>
              </a:lnSpc>
              <a:spcBef>
                <a:spcPts val="0"/>
              </a:spcBef>
              <a:spcAft>
                <a:spcPts val="0"/>
              </a:spcAft>
              <a:buNone/>
            </a:pPr>
            <a:r>
              <a:rPr lang="ja-JP" sz="4000" b="1" i="0" dirty="0">
                <a:solidFill>
                  <a:srgbClr val="FFFFFF"/>
                </a:solidFill>
                <a:latin typeface="游ゴシック"/>
                <a:ea typeface="游ゴシック"/>
                <a:cs typeface="游ゴシック"/>
              </a:rPr>
              <a:t>4．結果</a:t>
            </a:r>
            <a:endParaRPr lang="ja-JP" sz="4000" dirty="0"/>
          </a:p>
        </p:txBody>
      </p:sp>
      <p:sp>
        <p:nvSpPr>
          <p:cNvPr id="105" name="TextBox 105"/>
          <p:cNvSpPr txBox="1"/>
          <p:nvPr/>
        </p:nvSpPr>
        <p:spPr>
          <a:xfrm>
            <a:off x="720000" y="18288000"/>
            <a:ext cx="6912000" cy="1080000"/>
          </a:xfrm>
          <a:prstGeom prst="rect">
            <a:avLst/>
          </a:prstGeom>
          <a:noFill/>
          <a:ln>
            <a:noFill/>
          </a:ln>
        </p:spPr>
        <p:txBody>
          <a:bodyPr wrap="square" lIns="0" tIns="0" rIns="0" bIns="0" rtlCol="0" anchor="t">
            <a:noAutofit/>
          </a:bodyPr>
          <a:lstStyle/>
          <a:p>
            <a:pPr algn="l" marL="0" indent="0">
              <a:lnSpc>
                <a:spcPts val="3909"/>
              </a:lnSpc>
              <a:spcBef>
                <a:spcPts val="0"/>
              </a:spcBef>
              <a:spcAft>
                <a:spcPts val="0"/>
              </a:spcAft>
              <a:buNone/>
            </a:pPr>
            <a:r>
              <a:rPr lang="ja-JP" sz="3400" b="1" i="0" dirty="0">
                <a:solidFill>
                  <a:srgbClr val="000000"/>
                </a:solidFill>
                <a:latin typeface="游ゴシック"/>
                <a:ea typeface="游ゴシック"/>
                <a:cs typeface="游ゴシック"/>
              </a:rPr>
              <a:t>① 解き方が，内部表現から</a:t>
            </a:r>
            <a:endParaRPr lang="ja-JP" sz="3400" dirty="0"/>
          </a:p>
          <a:p>
            <a:pPr algn="l" marL="0" indent="0">
              <a:lnSpc>
                <a:spcPts val="3909"/>
              </a:lnSpc>
              <a:spcBef>
                <a:spcPts val="0"/>
              </a:spcBef>
              <a:spcAft>
                <a:spcPts val="0"/>
              </a:spcAft>
              <a:buNone/>
            </a:pPr>
            <a:r>
              <a:rPr lang="ja-JP" sz="3400" b="1" i="0" dirty="0">
                <a:solidFill>
                  <a:srgbClr val="000000"/>
                </a:solidFill>
                <a:latin typeface="游ゴシック"/>
                <a:ea typeface="游ゴシック"/>
                <a:cs typeface="游ゴシック"/>
              </a:rPr>
              <a:t>読み取れる形になる</a:t>
            </a:r>
            <a:endParaRPr lang="ja-JP" sz="3400" dirty="0"/>
          </a:p>
        </p:txBody>
      </p:sp>
      <p:sp>
        <p:nvSpPr>
          <p:cNvPr id="106" name="TextBox 106"/>
          <p:cNvSpPr txBox="1"/>
          <p:nvPr/>
        </p:nvSpPr>
        <p:spPr>
          <a:xfrm>
            <a:off x="720000" y="19440000"/>
            <a:ext cx="6912000" cy="1008000"/>
          </a:xfrm>
          <a:prstGeom prst="rect">
            <a:avLst/>
          </a:prstGeom>
          <a:noFill/>
          <a:ln>
            <a:noFill/>
          </a:ln>
        </p:spPr>
        <p:txBody>
          <a:bodyPr wrap="square" lIns="0" tIns="0" rIns="0" bIns="0" rtlCol="0" anchor="t">
            <a:noAutofit/>
          </a:bodyPr>
          <a:lstStyle/>
          <a:p>
            <a:pPr algn="l" marL="0" indent="0">
              <a:lnSpc>
                <a:spcPts val="2530"/>
              </a:lnSpc>
              <a:spcBef>
                <a:spcPts val="0"/>
              </a:spcBef>
              <a:spcAft>
                <a:spcPts val="0"/>
              </a:spcAft>
              <a:buNone/>
            </a:pPr>
            <a:r>
              <a:rPr lang="ja-JP" sz="2200" b="1" i="0" dirty="0">
                <a:solidFill>
                  <a:srgbClr val="000000"/>
                </a:solidFill>
                <a:latin typeface="游ゴシック"/>
                <a:ea typeface="游ゴシック"/>
                <a:cs typeface="游ゴシック"/>
              </a:rPr>
              <a:t>読み取り精度</a:t>
            </a:r>
            <a:endParaRPr lang="ja-JP" sz="2200" dirty="0"/>
          </a:p>
          <a:p>
            <a:pPr algn="l" marL="0" indent="0">
              <a:lnSpc>
                <a:spcPts val="2530"/>
              </a:lnSpc>
              <a:spcBef>
                <a:spcPts val="0"/>
              </a:spcBef>
              <a:spcAft>
                <a:spcPts val="0"/>
              </a:spcAft>
              <a:buNone/>
            </a:pPr>
            <a:r>
              <a:rPr lang="ja-JP" sz="2200" b="0" i="0" dirty="0">
                <a:solidFill>
                  <a:srgbClr val="000000"/>
                </a:solidFill>
                <a:latin typeface="Cambria Math"/>
                <a:ea typeface="Cambria Math"/>
                <a:cs typeface="Cambria Math"/>
              </a:rPr>
              <a:t>𝒉</a:t>
            </a:r>
            <a:r>
              <a:rPr lang="ja-JP" sz="2200" b="0" i="0" dirty="0">
                <a:solidFill>
                  <a:srgbClr val="000000"/>
                </a:solidFill>
                <a:latin typeface="游ゴシック"/>
                <a:ea typeface="游ゴシック"/>
                <a:cs typeface="游ゴシック"/>
              </a:rPr>
              <a:t> から署名を当てる線形分類器の正解率</a:t>
            </a:r>
            <a:endParaRPr lang="ja-JP" sz="2200" dirty="0"/>
          </a:p>
        </p:txBody>
      </p:sp>
      <p:graphicFrame>
        <p:nvGraphicFramePr>
          <p:cNvPr id="107" name="Chart 1"/>
          <p:cNvGraphicFramePr/>
          <p:nvPr/>
        </p:nvGraphicFramePr>
        <p:xfrm>
          <a:off x="720000" y="20484000"/>
          <a:ext cx="6912000" cy="4536000"/>
        </p:xfrm>
        <a:graphic>
          <a:graphicData uri="http://schemas.openxmlformats.org/drawingml/2006/chart">
            <c:chart xmlns:c="http://schemas.openxmlformats.org/drawingml/2006/chart" r:id="rId20"/>
          </a:graphicData>
        </a:graphic>
      </p:graphicFrame>
      <p:sp>
        <p:nvSpPr>
          <p:cNvPr id="108" name="TextBox 108"/>
          <p:cNvSpPr txBox="1"/>
          <p:nvPr/>
        </p:nvSpPr>
        <p:spPr>
          <a:xfrm>
            <a:off x="720000" y="25128000"/>
            <a:ext cx="6912000" cy="1944000"/>
          </a:xfrm>
          <a:prstGeom prst="rect">
            <a:avLst/>
          </a:prstGeom>
          <a:noFill/>
          <a:ln>
            <a:noFill/>
          </a:ln>
        </p:spPr>
        <p:txBody>
          <a:bodyPr wrap="square" lIns="0" tIns="0" rIns="0" bIns="0" rtlCol="0" anchor="t">
            <a:noAutofit/>
          </a:bodyPr>
          <a:lstStyle/>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ablation：上昇なし</a:t>
            </a:r>
            <a:endParaRPr lang="ja-JP" sz="2800" dirty="0"/>
          </a:p>
          <a:p>
            <a:pPr algn="l" marL="0" indent="0">
              <a:lnSpc>
                <a:spcPts val="3416"/>
              </a:lnSpc>
              <a:spcBef>
                <a:spcPts val="0"/>
              </a:spcBef>
              <a:spcAft>
                <a:spcPts val="100"/>
              </a:spcAft>
              <a:buNone/>
            </a:pPr>
            <a:r>
              <a:rPr lang="ja-JP" sz="2800" b="1" i="0" dirty="0">
                <a:solidFill>
                  <a:srgbClr val="000000"/>
                </a:solidFill>
                <a:latin typeface="游ゴシック"/>
                <a:ea typeface="游ゴシック"/>
                <a:cs typeface="游ゴシック"/>
              </a:rPr>
              <a:t>→ 署名ラベルの効果</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質問文の語だけ：69.7%</a:t>
            </a:r>
            <a:endParaRPr lang="ja-JP" sz="2800" dirty="0"/>
          </a:p>
          <a:p>
            <a:pPr algn="l" marL="0" indent="0">
              <a:lnSpc>
                <a:spcPts val="3416"/>
              </a:lnSpc>
              <a:spcBef>
                <a:spcPts val="0"/>
              </a:spcBef>
              <a:spcAft>
                <a:spcPts val="100"/>
              </a:spcAft>
              <a:buNone/>
            </a:pPr>
            <a:r>
              <a:rPr lang="ja-JP" sz="2800" b="1" i="0" dirty="0">
                <a:solidFill>
                  <a:srgbClr val="000000"/>
                </a:solidFill>
                <a:latin typeface="游ゴシック"/>
                <a:ea typeface="游ゴシック"/>
                <a:cs typeface="游ゴシック"/>
              </a:rPr>
              <a:t>→ 質問文の語では説明できない</a:t>
            </a:r>
            <a:endParaRPr lang="ja-JP" sz="2800" dirty="0"/>
          </a:p>
        </p:txBody>
      </p:sp>
      <p:sp>
        <p:nvSpPr>
          <p:cNvPr id="109" name="TextBox 109"/>
          <p:cNvSpPr txBox="1"/>
          <p:nvPr/>
        </p:nvSpPr>
        <p:spPr>
          <a:xfrm>
            <a:off x="8064000" y="18288000"/>
            <a:ext cx="6912000" cy="1080000"/>
          </a:xfrm>
          <a:prstGeom prst="rect">
            <a:avLst/>
          </a:prstGeom>
          <a:noFill/>
          <a:ln>
            <a:noFill/>
          </a:ln>
        </p:spPr>
        <p:txBody>
          <a:bodyPr wrap="square" lIns="0" tIns="0" rIns="0" bIns="0" rtlCol="0" anchor="t">
            <a:noAutofit/>
          </a:bodyPr>
          <a:lstStyle/>
          <a:p>
            <a:pPr algn="l" marL="0" indent="0">
              <a:lnSpc>
                <a:spcPts val="3909"/>
              </a:lnSpc>
              <a:spcBef>
                <a:spcPts val="0"/>
              </a:spcBef>
              <a:spcAft>
                <a:spcPts val="0"/>
              </a:spcAft>
              <a:buNone/>
            </a:pPr>
            <a:r>
              <a:rPr lang="ja-JP" sz="3400" b="1" i="0" dirty="0">
                <a:solidFill>
                  <a:srgbClr val="000000"/>
                </a:solidFill>
                <a:latin typeface="游ゴシック"/>
                <a:ea typeface="游ゴシック"/>
                <a:cs typeface="游ゴシック"/>
              </a:rPr>
              <a:t>② 正解率は，</a:t>
            </a:r>
            <a:endParaRPr lang="ja-JP" sz="3400" dirty="0"/>
          </a:p>
          <a:p>
            <a:pPr algn="l" marL="0" indent="0">
              <a:lnSpc>
                <a:spcPts val="3909"/>
              </a:lnSpc>
              <a:spcBef>
                <a:spcPts val="0"/>
              </a:spcBef>
              <a:spcAft>
                <a:spcPts val="0"/>
              </a:spcAft>
              <a:buNone/>
            </a:pPr>
            <a:r>
              <a:rPr lang="ja-JP" sz="3400" b="1" i="0" dirty="0">
                <a:solidFill>
                  <a:srgbClr val="000000"/>
                </a:solidFill>
                <a:latin typeface="游ゴシック"/>
                <a:ea typeface="游ゴシック"/>
                <a:cs typeface="游ゴシック"/>
              </a:rPr>
              <a:t>ほとんど変わらない</a:t>
            </a:r>
            <a:endParaRPr lang="ja-JP" sz="3400" dirty="0"/>
          </a:p>
        </p:txBody>
      </p:sp>
      <p:sp>
        <p:nvSpPr>
          <p:cNvPr id="110" name="TextBox 110"/>
          <p:cNvSpPr txBox="1"/>
          <p:nvPr/>
        </p:nvSpPr>
        <p:spPr>
          <a:xfrm>
            <a:off x="8064000" y="19440000"/>
            <a:ext cx="6912000" cy="1008000"/>
          </a:xfrm>
          <a:prstGeom prst="rect">
            <a:avLst/>
          </a:prstGeom>
          <a:noFill/>
          <a:ln>
            <a:noFill/>
          </a:ln>
        </p:spPr>
        <p:txBody>
          <a:bodyPr wrap="square" lIns="0" tIns="0" rIns="0" bIns="0" rtlCol="0" anchor="t">
            <a:noAutofit/>
          </a:bodyPr>
          <a:lstStyle/>
          <a:p>
            <a:pPr algn="l" marL="0" indent="0">
              <a:lnSpc>
                <a:spcPts val="2530"/>
              </a:lnSpc>
              <a:spcBef>
                <a:spcPts val="0"/>
              </a:spcBef>
              <a:spcAft>
                <a:spcPts val="0"/>
              </a:spcAft>
              <a:buNone/>
            </a:pPr>
            <a:r>
              <a:rPr lang="ja-JP" sz="2200" b="1" i="0" dirty="0">
                <a:solidFill>
                  <a:srgbClr val="000000"/>
                </a:solidFill>
                <a:latin typeface="游ゴシック"/>
                <a:ea typeface="游ゴシック"/>
                <a:cs typeface="游ゴシック"/>
              </a:rPr>
              <a:t>正解率</a:t>
            </a:r>
            <a:endParaRPr lang="ja-JP" sz="2200" dirty="0"/>
          </a:p>
          <a:p>
            <a:pPr algn="l"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GQA 公式の評価</a:t>
            </a:r>
            <a:endParaRPr lang="ja-JP" sz="2200" dirty="0"/>
          </a:p>
        </p:txBody>
      </p:sp>
      <p:graphicFrame>
        <p:nvGraphicFramePr>
          <p:cNvPr id="111" name="Chart 2"/>
          <p:cNvGraphicFramePr/>
          <p:nvPr/>
        </p:nvGraphicFramePr>
        <p:xfrm>
          <a:off x="8064000" y="20484000"/>
          <a:ext cx="6912000" cy="4536000"/>
        </p:xfrm>
        <a:graphic>
          <a:graphicData uri="http://schemas.openxmlformats.org/drawingml/2006/chart">
            <c:chart xmlns:c="http://schemas.openxmlformats.org/drawingml/2006/chart" r:id="rId23"/>
          </a:graphicData>
        </a:graphic>
      </p:graphicFrame>
      <p:sp>
        <p:nvSpPr>
          <p:cNvPr id="112" name="TextBox 112"/>
          <p:cNvSpPr txBox="1"/>
          <p:nvPr/>
        </p:nvSpPr>
        <p:spPr>
          <a:xfrm>
            <a:off x="8064000" y="25128000"/>
            <a:ext cx="6912000" cy="1944000"/>
          </a:xfrm>
          <a:prstGeom prst="rect">
            <a:avLst/>
          </a:prstGeom>
          <a:noFill/>
          <a:ln>
            <a:noFill/>
          </a:ln>
        </p:spPr>
        <p:txBody>
          <a:bodyPr wrap="square" lIns="0" tIns="0" rIns="0" bIns="0" rtlCol="0" anchor="t">
            <a:noAutofit/>
          </a:bodyPr>
          <a:lstStyle/>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低下：最大でも1.81pt</a:t>
            </a:r>
            <a:endParaRPr lang="ja-JP" sz="2800" dirty="0"/>
          </a:p>
          <a:p>
            <a:pPr algn="l" marL="0" indent="0">
              <a:lnSpc>
                <a:spcPts val="3416"/>
              </a:lnSpc>
              <a:spcBef>
                <a:spcPts val="0"/>
              </a:spcBef>
              <a:spcAft>
                <a:spcPts val="100"/>
              </a:spcAft>
              <a:buNone/>
            </a:pPr>
            <a:r>
              <a:rPr lang="ja-JP" sz="2800" b="1" i="0" dirty="0">
                <a:solidFill>
                  <a:srgbClr val="000000"/>
                </a:solidFill>
                <a:latin typeface="游ゴシック"/>
                <a:ea typeface="游ゴシック"/>
                <a:cs typeface="游ゴシック"/>
              </a:rPr>
              <a:t>→ 正解率をほぼ損なわずに，読み取れる形に</a:t>
            </a:r>
            <a:endParaRPr lang="ja-JP" sz="2800" dirty="0"/>
          </a:p>
        </p:txBody>
      </p:sp>
      <p:sp>
        <p:nvSpPr>
          <p:cNvPr id="113" name="TextBox 113"/>
          <p:cNvSpPr txBox="1"/>
          <p:nvPr/>
        </p:nvSpPr>
        <p:spPr>
          <a:xfrm>
            <a:off x="15408000" y="18288000"/>
            <a:ext cx="6912000" cy="1080000"/>
          </a:xfrm>
          <a:prstGeom prst="rect">
            <a:avLst/>
          </a:prstGeom>
          <a:noFill/>
          <a:ln>
            <a:noFill/>
          </a:ln>
        </p:spPr>
        <p:txBody>
          <a:bodyPr wrap="square" lIns="0" tIns="0" rIns="0" bIns="0" rtlCol="0" anchor="t">
            <a:noAutofit/>
          </a:bodyPr>
          <a:lstStyle/>
          <a:p>
            <a:pPr algn="l" marL="0" indent="0">
              <a:lnSpc>
                <a:spcPts val="3909"/>
              </a:lnSpc>
              <a:spcBef>
                <a:spcPts val="0"/>
              </a:spcBef>
              <a:spcAft>
                <a:spcPts val="0"/>
              </a:spcAft>
              <a:buNone/>
            </a:pPr>
            <a:r>
              <a:rPr lang="ja-JP" sz="3400" b="1" i="0" dirty="0">
                <a:solidFill>
                  <a:srgbClr val="000000"/>
                </a:solidFill>
                <a:latin typeface="游ゴシック"/>
                <a:ea typeface="游ゴシック"/>
                <a:cs typeface="游ゴシック"/>
              </a:rPr>
              <a:t>③ 答えは，整合した </a:t>
            </a:r>
            <a:r>
              <a:rPr lang="ja-JP" sz="3400" b="1" i="0" dirty="0">
                <a:solidFill>
                  <a:srgbClr val="000000"/>
                </a:solidFill>
                <a:latin typeface="Cambria Math"/>
                <a:ea typeface="Cambria Math"/>
                <a:cs typeface="Cambria Math"/>
              </a:rPr>
              <a:t>𝒉</a:t>
            </a:r>
            <a:endParaRPr lang="ja-JP" sz="3400" dirty="0"/>
          </a:p>
          <a:p>
            <a:pPr algn="l" marL="0" indent="0">
              <a:lnSpc>
                <a:spcPts val="3909"/>
              </a:lnSpc>
              <a:spcBef>
                <a:spcPts val="0"/>
              </a:spcBef>
              <a:spcAft>
                <a:spcPts val="0"/>
              </a:spcAft>
              <a:buNone/>
            </a:pPr>
            <a:r>
              <a:rPr lang="ja-JP" sz="3400" b="1" i="0" dirty="0">
                <a:solidFill>
                  <a:srgbClr val="000000"/>
                </a:solidFill>
                <a:latin typeface="游ゴシック"/>
                <a:ea typeface="游ゴシック"/>
                <a:cs typeface="游ゴシック"/>
              </a:rPr>
              <a:t>に頼らなくなる</a:t>
            </a:r>
            <a:endParaRPr lang="ja-JP" sz="3400" dirty="0"/>
          </a:p>
        </p:txBody>
      </p:sp>
      <p:sp>
        <p:nvSpPr>
          <p:cNvPr id="114" name="TextBox 114"/>
          <p:cNvSpPr txBox="1"/>
          <p:nvPr/>
        </p:nvSpPr>
        <p:spPr>
          <a:xfrm>
            <a:off x="15408000" y="19440000"/>
            <a:ext cx="6912000" cy="1008000"/>
          </a:xfrm>
          <a:prstGeom prst="rect">
            <a:avLst/>
          </a:prstGeom>
          <a:noFill/>
          <a:ln>
            <a:noFill/>
          </a:ln>
        </p:spPr>
        <p:txBody>
          <a:bodyPr wrap="square" lIns="0" tIns="0" rIns="0" bIns="0" rtlCol="0" anchor="t">
            <a:noAutofit/>
          </a:bodyPr>
          <a:lstStyle/>
          <a:p>
            <a:pPr algn="l" marL="0" indent="0">
              <a:lnSpc>
                <a:spcPts val="2530"/>
              </a:lnSpc>
              <a:spcBef>
                <a:spcPts val="0"/>
              </a:spcBef>
              <a:spcAft>
                <a:spcPts val="0"/>
              </a:spcAft>
              <a:buNone/>
            </a:pPr>
            <a:r>
              <a:rPr lang="ja-JP" sz="2200" b="1" i="0" dirty="0">
                <a:solidFill>
                  <a:srgbClr val="000000"/>
                </a:solidFill>
                <a:latin typeface="游ゴシック"/>
                <a:ea typeface="游ゴシック"/>
                <a:cs typeface="游ゴシック"/>
              </a:rPr>
              <a:t>相対感度</a:t>
            </a:r>
            <a:endParaRPr lang="ja-JP" sz="2200" dirty="0"/>
          </a:p>
          <a:p>
            <a:pPr algn="l" marL="0" indent="0">
              <a:lnSpc>
                <a:spcPts val="2530"/>
              </a:lnSpc>
              <a:spcBef>
                <a:spcPts val="0"/>
              </a:spcBef>
              <a:spcAft>
                <a:spcPts val="0"/>
              </a:spcAft>
              <a:buNone/>
            </a:pPr>
            <a:r>
              <a:rPr lang="ja-JP" sz="2200" b="0" i="0" dirty="0">
                <a:solidFill>
                  <a:srgbClr val="000000"/>
                </a:solidFill>
                <a:latin typeface="Cambria Math"/>
                <a:ea typeface="Cambria Math"/>
                <a:cs typeface="Cambria Math"/>
              </a:rPr>
              <a:t>𝒉</a:t>
            </a:r>
            <a:r>
              <a:rPr lang="ja-JP" sz="2200" b="0" i="0" dirty="0">
                <a:solidFill>
                  <a:srgbClr val="000000"/>
                </a:solidFill>
                <a:latin typeface="游ゴシック"/>
                <a:ea typeface="游ゴシック"/>
                <a:cs typeface="游ゴシック"/>
              </a:rPr>
              <a:t> を1%動かしたとき，答えを決める方向へ</a:t>
            </a:r>
            <a:endParaRPr lang="ja-JP" sz="2200" dirty="0"/>
          </a:p>
          <a:p>
            <a:pPr algn="l" marL="0" indent="0">
              <a:lnSpc>
                <a:spcPts val="2530"/>
              </a:lnSpc>
              <a:spcBef>
                <a:spcPts val="0"/>
              </a:spcBef>
              <a:spcAft>
                <a:spcPts val="0"/>
              </a:spcAft>
              <a:buNone/>
            </a:pPr>
            <a:r>
              <a:rPr lang="ja-JP" sz="2200" b="0" i="0" dirty="0">
                <a:solidFill>
                  <a:srgbClr val="000000"/>
                </a:solidFill>
                <a:latin typeface="游ゴシック"/>
                <a:ea typeface="游ゴシック"/>
                <a:cs typeface="游ゴシック"/>
              </a:rPr>
              <a:t>出力が何%動くか（方向は8・32・128本）</a:t>
            </a:r>
            <a:endParaRPr lang="ja-JP" sz="2200" dirty="0"/>
          </a:p>
        </p:txBody>
      </p:sp>
      <p:graphicFrame>
        <p:nvGraphicFramePr>
          <p:cNvPr id="115" name="Chart 3"/>
          <p:cNvGraphicFramePr/>
          <p:nvPr/>
        </p:nvGraphicFramePr>
        <p:xfrm>
          <a:off x="15408000" y="20484000"/>
          <a:ext cx="6912000" cy="4536000"/>
        </p:xfrm>
        <a:graphic>
          <a:graphicData uri="http://schemas.openxmlformats.org/drawingml/2006/chart">
            <c:chart xmlns:c="http://schemas.openxmlformats.org/drawingml/2006/chart" r:id="rId21"/>
          </a:graphicData>
        </a:graphic>
      </p:graphicFrame>
      <p:sp>
        <p:nvSpPr>
          <p:cNvPr id="116" name="TextBox 116"/>
          <p:cNvSpPr txBox="1"/>
          <p:nvPr/>
        </p:nvSpPr>
        <p:spPr>
          <a:xfrm>
            <a:off x="15408000" y="25128000"/>
            <a:ext cx="6912000" cy="1944000"/>
          </a:xfrm>
          <a:prstGeom prst="rect">
            <a:avLst/>
          </a:prstGeom>
          <a:noFill/>
          <a:ln>
            <a:noFill/>
          </a:ln>
        </p:spPr>
        <p:txBody>
          <a:bodyPr wrap="square" lIns="0" tIns="0" rIns="0" bIns="0" rtlCol="0" anchor="t">
            <a:noAutofit/>
          </a:bodyPr>
          <a:lstStyle/>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proposal：18–28%低下</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3乱数種すべてで同じ向き</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ablation：低下なし</a:t>
            </a:r>
            <a:endParaRPr lang="ja-JP" sz="2800" dirty="0"/>
          </a:p>
          <a:p>
            <a:pPr algn="l" marL="0" indent="0">
              <a:lnSpc>
                <a:spcPts val="3416"/>
              </a:lnSpc>
              <a:spcBef>
                <a:spcPts val="0"/>
              </a:spcBef>
              <a:spcAft>
                <a:spcPts val="100"/>
              </a:spcAft>
              <a:buNone/>
            </a:pPr>
            <a:r>
              <a:rPr lang="ja-JP" sz="2800" b="1" i="0" dirty="0">
                <a:solidFill>
                  <a:srgbClr val="000000"/>
                </a:solidFill>
                <a:latin typeface="游ゴシック"/>
                <a:ea typeface="游ゴシック"/>
                <a:cs typeface="游ゴシック"/>
              </a:rPr>
              <a:t>→ 署名ラベルの効果</a:t>
            </a:r>
            <a:endParaRPr lang="ja-JP" sz="2800" dirty="0"/>
          </a:p>
        </p:txBody>
      </p:sp>
      <p:sp>
        <p:nvSpPr>
          <p:cNvPr id="117" name="Implication 117"/>
          <p:cNvSpPr/>
          <p:nvPr/>
        </p:nvSpPr>
        <p:spPr>
          <a:xfrm>
            <a:off x="720000" y="27612000"/>
            <a:ext cx="21600000" cy="1944000"/>
          </a:xfrm>
          <a:prstGeom prst="roundRect">
            <a:avLst>
              <a:gd name="adj" fmla="val 8000"/>
            </a:avLst>
          </a:prstGeom>
          <a:solidFill>
            <a:srgbClr val="E2F0D9"/>
          </a:solidFill>
          <a:ln w="28800">
            <a:solidFill>
              <a:srgbClr val="70AD47"/>
            </a:solidFill>
          </a:ln>
        </p:spPr>
        <p:txBody>
          <a:bodyPr wrap="square" lIns="0" tIns="0" rIns="0" bIns="0" rtlCol="0" anchor="ctr">
            <a:noAutofit/>
          </a:bodyPr>
          <a:lstStyle/>
          <a:p>
            <a:pPr algn="ctr" marL="0" indent="0">
              <a:lnSpc>
                <a:spcPts val="4600"/>
              </a:lnSpc>
              <a:spcBef>
                <a:spcPts val="0"/>
              </a:spcBef>
              <a:spcAft>
                <a:spcPts val="0"/>
              </a:spcAft>
              <a:buNone/>
            </a:pPr>
            <a:r>
              <a:rPr lang="ja-JP" sz="4000" b="1" i="0" dirty="0">
                <a:solidFill>
                  <a:srgbClr val="C00000"/>
                </a:solidFill>
                <a:latin typeface="游ゴシック"/>
                <a:ea typeface="游ゴシック"/>
                <a:cs typeface="游ゴシック"/>
              </a:rPr>
              <a:t>解き方は </a:t>
            </a:r>
            <a:r>
              <a:rPr lang="ja-JP" sz="4000" b="1" i="0" dirty="0">
                <a:solidFill>
                  <a:srgbClr val="C00000"/>
                </a:solidFill>
                <a:latin typeface="Cambria Math"/>
                <a:ea typeface="Cambria Math"/>
                <a:cs typeface="Cambria Math"/>
              </a:rPr>
              <a:t>𝒉</a:t>
            </a:r>
            <a:r>
              <a:rPr lang="ja-JP" sz="4000" b="1" i="0" dirty="0">
                <a:solidFill>
                  <a:srgbClr val="C00000"/>
                </a:solidFill>
                <a:latin typeface="游ゴシック"/>
                <a:ea typeface="游ゴシック"/>
                <a:cs typeface="游ゴシック"/>
              </a:rPr>
              <a:t> から読み取れるようになったが，</a:t>
            </a:r>
            <a:endParaRPr lang="ja-JP" sz="4000" dirty="0"/>
          </a:p>
          <a:p>
            <a:pPr algn="ctr" marL="0" indent="0">
              <a:lnSpc>
                <a:spcPts val="4600"/>
              </a:lnSpc>
              <a:spcBef>
                <a:spcPts val="0"/>
              </a:spcBef>
              <a:spcAft>
                <a:spcPts val="300"/>
              </a:spcAft>
              <a:buNone/>
            </a:pPr>
            <a:r>
              <a:rPr lang="ja-JP" sz="4000" b="1" i="0" dirty="0">
                <a:solidFill>
                  <a:srgbClr val="C00000"/>
                </a:solidFill>
                <a:latin typeface="游ゴシック"/>
                <a:ea typeface="游ゴシック"/>
                <a:cs typeface="游ゴシック"/>
              </a:rPr>
              <a:t>答えの生成に使われるようにはならない</a:t>
            </a:r>
            <a:endParaRPr lang="ja-JP" sz="4000" dirty="0"/>
          </a:p>
          <a:p>
            <a:pPr algn="ctr" marL="0" indent="0">
              <a:lnSpc>
                <a:spcPts val="3416"/>
              </a:lnSpc>
              <a:spcBef>
                <a:spcPts val="0"/>
              </a:spcBef>
              <a:spcAft>
                <a:spcPts val="0"/>
              </a:spcAft>
              <a:buNone/>
            </a:pPr>
            <a:r>
              <a:rPr lang="ja-JP" sz="2800" b="1" i="0" dirty="0">
                <a:solidFill>
                  <a:srgbClr val="000000"/>
                </a:solidFill>
                <a:latin typeface="游ゴシック"/>
                <a:ea typeface="游ゴシック"/>
                <a:cs typeface="游ゴシック"/>
              </a:rPr>
              <a:t>「読み取れること」と「答えの生成に使われること」は一致しない</a:t>
            </a:r>
            <a:endParaRPr lang="ja-JP" sz="2800" dirty="0"/>
          </a:p>
        </p:txBody>
      </p:sp>
      <p:sp>
        <p:nvSpPr>
          <p:cNvPr id="118" name="Section 118"/>
          <p:cNvSpPr/>
          <p:nvPr/>
        </p:nvSpPr>
        <p:spPr>
          <a:xfrm>
            <a:off x="22824000" y="17424000"/>
            <a:ext cx="11376000" cy="684000"/>
          </a:xfrm>
          <a:prstGeom prst="rect">
            <a:avLst/>
          </a:prstGeom>
          <a:solidFill>
            <a:srgbClr val="70AD47"/>
          </a:solidFill>
          <a:ln>
            <a:noFill/>
          </a:ln>
        </p:spPr>
        <p:txBody>
          <a:bodyPr wrap="square" lIns="180000" tIns="180000" rIns="180000" bIns="180000" rtlCol="0" anchor="ctr">
            <a:noAutofit/>
          </a:bodyPr>
          <a:lstStyle/>
          <a:p>
            <a:pPr algn="l" marL="0" indent="0">
              <a:lnSpc>
                <a:spcPts val="4400"/>
              </a:lnSpc>
              <a:spcBef>
                <a:spcPts val="0"/>
              </a:spcBef>
              <a:spcAft>
                <a:spcPts val="0"/>
              </a:spcAft>
              <a:buNone/>
            </a:pPr>
            <a:r>
              <a:rPr lang="ja-JP" sz="4000" b="1" i="0" dirty="0">
                <a:solidFill>
                  <a:srgbClr val="FFFFFF"/>
                </a:solidFill>
                <a:latin typeface="游ゴシック"/>
                <a:ea typeface="游ゴシック"/>
                <a:cs typeface="游ゴシック"/>
              </a:rPr>
              <a:t>5．加工で内部表現は動きにくくなるか</a:t>
            </a:r>
            <a:endParaRPr lang="ja-JP" sz="4000" dirty="0"/>
          </a:p>
        </p:txBody>
      </p:sp>
      <p:sp>
        <p:nvSpPr>
          <p:cNvPr id="119" name="TextBox 119"/>
          <p:cNvSpPr txBox="1"/>
          <p:nvPr/>
        </p:nvSpPr>
        <p:spPr>
          <a:xfrm>
            <a:off x="22824000" y="18288000"/>
            <a:ext cx="11376000" cy="900000"/>
          </a:xfrm>
          <a:prstGeom prst="rect">
            <a:avLst/>
          </a:prstGeom>
          <a:noFill/>
          <a:ln>
            <a:noFill/>
          </a:ln>
        </p:spPr>
        <p:txBody>
          <a:bodyPr wrap="square" lIns="0" tIns="0" rIns="0" bIns="0" rtlCol="0" anchor="t">
            <a:noAutofit/>
          </a:bodyPr>
          <a:lstStyle/>
          <a:p>
            <a:pPr algn="l" marL="0" indent="0">
              <a:lnSpc>
                <a:spcPts val="3416"/>
              </a:lnSpc>
              <a:spcBef>
                <a:spcPts val="0"/>
              </a:spcBef>
              <a:spcAft>
                <a:spcPts val="0"/>
              </a:spcAft>
              <a:buNone/>
            </a:pPr>
            <a:r>
              <a:rPr lang="ja-JP" sz="2800" b="1" i="0" dirty="0">
                <a:solidFill>
                  <a:srgbClr val="70AD47"/>
                </a:solidFill>
                <a:latin typeface="游ゴシック"/>
                <a:ea typeface="游ゴシック"/>
                <a:cs typeface="游ゴシック"/>
              </a:rPr>
              <a:t>確かめたいこと</a:t>
            </a:r>
            <a:r>
              <a:rPr lang="ja-JP" sz="2800" b="0" i="0" dirty="0">
                <a:solidFill>
                  <a:srgbClr val="000000"/>
                </a:solidFill>
                <a:latin typeface="游ゴシック"/>
                <a:ea typeface="游ゴシック"/>
                <a:cs typeface="游ゴシック"/>
              </a:rPr>
              <a:t>　答えが同じでも内部表現は動く（1章）．整合で，この動きは小さくなるか</a:t>
            </a:r>
            <a:r>
              <a:rPr lang="ja-JP" sz="2200" b="0" i="0" dirty="0">
                <a:solidFill>
                  <a:srgbClr val="595959"/>
                </a:solidFill>
                <a:latin typeface="游ゴシック"/>
                <a:ea typeface="游ゴシック"/>
                <a:cs typeface="游ゴシック"/>
              </a:rPr>
              <a:t>　（予稿以後の測定）</a:t>
            </a:r>
            <a:endParaRPr lang="ja-JP" sz="2800" dirty="0"/>
          </a:p>
        </p:txBody>
      </p:sp>
      <p:pic>
        <p:nvPicPr>
          <p:cNvPr id="120" name="Picture 120" descr="元画像"/>
          <p:cNvPicPr>
            <a:picLocks noChangeAspect="1"/>
          </p:cNvPicPr>
          <p:nvPr/>
        </p:nvPicPr>
        <p:blipFill>
          <a:blip r:embed="rId2"/>
          <a:stretch>
            <a:fillRect/>
          </a:stretch>
        </p:blipFill>
        <p:spPr>
          <a:xfrm>
            <a:off x="23004000" y="19296000"/>
            <a:ext cx="1944000" cy="1458000"/>
          </a:xfrm>
          <a:prstGeom prst="rect">
            <a:avLst/>
          </a:prstGeom>
        </p:spPr>
      </p:pic>
      <p:sp>
        <p:nvSpPr>
          <p:cNvPr id="121" name="TextBox 121"/>
          <p:cNvSpPr txBox="1"/>
          <p:nvPr/>
        </p:nvSpPr>
        <p:spPr>
          <a:xfrm>
            <a:off x="22788000" y="20772000"/>
            <a:ext cx="2376000" cy="306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元画像</a:t>
            </a:r>
            <a:endParaRPr lang="ja-JP" sz="2200" dirty="0"/>
          </a:p>
        </p:txBody>
      </p:sp>
      <p:pic>
        <p:nvPicPr>
          <p:cNvPr id="122" name="Picture 122" descr="平行移動"/>
          <p:cNvPicPr>
            <a:picLocks noChangeAspect="1"/>
          </p:cNvPicPr>
          <p:nvPr/>
        </p:nvPicPr>
        <p:blipFill>
          <a:blip r:embed="rId3"/>
          <a:stretch>
            <a:fillRect/>
          </a:stretch>
        </p:blipFill>
        <p:spPr>
          <a:xfrm>
            <a:off x="25272000" y="19296000"/>
            <a:ext cx="1944000" cy="1458000"/>
          </a:xfrm>
          <a:prstGeom prst="rect">
            <a:avLst/>
          </a:prstGeom>
        </p:spPr>
      </p:pic>
      <p:sp>
        <p:nvSpPr>
          <p:cNvPr id="123" name="TextBox 123"/>
          <p:cNvSpPr txBox="1"/>
          <p:nvPr/>
        </p:nvSpPr>
        <p:spPr>
          <a:xfrm>
            <a:off x="25056000" y="20772000"/>
            <a:ext cx="2376000" cy="306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平行移動</a:t>
            </a:r>
            <a:endParaRPr lang="ja-JP" sz="2200" dirty="0"/>
          </a:p>
        </p:txBody>
      </p:sp>
      <p:pic>
        <p:nvPicPr>
          <p:cNvPr id="124" name="Picture 124" descr="回転"/>
          <p:cNvPicPr>
            <a:picLocks noChangeAspect="1"/>
          </p:cNvPicPr>
          <p:nvPr/>
        </p:nvPicPr>
        <p:blipFill>
          <a:blip r:embed="rId4"/>
          <a:stretch>
            <a:fillRect/>
          </a:stretch>
        </p:blipFill>
        <p:spPr>
          <a:xfrm>
            <a:off x="27540000" y="19296000"/>
            <a:ext cx="1944000" cy="1458000"/>
          </a:xfrm>
          <a:prstGeom prst="rect">
            <a:avLst/>
          </a:prstGeom>
        </p:spPr>
      </p:pic>
      <p:sp>
        <p:nvSpPr>
          <p:cNvPr id="125" name="TextBox 125"/>
          <p:cNvSpPr txBox="1"/>
          <p:nvPr/>
        </p:nvSpPr>
        <p:spPr>
          <a:xfrm>
            <a:off x="27324000" y="20772000"/>
            <a:ext cx="2376000" cy="306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回転</a:t>
            </a:r>
            <a:endParaRPr lang="ja-JP" sz="2200" dirty="0"/>
          </a:p>
        </p:txBody>
      </p:sp>
      <p:pic>
        <p:nvPicPr>
          <p:cNvPr id="126" name="Picture 126" descr="文字の重ね書き"/>
          <p:cNvPicPr>
            <a:picLocks noChangeAspect="1"/>
          </p:cNvPicPr>
          <p:nvPr/>
        </p:nvPicPr>
        <p:blipFill>
          <a:blip r:embed="rId5"/>
          <a:stretch>
            <a:fillRect/>
          </a:stretch>
        </p:blipFill>
        <p:spPr>
          <a:xfrm>
            <a:off x="29808000" y="19296000"/>
            <a:ext cx="1944000" cy="1458000"/>
          </a:xfrm>
          <a:prstGeom prst="rect">
            <a:avLst/>
          </a:prstGeom>
        </p:spPr>
      </p:pic>
      <p:sp>
        <p:nvSpPr>
          <p:cNvPr id="127" name="TextBox 127"/>
          <p:cNvSpPr txBox="1"/>
          <p:nvPr/>
        </p:nvSpPr>
        <p:spPr>
          <a:xfrm>
            <a:off x="29592000" y="20772000"/>
            <a:ext cx="2376000" cy="306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文字の重ね書き</a:t>
            </a:r>
            <a:endParaRPr lang="ja-JP" sz="2200" dirty="0"/>
          </a:p>
        </p:txBody>
      </p:sp>
      <p:pic>
        <p:nvPicPr>
          <p:cNvPr id="128" name="Picture 128" descr="別の画像"/>
          <p:cNvPicPr>
            <a:picLocks noChangeAspect="1"/>
          </p:cNvPicPr>
          <p:nvPr/>
        </p:nvPicPr>
        <p:blipFill>
          <a:blip r:embed="rId6"/>
          <a:stretch>
            <a:fillRect/>
          </a:stretch>
        </p:blipFill>
        <p:spPr>
          <a:xfrm>
            <a:off x="32076000" y="19296000"/>
            <a:ext cx="1944000" cy="1458000"/>
          </a:xfrm>
          <a:prstGeom prst="rect">
            <a:avLst/>
          </a:prstGeom>
        </p:spPr>
      </p:pic>
      <p:sp>
        <p:nvSpPr>
          <p:cNvPr id="129" name="TextBox 129"/>
          <p:cNvSpPr txBox="1"/>
          <p:nvPr/>
        </p:nvSpPr>
        <p:spPr>
          <a:xfrm>
            <a:off x="31860000" y="20772000"/>
            <a:ext cx="2376000" cy="306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別の画像</a:t>
            </a:r>
            <a:endParaRPr lang="ja-JP" sz="2200" dirty="0"/>
          </a:p>
        </p:txBody>
      </p:sp>
      <p:sp>
        <p:nvSpPr>
          <p:cNvPr id="130" name="TextBox 130"/>
          <p:cNvSpPr txBox="1"/>
          <p:nvPr/>
        </p:nvSpPr>
        <p:spPr>
          <a:xfrm>
            <a:off x="22824000" y="21150000"/>
            <a:ext cx="11376000" cy="2196000"/>
          </a:xfrm>
          <a:prstGeom prst="rect">
            <a:avLst/>
          </a:prstGeom>
          <a:noFill/>
          <a:ln>
            <a:noFill/>
          </a:ln>
        </p:spPr>
        <p:txBody>
          <a:bodyPr wrap="square" lIns="0" tIns="0" rIns="0" bIns="0" rtlCol="0" anchor="t">
            <a:noAutofit/>
          </a:bodyPr>
          <a:lstStyle/>
          <a:p>
            <a:pPr algn="l" marL="0" indent="0">
              <a:lnSpc>
                <a:spcPts val="3416"/>
              </a:lnSpc>
              <a:spcBef>
                <a:spcPts val="0"/>
              </a:spcBef>
              <a:spcAft>
                <a:spcPts val="100"/>
              </a:spcAft>
              <a:buNone/>
            </a:pPr>
            <a:r>
              <a:rPr lang="ja-JP" sz="2800" b="1" i="0" dirty="0">
                <a:solidFill>
                  <a:srgbClr val="70AD47"/>
                </a:solidFill>
                <a:latin typeface="游ゴシック"/>
                <a:ea typeface="游ゴシック"/>
                <a:cs typeface="游ゴシック"/>
              </a:rPr>
              <a:t>実験</a:t>
            </a:r>
            <a:r>
              <a:rPr lang="ja-JP" sz="2800" b="0" i="0" dirty="0">
                <a:solidFill>
                  <a:srgbClr val="000000"/>
                </a:solidFill>
                <a:latin typeface="游ゴシック"/>
                <a:ea typeface="游ゴシック"/>
                <a:cs typeface="游ゴシック"/>
              </a:rPr>
              <a:t>　Wani ら[1]の8族23通りの加工を全問に施す</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動き：加工前後の </a:t>
            </a:r>
            <a:r>
              <a:rPr lang="ja-JP" sz="2800" b="0" i="0" dirty="0">
                <a:solidFill>
                  <a:srgbClr val="000000"/>
                </a:solidFill>
                <a:latin typeface="Cambria Math"/>
                <a:ea typeface="Cambria Math"/>
                <a:cs typeface="Cambria Math"/>
              </a:rPr>
              <a:t>𝒉</a:t>
            </a:r>
            <a:r>
              <a:rPr lang="ja-JP" sz="2800" b="0" i="0" dirty="0">
                <a:solidFill>
                  <a:srgbClr val="000000"/>
                </a:solidFill>
                <a:latin typeface="游ゴシック"/>
                <a:ea typeface="游ゴシック"/>
                <a:cs typeface="游ゴシック"/>
              </a:rPr>
              <a:t> のコサイン距離</a:t>
            </a:r>
            <a:endParaRPr lang="ja-JP" sz="2800" dirty="0"/>
          </a:p>
          <a:p>
            <a:pPr algn="l" marL="373380" indent="-373380">
              <a:lnSpc>
                <a:spcPts val="3416"/>
              </a:lnSpc>
              <a:spcBef>
                <a:spcPts val="0"/>
              </a:spcBef>
              <a:spcAft>
                <a:spcPts val="0"/>
              </a:spcAft>
              <a:buFont typeface="Arial"/>
              <a:buChar char="•"/>
            </a:pPr>
            <a:r>
              <a:rPr lang="ja-JP" sz="2800" b="0" i="0" dirty="0">
                <a:solidFill>
                  <a:srgbClr val="000000"/>
                </a:solidFill>
                <a:latin typeface="游ゴシック"/>
                <a:ea typeface="游ゴシック"/>
                <a:cs typeface="游ゴシック"/>
              </a:rPr>
              <a:t>比 = 加工による動き ÷ 別の画像に替えたときの動き．小さいほど，画像の差し替えより加工で動かない</a:t>
            </a:r>
            <a:endParaRPr lang="ja-JP" sz="2800" dirty="0"/>
          </a:p>
        </p:txBody>
      </p:sp>
      <p:sp>
        <p:nvSpPr>
          <p:cNvPr id="131" name="TextBox 131"/>
          <p:cNvSpPr txBox="1"/>
          <p:nvPr/>
        </p:nvSpPr>
        <p:spPr>
          <a:xfrm>
            <a:off x="22824000" y="23310000"/>
            <a:ext cx="5544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比（%）</a:t>
            </a:r>
            <a:endParaRPr lang="ja-JP" sz="2200" dirty="0"/>
          </a:p>
        </p:txBody>
      </p:sp>
      <p:sp>
        <p:nvSpPr>
          <p:cNvPr id="132" name="TextBox 132"/>
          <p:cNvSpPr txBox="1"/>
          <p:nvPr/>
        </p:nvSpPr>
        <p:spPr>
          <a:xfrm>
            <a:off x="28656000" y="23310000"/>
            <a:ext cx="5544000" cy="324000"/>
          </a:xfrm>
          <a:prstGeom prst="rect">
            <a:avLst/>
          </a:prstGeom>
          <a:noFill/>
          <a:ln>
            <a:noFill/>
          </a:ln>
        </p:spPr>
        <p:txBody>
          <a:bodyPr wrap="square" lIns="0" tIns="0" rIns="0" bIns="0" rtlCol="0" anchor="t">
            <a:noAutofit/>
          </a:bodyPr>
          <a:lstStyle/>
          <a:p>
            <a:pPr algn="ctr" marL="0" indent="0">
              <a:lnSpc>
                <a:spcPts val="2420"/>
              </a:lnSpc>
              <a:spcBef>
                <a:spcPts val="0"/>
              </a:spcBef>
              <a:spcAft>
                <a:spcPts val="0"/>
              </a:spcAft>
              <a:buNone/>
            </a:pPr>
            <a:r>
              <a:rPr lang="ja-JP" sz="2200" b="1" i="0" dirty="0">
                <a:solidFill>
                  <a:srgbClr val="000000"/>
                </a:solidFill>
                <a:latin typeface="游ゴシック"/>
                <a:ea typeface="游ゴシック"/>
                <a:cs typeface="游ゴシック"/>
              </a:rPr>
              <a:t>加工による距離（× 10⁻³）</a:t>
            </a:r>
            <a:endParaRPr lang="ja-JP" sz="2200" dirty="0"/>
          </a:p>
        </p:txBody>
      </p:sp>
      <p:graphicFrame>
        <p:nvGraphicFramePr>
          <p:cNvPr id="133" name="Chart ratio"/>
          <p:cNvGraphicFramePr/>
          <p:nvPr/>
        </p:nvGraphicFramePr>
        <p:xfrm>
          <a:off x="22824000" y="23634000"/>
          <a:ext cx="5544000" cy="2376000"/>
        </p:xfrm>
        <a:graphic>
          <a:graphicData uri="http://schemas.openxmlformats.org/drawingml/2006/chart">
            <c:chart xmlns:c="http://schemas.openxmlformats.org/drawingml/2006/chart" r:id="rId22"/>
          </a:graphicData>
        </a:graphic>
      </p:graphicFrame>
      <p:graphicFrame>
        <p:nvGraphicFramePr>
          <p:cNvPr id="134" name="Chart distance"/>
          <p:cNvGraphicFramePr/>
          <p:nvPr/>
        </p:nvGraphicFramePr>
        <p:xfrm>
          <a:off x="28656000" y="23634000"/>
          <a:ext cx="5544000" cy="2376000"/>
        </p:xfrm>
        <a:graphic>
          <a:graphicData uri="http://schemas.openxmlformats.org/drawingml/2006/chart">
            <c:chart xmlns:c="http://schemas.openxmlformats.org/drawingml/2006/chart" r:id="rId24"/>
          </a:graphicData>
        </a:graphic>
      </p:graphicFrame>
      <p:sp>
        <p:nvSpPr>
          <p:cNvPr id="135" name="TextBox 135"/>
          <p:cNvSpPr txBox="1"/>
          <p:nvPr/>
        </p:nvSpPr>
        <p:spPr>
          <a:xfrm>
            <a:off x="22824000" y="26046000"/>
            <a:ext cx="11376000" cy="2160000"/>
          </a:xfrm>
          <a:prstGeom prst="rect">
            <a:avLst/>
          </a:prstGeom>
          <a:noFill/>
          <a:ln>
            <a:noFill/>
          </a:ln>
        </p:spPr>
        <p:txBody>
          <a:bodyPr wrap="square" lIns="0" tIns="0" rIns="0" bIns="0" rtlCol="0" anchor="t">
            <a:noAutofit/>
          </a:bodyPr>
          <a:lstStyle/>
          <a:p>
            <a:pPr algn="l" marL="0" indent="0">
              <a:lnSpc>
                <a:spcPts val="3416"/>
              </a:lnSpc>
              <a:spcBef>
                <a:spcPts val="0"/>
              </a:spcBef>
              <a:spcAft>
                <a:spcPts val="100"/>
              </a:spcAft>
              <a:buNone/>
            </a:pPr>
            <a:r>
              <a:rPr lang="ja-JP" sz="2800" b="1" i="0" dirty="0">
                <a:solidFill>
                  <a:srgbClr val="70AD47"/>
                </a:solidFill>
                <a:latin typeface="游ゴシック"/>
                <a:ea typeface="游ゴシック"/>
                <a:cs typeface="游ゴシック"/>
              </a:rPr>
              <a:t>結果</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比：proposal が最小．ただし baseline との差は，向きを決められない（区間が0を含む）</a:t>
            </a:r>
            <a:endParaRPr lang="ja-JP" sz="2800" dirty="0"/>
          </a:p>
          <a:p>
            <a:pPr algn="l" marL="373380" indent="-373380">
              <a:lnSpc>
                <a:spcPts val="3416"/>
              </a:lnSpc>
              <a:spcBef>
                <a:spcPts val="0"/>
              </a:spcBef>
              <a:spcAft>
                <a:spcPts val="100"/>
              </a:spcAft>
              <a:buFont typeface="Arial"/>
              <a:buChar char="•"/>
            </a:pPr>
            <a:r>
              <a:rPr lang="ja-JP" sz="2800" b="0" i="0" dirty="0">
                <a:solidFill>
                  <a:srgbClr val="000000"/>
                </a:solidFill>
                <a:latin typeface="游ゴシック"/>
                <a:ea typeface="游ゴシック"/>
                <a:cs typeface="游ゴシック"/>
              </a:rPr>
              <a:t>距離そのもの：逆に proposal が最大</a:t>
            </a:r>
            <a:endParaRPr lang="ja-JP" sz="2800" dirty="0"/>
          </a:p>
          <a:p>
            <a:pPr algn="l" marL="373380" indent="-373380">
              <a:lnSpc>
                <a:spcPts val="3416"/>
              </a:lnSpc>
              <a:spcBef>
                <a:spcPts val="0"/>
              </a:spcBef>
              <a:spcAft>
                <a:spcPts val="0"/>
              </a:spcAft>
              <a:buFont typeface="Arial"/>
              <a:buChar char="•"/>
            </a:pPr>
            <a:r>
              <a:rPr lang="ja-JP" sz="2800" b="0" i="0" dirty="0">
                <a:solidFill>
                  <a:srgbClr val="000000"/>
                </a:solidFill>
                <a:latin typeface="游ゴシック"/>
                <a:ea typeface="游ゴシック"/>
                <a:cs typeface="游ゴシック"/>
              </a:rPr>
              <a:t>答えが変わる割合：3群で差は見られない</a:t>
            </a:r>
            <a:endParaRPr lang="ja-JP" sz="2800" dirty="0"/>
          </a:p>
        </p:txBody>
      </p:sp>
      <p:sp>
        <p:nvSpPr>
          <p:cNvPr id="136" name="Implication 136"/>
          <p:cNvSpPr/>
          <p:nvPr/>
        </p:nvSpPr>
        <p:spPr>
          <a:xfrm>
            <a:off x="22824000" y="28476000"/>
            <a:ext cx="11376000" cy="1080000"/>
          </a:xfrm>
          <a:prstGeom prst="roundRect">
            <a:avLst>
              <a:gd name="adj" fmla="val 8000"/>
            </a:avLst>
          </a:prstGeom>
          <a:solidFill>
            <a:srgbClr val="E2F0D9"/>
          </a:solidFill>
          <a:ln w="28800">
            <a:solidFill>
              <a:srgbClr val="70AD47"/>
            </a:solidFill>
          </a:ln>
        </p:spPr>
        <p:txBody>
          <a:bodyPr wrap="square" lIns="108000" tIns="108000" rIns="108000" bIns="108000" rtlCol="0" anchor="ctr">
            <a:noAutofit/>
          </a:bodyPr>
          <a:lstStyle/>
          <a:p>
            <a:pPr algn="ctr" marL="0" indent="0">
              <a:lnSpc>
                <a:spcPts val="3679"/>
              </a:lnSpc>
              <a:spcBef>
                <a:spcPts val="0"/>
              </a:spcBef>
              <a:spcAft>
                <a:spcPts val="0"/>
              </a:spcAft>
              <a:buNone/>
            </a:pPr>
            <a:r>
              <a:rPr lang="ja-JP" sz="3200" b="1" i="0" dirty="0">
                <a:solidFill>
                  <a:srgbClr val="70AD47"/>
                </a:solidFill>
                <a:latin typeface="游ゴシック"/>
                <a:ea typeface="游ゴシック"/>
                <a:cs typeface="游ゴシック"/>
              </a:rPr>
              <a:t>考察　</a:t>
            </a:r>
            <a:r>
              <a:rPr lang="ja-JP" sz="3200" b="1" i="0" dirty="0">
                <a:solidFill>
                  <a:srgbClr val="C00000"/>
                </a:solidFill>
                <a:latin typeface="游ゴシック"/>
                <a:ea typeface="游ゴシック"/>
                <a:cs typeface="游ゴシック"/>
              </a:rPr>
              <a:t>整合で </a:t>
            </a:r>
            <a:r>
              <a:rPr lang="ja-JP" sz="3200" b="1" i="0" dirty="0">
                <a:solidFill>
                  <a:srgbClr val="C00000"/>
                </a:solidFill>
                <a:latin typeface="Cambria Math"/>
                <a:ea typeface="Cambria Math"/>
                <a:cs typeface="Cambria Math"/>
              </a:rPr>
              <a:t>𝒉</a:t>
            </a:r>
            <a:r>
              <a:rPr lang="ja-JP" sz="3200" b="1" i="0" dirty="0">
                <a:solidFill>
                  <a:srgbClr val="C00000"/>
                </a:solidFill>
                <a:latin typeface="游ゴシック"/>
                <a:ea typeface="游ゴシック"/>
                <a:cs typeface="游ゴシック"/>
              </a:rPr>
              <a:t> が加工に動きにくくなったとは言えない</a:t>
            </a:r>
            <a:endParaRPr lang="ja-JP" sz="3200" dirty="0"/>
          </a:p>
        </p:txBody>
      </p:sp>
      <p:sp>
        <p:nvSpPr>
          <p:cNvPr id="137" name="Section 137"/>
          <p:cNvSpPr/>
          <p:nvPr/>
        </p:nvSpPr>
        <p:spPr>
          <a:xfrm>
            <a:off x="34704000" y="17424000"/>
            <a:ext cx="7380000" cy="684000"/>
          </a:xfrm>
          <a:prstGeom prst="rect">
            <a:avLst/>
          </a:prstGeom>
          <a:solidFill>
            <a:srgbClr val="70AD47"/>
          </a:solidFill>
          <a:ln>
            <a:noFill/>
          </a:ln>
        </p:spPr>
        <p:txBody>
          <a:bodyPr wrap="square" lIns="180000" tIns="180000" rIns="180000" bIns="180000" rtlCol="0" anchor="ctr">
            <a:noAutofit/>
          </a:bodyPr>
          <a:lstStyle/>
          <a:p>
            <a:pPr algn="l" marL="0" indent="0">
              <a:lnSpc>
                <a:spcPts val="4400"/>
              </a:lnSpc>
              <a:spcBef>
                <a:spcPts val="0"/>
              </a:spcBef>
              <a:spcAft>
                <a:spcPts val="0"/>
              </a:spcAft>
              <a:buNone/>
            </a:pPr>
            <a:r>
              <a:rPr lang="ja-JP" sz="4000" b="1" i="0" dirty="0">
                <a:solidFill>
                  <a:srgbClr val="FFFFFF"/>
                </a:solidFill>
                <a:latin typeface="游ゴシック"/>
                <a:ea typeface="游ゴシック"/>
                <a:cs typeface="游ゴシック"/>
              </a:rPr>
              <a:t>6．まとめ</a:t>
            </a:r>
            <a:endParaRPr lang="ja-JP" sz="4000" dirty="0"/>
          </a:p>
        </p:txBody>
      </p:sp>
      <p:sp>
        <p:nvSpPr>
          <p:cNvPr id="138" name="TextBox 138"/>
          <p:cNvSpPr txBox="1"/>
          <p:nvPr/>
        </p:nvSpPr>
        <p:spPr>
          <a:xfrm>
            <a:off x="34704000" y="18360000"/>
            <a:ext cx="7380000" cy="6480000"/>
          </a:xfrm>
          <a:prstGeom prst="rect">
            <a:avLst/>
          </a:prstGeom>
          <a:noFill/>
          <a:ln>
            <a:noFill/>
          </a:ln>
        </p:spPr>
        <p:txBody>
          <a:bodyPr wrap="square" lIns="0" tIns="0" rIns="0" bIns="0" rtlCol="0" anchor="t">
            <a:noAutofit/>
          </a:bodyPr>
          <a:lstStyle/>
          <a:p>
            <a:pPr algn="l" marL="0" indent="0">
              <a:lnSpc>
                <a:spcPts val="3660"/>
              </a:lnSpc>
              <a:spcBef>
                <a:spcPts val="0"/>
              </a:spcBef>
              <a:spcAft>
                <a:spcPts val="200"/>
              </a:spcAft>
              <a:buNone/>
            </a:pPr>
            <a:r>
              <a:rPr lang="ja-JP" sz="3000" b="1" i="0" dirty="0">
                <a:solidFill>
                  <a:srgbClr val="70AD47"/>
                </a:solidFill>
                <a:latin typeface="游ゴシック"/>
                <a:ea typeface="游ゴシック"/>
                <a:cs typeface="游ゴシック"/>
              </a:rPr>
              <a:t>研究の概要</a:t>
            </a:r>
            <a:endParaRPr lang="ja-JP" sz="3000" dirty="0"/>
          </a:p>
          <a:p>
            <a:pPr algn="l" marL="0" indent="0">
              <a:lnSpc>
                <a:spcPts val="3660"/>
              </a:lnSpc>
              <a:spcBef>
                <a:spcPts val="0"/>
              </a:spcBef>
              <a:spcAft>
                <a:spcPts val="1600"/>
              </a:spcAft>
              <a:buNone/>
            </a:pPr>
            <a:r>
              <a:rPr lang="ja-JP" sz="3000" b="0" i="0" dirty="0">
                <a:solidFill>
                  <a:srgbClr val="000000"/>
                </a:solidFill>
                <a:latin typeface="游ゴシック"/>
                <a:ea typeface="游ゴシック"/>
                <a:cs typeface="游ゴシック"/>
              </a:rPr>
              <a:t>署名が同じ質問どうしの </a:t>
            </a:r>
            <a:r>
              <a:rPr lang="ja-JP" sz="3000" b="0" i="0" dirty="0">
                <a:solidFill>
                  <a:srgbClr val="000000"/>
                </a:solidFill>
                <a:latin typeface="Cambria Math"/>
                <a:ea typeface="Cambria Math"/>
                <a:cs typeface="Cambria Math"/>
              </a:rPr>
              <a:t>𝒉</a:t>
            </a:r>
            <a:r>
              <a:rPr lang="ja-JP" sz="3000" b="0" i="0" dirty="0">
                <a:solidFill>
                  <a:srgbClr val="000000"/>
                </a:solidFill>
                <a:latin typeface="游ゴシック"/>
                <a:ea typeface="游ゴシック"/>
                <a:cs typeface="游ゴシック"/>
              </a:rPr>
              <a:t> を近づける整合を VLM の学習に追加し，内部表現と答えの生成への影響を検証</a:t>
            </a:r>
            <a:endParaRPr lang="ja-JP" sz="3000" dirty="0"/>
          </a:p>
          <a:p>
            <a:pPr algn="l" marL="0" indent="0">
              <a:lnSpc>
                <a:spcPts val="3660"/>
              </a:lnSpc>
              <a:spcBef>
                <a:spcPts val="0"/>
              </a:spcBef>
              <a:spcAft>
                <a:spcPts val="200"/>
              </a:spcAft>
              <a:buNone/>
            </a:pPr>
            <a:r>
              <a:rPr lang="ja-JP" sz="3000" b="1" i="0" dirty="0">
                <a:solidFill>
                  <a:srgbClr val="70AD47"/>
                </a:solidFill>
                <a:latin typeface="游ゴシック"/>
                <a:ea typeface="游ゴシック"/>
                <a:cs typeface="游ゴシック"/>
              </a:rPr>
              <a:t>結果と考察</a:t>
            </a:r>
            <a:endParaRPr lang="ja-JP" sz="3000" dirty="0"/>
          </a:p>
          <a:p>
            <a:pPr algn="l" marL="400050" indent="-400050">
              <a:lnSpc>
                <a:spcPts val="3660"/>
              </a:lnSpc>
              <a:spcBef>
                <a:spcPts val="0"/>
              </a:spcBef>
              <a:spcAft>
                <a:spcPts val="500"/>
              </a:spcAft>
              <a:buFont typeface="Arial"/>
              <a:buChar char="•"/>
            </a:pPr>
            <a:r>
              <a:rPr lang="ja-JP" sz="3000" b="0" i="0" dirty="0">
                <a:solidFill>
                  <a:srgbClr val="000000"/>
                </a:solidFill>
                <a:latin typeface="游ゴシック"/>
                <a:ea typeface="游ゴシック"/>
                <a:cs typeface="游ゴシック"/>
              </a:rPr>
              <a:t>解き方：</a:t>
            </a:r>
            <a:r>
              <a:rPr lang="ja-JP" sz="3000" b="0" i="0" dirty="0">
                <a:solidFill>
                  <a:srgbClr val="000000"/>
                </a:solidFill>
                <a:latin typeface="Cambria Math"/>
                <a:ea typeface="Cambria Math"/>
                <a:cs typeface="Cambria Math"/>
              </a:rPr>
              <a:t>𝒉</a:t>
            </a:r>
            <a:r>
              <a:rPr lang="ja-JP" sz="3000" b="0" i="0" dirty="0">
                <a:solidFill>
                  <a:srgbClr val="000000"/>
                </a:solidFill>
                <a:latin typeface="游ゴシック"/>
                <a:ea typeface="游ゴシック"/>
                <a:cs typeface="游ゴシック"/>
              </a:rPr>
              <a:t> から読み取れる形に</a:t>
            </a:r>
            <a:endParaRPr lang="ja-JP" sz="3000" dirty="0"/>
          </a:p>
          <a:p>
            <a:pPr algn="l" marL="400050" indent="-400050">
              <a:lnSpc>
                <a:spcPts val="3660"/>
              </a:lnSpc>
              <a:spcBef>
                <a:spcPts val="0"/>
              </a:spcBef>
              <a:spcAft>
                <a:spcPts val="500"/>
              </a:spcAft>
              <a:buFont typeface="Arial"/>
              <a:buChar char="•"/>
            </a:pPr>
            <a:r>
              <a:rPr lang="ja-JP" sz="3000" b="0" i="0" dirty="0">
                <a:solidFill>
                  <a:srgbClr val="000000"/>
                </a:solidFill>
                <a:latin typeface="游ゴシック"/>
                <a:ea typeface="游ゴシック"/>
                <a:cs typeface="游ゴシック"/>
              </a:rPr>
              <a:t>正解率：ほぼ不変</a:t>
            </a:r>
            <a:endParaRPr lang="ja-JP" sz="3000" dirty="0"/>
          </a:p>
          <a:p>
            <a:pPr algn="l" marL="400050" indent="-400050">
              <a:lnSpc>
                <a:spcPts val="3660"/>
              </a:lnSpc>
              <a:spcBef>
                <a:spcPts val="0"/>
              </a:spcBef>
              <a:spcAft>
                <a:spcPts val="500"/>
              </a:spcAft>
              <a:buFont typeface="Arial"/>
              <a:buChar char="•"/>
            </a:pPr>
            <a:r>
              <a:rPr lang="ja-JP" sz="3000" b="0" i="0" dirty="0">
                <a:solidFill>
                  <a:srgbClr val="000000"/>
                </a:solidFill>
                <a:latin typeface="游ゴシック"/>
                <a:ea typeface="游ゴシック"/>
                <a:cs typeface="游ゴシック"/>
              </a:rPr>
              <a:t>答えが </a:t>
            </a:r>
            <a:r>
              <a:rPr lang="ja-JP" sz="3000" b="0" i="0" dirty="0">
                <a:solidFill>
                  <a:srgbClr val="000000"/>
                </a:solidFill>
                <a:latin typeface="Cambria Math"/>
                <a:ea typeface="Cambria Math"/>
                <a:cs typeface="Cambria Math"/>
              </a:rPr>
              <a:t>𝒉</a:t>
            </a:r>
            <a:r>
              <a:rPr lang="ja-JP" sz="3000" b="0" i="0" dirty="0">
                <a:solidFill>
                  <a:srgbClr val="000000"/>
                </a:solidFill>
                <a:latin typeface="游ゴシック"/>
                <a:ea typeface="游ゴシック"/>
                <a:cs typeface="游ゴシック"/>
              </a:rPr>
              <a:t> に頼る度合い：低下</a:t>
            </a:r>
            <a:endParaRPr lang="ja-JP" sz="3000" dirty="0"/>
          </a:p>
          <a:p>
            <a:pPr algn="l" marL="400050" indent="-400050">
              <a:lnSpc>
                <a:spcPts val="3660"/>
              </a:lnSpc>
              <a:spcBef>
                <a:spcPts val="0"/>
              </a:spcBef>
              <a:spcAft>
                <a:spcPts val="0"/>
              </a:spcAft>
              <a:buFont typeface="Arial"/>
              <a:buChar char="•"/>
            </a:pPr>
            <a:r>
              <a:rPr lang="ja-JP" sz="3000" b="0" i="0" dirty="0">
                <a:solidFill>
                  <a:srgbClr val="000000"/>
                </a:solidFill>
                <a:latin typeface="游ゴシック"/>
                <a:ea typeface="游ゴシック"/>
                <a:cs typeface="游ゴシック"/>
              </a:rPr>
              <a:t>加工による </a:t>
            </a:r>
            <a:r>
              <a:rPr lang="ja-JP" sz="3000" b="0" i="0" dirty="0">
                <a:solidFill>
                  <a:srgbClr val="000000"/>
                </a:solidFill>
                <a:latin typeface="Cambria Math"/>
                <a:ea typeface="Cambria Math"/>
                <a:cs typeface="Cambria Math"/>
              </a:rPr>
              <a:t>𝒉</a:t>
            </a:r>
            <a:r>
              <a:rPr lang="ja-JP" sz="3000" b="0" i="0" dirty="0">
                <a:solidFill>
                  <a:srgbClr val="000000"/>
                </a:solidFill>
                <a:latin typeface="游ゴシック"/>
                <a:ea typeface="游ゴシック"/>
                <a:cs typeface="游ゴシック"/>
              </a:rPr>
              <a:t> の動き：整合前との差の向きは決められない</a:t>
            </a:r>
            <a:endParaRPr lang="ja-JP" sz="3000" dirty="0"/>
          </a:p>
        </p:txBody>
      </p:sp>
      <p:sp>
        <p:nvSpPr>
          <p:cNvPr id="139" name="Conclusion 139"/>
          <p:cNvSpPr/>
          <p:nvPr/>
        </p:nvSpPr>
        <p:spPr>
          <a:xfrm>
            <a:off x="34704000" y="24048000"/>
            <a:ext cx="7380000" cy="2232000"/>
          </a:xfrm>
          <a:prstGeom prst="roundRect">
            <a:avLst>
              <a:gd name="adj" fmla="val 8000"/>
            </a:avLst>
          </a:prstGeom>
          <a:solidFill>
            <a:srgbClr val="E2F0D9"/>
          </a:solidFill>
          <a:ln w="28800">
            <a:solidFill>
              <a:srgbClr val="70AD47"/>
            </a:solidFill>
          </a:ln>
        </p:spPr>
        <p:txBody>
          <a:bodyPr wrap="square" lIns="108000" tIns="108000" rIns="108000" bIns="108000" rtlCol="0" anchor="ctr">
            <a:noAutofit/>
          </a:bodyPr>
          <a:lstStyle/>
          <a:p>
            <a:pPr algn="ctr" marL="0" indent="0">
              <a:lnSpc>
                <a:spcPts val="3679"/>
              </a:lnSpc>
              <a:spcBef>
                <a:spcPts val="0"/>
              </a:spcBef>
              <a:spcAft>
                <a:spcPts val="0"/>
              </a:spcAft>
              <a:buNone/>
            </a:pPr>
            <a:r>
              <a:rPr lang="ja-JP" sz="3200" b="1" i="0" dirty="0">
                <a:solidFill>
                  <a:srgbClr val="C00000"/>
                </a:solidFill>
                <a:latin typeface="游ゴシック"/>
                <a:ea typeface="游ゴシック"/>
                <a:cs typeface="游ゴシック"/>
              </a:rPr>
              <a:t>読み取れる構造を作り込んでも，</a:t>
            </a:r>
            <a:endParaRPr lang="ja-JP" sz="3200" dirty="0"/>
          </a:p>
          <a:p>
            <a:pPr algn="ctr" marL="0" indent="0">
              <a:lnSpc>
                <a:spcPts val="3679"/>
              </a:lnSpc>
              <a:spcBef>
                <a:spcPts val="0"/>
              </a:spcBef>
              <a:spcAft>
                <a:spcPts val="0"/>
              </a:spcAft>
              <a:buNone/>
            </a:pPr>
            <a:r>
              <a:rPr lang="ja-JP" sz="3200" b="1" i="0" dirty="0">
                <a:solidFill>
                  <a:srgbClr val="C00000"/>
                </a:solidFill>
                <a:latin typeface="游ゴシック"/>
                <a:ea typeface="游ゴシック"/>
                <a:cs typeface="游ゴシック"/>
              </a:rPr>
              <a:t>答えの生成に</a:t>
            </a:r>
            <a:endParaRPr lang="ja-JP" sz="3200" dirty="0"/>
          </a:p>
          <a:p>
            <a:pPr algn="ctr" marL="0" indent="0">
              <a:lnSpc>
                <a:spcPts val="3679"/>
              </a:lnSpc>
              <a:spcBef>
                <a:spcPts val="0"/>
              </a:spcBef>
              <a:spcAft>
                <a:spcPts val="0"/>
              </a:spcAft>
              <a:buNone/>
            </a:pPr>
            <a:r>
              <a:rPr lang="ja-JP" sz="3200" b="1" i="0" dirty="0">
                <a:solidFill>
                  <a:srgbClr val="C00000"/>
                </a:solidFill>
                <a:latin typeface="游ゴシック"/>
                <a:ea typeface="游ゴシック"/>
                <a:cs typeface="游ゴシック"/>
              </a:rPr>
              <a:t>使われるようにはならない</a:t>
            </a:r>
            <a:endParaRPr lang="ja-JP" sz="3200" dirty="0"/>
          </a:p>
        </p:txBody>
      </p:sp>
      <p:sp>
        <p:nvSpPr>
          <p:cNvPr id="140" name="TextBox 140"/>
          <p:cNvSpPr txBox="1"/>
          <p:nvPr/>
        </p:nvSpPr>
        <p:spPr>
          <a:xfrm>
            <a:off x="34704000" y="26352000"/>
            <a:ext cx="7380000" cy="324000"/>
          </a:xfrm>
          <a:prstGeom prst="rect">
            <a:avLst/>
          </a:prstGeom>
          <a:noFill/>
          <a:ln>
            <a:noFill/>
          </a:ln>
        </p:spPr>
        <p:txBody>
          <a:bodyPr wrap="square" lIns="0" tIns="0" rIns="0" bIns="0" rtlCol="0" anchor="t">
            <a:noAutofit/>
          </a:bodyPr>
          <a:lstStyle/>
          <a:p>
            <a:pPr algn="l" marL="0" indent="0">
              <a:lnSpc>
                <a:spcPts val="2420"/>
              </a:lnSpc>
              <a:spcBef>
                <a:spcPts val="0"/>
              </a:spcBef>
              <a:spcAft>
                <a:spcPts val="0"/>
              </a:spcAft>
              <a:buNone/>
            </a:pPr>
            <a:r>
              <a:rPr lang="ja-JP" sz="2200" b="0" i="0" dirty="0">
                <a:solidFill>
                  <a:srgbClr val="000000"/>
                </a:solidFill>
                <a:latin typeface="游ゴシック"/>
                <a:ea typeface="游ゴシック"/>
                <a:cs typeface="游ゴシック"/>
              </a:rPr>
              <a:t>1モデル・1データセット・第16層・</a:t>
            </a:r>
            <a:r>
              <a:rPr lang="ja-JP" sz="2200" b="0" i="0" dirty="0">
                <a:solidFill>
                  <a:srgbClr val="000000"/>
                </a:solidFill>
                <a:latin typeface="Cambria Math"/>
                <a:ea typeface="Cambria Math"/>
                <a:cs typeface="Cambria Math"/>
              </a:rPr>
              <a:t>𝜆 = 0.1</a:t>
            </a:r>
            <a:r>
              <a:rPr lang="ja-JP" sz="2200" b="0" i="0" dirty="0">
                <a:solidFill>
                  <a:srgbClr val="000000"/>
                </a:solidFill>
                <a:latin typeface="游ゴシック"/>
                <a:ea typeface="游ゴシック"/>
                <a:cs typeface="游ゴシック"/>
              </a:rPr>
              <a:t> での結果</a:t>
            </a:r>
            <a:endParaRPr lang="ja-JP" sz="2200" dirty="0"/>
          </a:p>
        </p:txBody>
      </p:sp>
      <p:sp>
        <p:nvSpPr>
          <p:cNvPr id="141" name="TextBox 141"/>
          <p:cNvSpPr txBox="1"/>
          <p:nvPr/>
        </p:nvSpPr>
        <p:spPr>
          <a:xfrm>
            <a:off x="34704000" y="27684000"/>
            <a:ext cx="7380000" cy="1872000"/>
          </a:xfrm>
          <a:prstGeom prst="rect">
            <a:avLst/>
          </a:prstGeom>
          <a:noFill/>
          <a:ln>
            <a:noFill/>
          </a:ln>
        </p:spPr>
        <p:txBody>
          <a:bodyPr wrap="square" lIns="0" tIns="0" rIns="0" bIns="0" rtlCol="0" anchor="b">
            <a:noAutofit/>
          </a:bodyPr>
          <a:lstStyle/>
          <a:p>
            <a:pPr algn="l" marL="0" indent="0">
              <a:lnSpc>
                <a:spcPts val="1724"/>
              </a:lnSpc>
              <a:spcBef>
                <a:spcPts val="0"/>
              </a:spcBef>
              <a:spcAft>
                <a:spcPts val="100"/>
              </a:spcAft>
              <a:buNone/>
            </a:pPr>
            <a:r>
              <a:rPr lang="ja-JP" sz="1500" b="0" i="0" dirty="0">
                <a:solidFill>
                  <a:srgbClr val="000000"/>
                </a:solidFill>
                <a:latin typeface="游ゴシック"/>
                <a:ea typeface="游ゴシック"/>
                <a:cs typeface="游ゴシック"/>
              </a:rPr>
              <a:t>[1] F. A. Wani </a:t>
            </a:r>
            <a:r>
              <a:rPr lang="ja-JP" sz="1500" b="0" i="1" dirty="0">
                <a:solidFill>
                  <a:srgbClr val="000000"/>
                </a:solidFill>
                <a:latin typeface="游ゴシック"/>
                <a:ea typeface="游ゴシック"/>
                <a:cs typeface="游ゴシック"/>
              </a:rPr>
              <a:t>et al.</a:t>
            </a:r>
            <a:r>
              <a:rPr lang="ja-JP" sz="1500" b="0" i="0" dirty="0">
                <a:solidFill>
                  <a:srgbClr val="000000"/>
                </a:solidFill>
                <a:latin typeface="游ゴシック"/>
                <a:ea typeface="游ゴシック"/>
                <a:cs typeface="游ゴシック"/>
              </a:rPr>
              <a:t>, “Same Answer, Different Representations: Hidden Instability in VLMs,” arXiv:2602.06652, 2026.</a:t>
            </a:r>
            <a:endParaRPr lang="ja-JP" sz="1500" dirty="0"/>
          </a:p>
          <a:p>
            <a:pPr algn="l" marL="0" indent="0">
              <a:lnSpc>
                <a:spcPts val="1724"/>
              </a:lnSpc>
              <a:spcBef>
                <a:spcPts val="0"/>
              </a:spcBef>
              <a:spcAft>
                <a:spcPts val="100"/>
              </a:spcAft>
              <a:buNone/>
            </a:pPr>
            <a:r>
              <a:rPr lang="ja-JP" sz="1500" b="0" i="0" dirty="0">
                <a:solidFill>
                  <a:srgbClr val="000000"/>
                </a:solidFill>
                <a:latin typeface="游ゴシック"/>
                <a:ea typeface="游ゴシック"/>
                <a:cs typeface="游ゴシック"/>
              </a:rPr>
              <a:t>[2] D. A. Hudson and C. D. Manning, “GQA: A New Dataset for Real-World Visual Reasoning and Compositional Question Answering,” in Proc. </a:t>
            </a:r>
            <a:r>
              <a:rPr lang="ja-JP" sz="1500" b="0" i="1" dirty="0">
                <a:solidFill>
                  <a:srgbClr val="000000"/>
                </a:solidFill>
                <a:latin typeface="游ゴシック"/>
                <a:ea typeface="游ゴシック"/>
                <a:cs typeface="游ゴシック"/>
              </a:rPr>
              <a:t>IEEE/CVF CVPR</a:t>
            </a:r>
            <a:r>
              <a:rPr lang="ja-JP" sz="1500" b="0" i="0" dirty="0">
                <a:solidFill>
                  <a:srgbClr val="000000"/>
                </a:solidFill>
                <a:latin typeface="游ゴシック"/>
                <a:ea typeface="游ゴシック"/>
                <a:cs typeface="游ゴシック"/>
              </a:rPr>
              <a:t>, 2019.</a:t>
            </a:r>
            <a:endParaRPr lang="ja-JP" sz="1500" dirty="0"/>
          </a:p>
          <a:p>
            <a:pPr algn="l" marL="0" indent="0">
              <a:lnSpc>
                <a:spcPts val="1724"/>
              </a:lnSpc>
              <a:spcBef>
                <a:spcPts val="0"/>
              </a:spcBef>
              <a:spcAft>
                <a:spcPts val="100"/>
              </a:spcAft>
              <a:buNone/>
            </a:pPr>
            <a:r>
              <a:rPr lang="ja-JP" sz="1500" b="0" i="0" dirty="0">
                <a:solidFill>
                  <a:srgbClr val="000000"/>
                </a:solidFill>
                <a:latin typeface="游ゴシック"/>
                <a:ea typeface="游ゴシック"/>
                <a:cs typeface="游ゴシック"/>
              </a:rPr>
              <a:t>[3] P. Khosla </a:t>
            </a:r>
            <a:r>
              <a:rPr lang="ja-JP" sz="1500" b="0" i="1" dirty="0">
                <a:solidFill>
                  <a:srgbClr val="000000"/>
                </a:solidFill>
                <a:latin typeface="游ゴシック"/>
                <a:ea typeface="游ゴシック"/>
                <a:cs typeface="游ゴシック"/>
              </a:rPr>
              <a:t>et al.</a:t>
            </a:r>
            <a:r>
              <a:rPr lang="ja-JP" sz="1500" b="0" i="0" dirty="0">
                <a:solidFill>
                  <a:srgbClr val="000000"/>
                </a:solidFill>
                <a:latin typeface="游ゴシック"/>
                <a:ea typeface="游ゴシック"/>
                <a:cs typeface="游ゴシック"/>
              </a:rPr>
              <a:t>, “Supervised Contrastive Learning,” in Proc. </a:t>
            </a:r>
            <a:r>
              <a:rPr lang="ja-JP" sz="1500" b="0" i="1" dirty="0">
                <a:solidFill>
                  <a:srgbClr val="000000"/>
                </a:solidFill>
                <a:latin typeface="游ゴシック"/>
                <a:ea typeface="游ゴシック"/>
                <a:cs typeface="游ゴシック"/>
              </a:rPr>
              <a:t>NeurIPS</a:t>
            </a:r>
            <a:r>
              <a:rPr lang="ja-JP" sz="1500" b="0" i="0" dirty="0">
                <a:solidFill>
                  <a:srgbClr val="000000"/>
                </a:solidFill>
                <a:latin typeface="游ゴシック"/>
                <a:ea typeface="游ゴシック"/>
                <a:cs typeface="游ゴシック"/>
              </a:rPr>
              <a:t>, 2020.</a:t>
            </a:r>
            <a:endParaRPr lang="ja-JP" sz="1500" dirty="0"/>
          </a:p>
          <a:p>
            <a:pPr algn="l" marL="0" indent="0">
              <a:lnSpc>
                <a:spcPts val="1724"/>
              </a:lnSpc>
              <a:spcBef>
                <a:spcPts val="0"/>
              </a:spcBef>
              <a:spcAft>
                <a:spcPts val="100"/>
              </a:spcAft>
              <a:buNone/>
            </a:pPr>
            <a:r>
              <a:rPr lang="ja-JP" sz="1500" b="0" i="0" dirty="0">
                <a:solidFill>
                  <a:srgbClr val="000000"/>
                </a:solidFill>
                <a:latin typeface="游ゴシック"/>
                <a:ea typeface="游ゴシック"/>
                <a:cs typeface="游ゴシック"/>
              </a:rPr>
              <a:t>[4] A. Marafioti </a:t>
            </a:r>
            <a:r>
              <a:rPr lang="ja-JP" sz="1500" b="0" i="1" dirty="0">
                <a:solidFill>
                  <a:srgbClr val="000000"/>
                </a:solidFill>
                <a:latin typeface="游ゴシック"/>
                <a:ea typeface="游ゴシック"/>
                <a:cs typeface="游ゴシック"/>
              </a:rPr>
              <a:t>et al.</a:t>
            </a:r>
            <a:r>
              <a:rPr lang="ja-JP" sz="1500" b="0" i="0" dirty="0">
                <a:solidFill>
                  <a:srgbClr val="000000"/>
                </a:solidFill>
                <a:latin typeface="游ゴシック"/>
                <a:ea typeface="游ゴシック"/>
                <a:cs typeface="游ゴシック"/>
              </a:rPr>
              <a:t>, “SmolVLM: Redefining Small and Efficient Multimodal Models,” arXiv:2504.05299, 2025.</a:t>
            </a:r>
            <a:endParaRPr lang="ja-JP"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游ゴシック"/>
        <a:ea typeface="游ゴシック"/>
        <a:cs typeface=""/>
        <a:font script="Jpan" typeface="游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游ゴシック"/>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Application>Microsoft Office PowerPoint</Application>
  <PresentationFormat>ユーザー設定</PresentationFormat>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Arial</vt:lpstr>
      <vt:lpstr>Cambria Math</vt:lpstr>
      <vt:lpstr>Office Theme</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友晴 中野</cp:lastModifiedBy>
  <cp:revision>1</cp:revision>
  <dcterms:created xsi:type="dcterms:W3CDTF">2026-10-29T09:21:56Z</dcterms:created>
  <dcterms:modified xsi:type="dcterms:W3CDTF">2026-10-29T12:00:00Z</dcterms:modified>
  <dc:creator>友晴 中野</dc:creator>
</cp:coreProperties>
</file>