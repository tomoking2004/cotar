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lang="ja-JP">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lang="ja-JP">
                <a:solidFill>
                  <a:srgbClr val="595959"/>
                </a:solidFill>
              </a:defRPr>
            </a:pPr>
          </a:p>
        </c:txPr>
        <c:crossAx val="2068027336"/>
        <c:crosses val="autoZero"/>
        <c:majorUnit val="25.0"/>
      </c:valAx>
    </c:plotArea>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lang="ja-JP">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lang="ja-JP">
                <a:solidFill>
                  <a:srgbClr val="595959"/>
                </a:solidFill>
              </a:defRPr>
            </a:pPr>
          </a:p>
        </c:txPr>
        <c:crossAx val="2068027336"/>
        <c:crosses val="autoZero"/>
        <c:majorUnit val="0.1"/>
      </c:valAx>
    </c:plotArea>
    <c:legend>
      <c:legendPos val="t"/>
      <c:overlay val="0"/>
      <c:txPr>
        <a:bodyPr/>
        <a:lstStyle/>
        <a:p>
          <a:pPr>
            <a:defRPr sz="2400" lang="ja-JP">
              <a:latin typeface="游ゴシック"/>
            </a:defRPr>
          </a:pPr>
        </a:p>
      </c:txPr>
    </c:legend>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lang="ja-JP"/>
                  <a:t>第16層の比（%）</a:t>
                </a:r>
              </a:p>
            </c:rich>
          </c:tx>
          <c:layout/>
          <c:overlay val="0"/>
        </c:title>
        <c:majorTickMark val="out"/>
        <c:minorTickMark val="none"/>
        <c:tickLblPos val="nextTo"/>
        <c:spPr>
          <a:ln>
            <a:noFill/>
          </a:ln>
        </c:spPr>
        <c:txPr>
          <a:bodyPr/>
          <a:lstStyle/>
          <a:p>
            <a:pPr>
              <a:defRPr sz="2000" lang="ja-JP">
                <a:solidFill>
                  <a:srgbClr val="595959"/>
                </a:solidFill>
              </a:defRPr>
            </a:pPr>
          </a:p>
        </c:txPr>
        <c:crossAx val="2068027336"/>
        <c:crosses val="autoZero"/>
        <c:majorUnit val="10.0"/>
      </c:valAx>
    </c:plotArea>
    <c:legend>
      <c:legendPos val="t"/>
      <c:overlay val="0"/>
      <c:txPr>
        <a:bodyPr/>
        <a:lstStyle/>
        <a:p>
          <a:pPr>
            <a:defRPr sz="2000" lang="ja-JP">
              <a:latin typeface="游ゴシック"/>
            </a:defRPr>
          </a:pPr>
        </a:p>
      </c:txPr>
    </c:legend>
    <c:dispBlanksAs val="gap"/>
  </c:chart>
  <c:txPr>
    <a:bodyPr/>
    <a:lstStyle/>
    <a:p>
      <a:pPr>
        <a:defRPr sz="2000" lang="ja-JP">
          <a:latin typeface="游ゴシック"/>
          <a:ea typeface="游ゴシック"/>
        </a:defRPr>
      </a:pPr>
      <a:endParaRPr lang="ja-JP"/>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ja-JP" smtClean="0"/>
              <a:t>Click to edit Master title style</a:t>
            </a:r>
            <a:endParaRPr lang="ja-JP"/>
          </a:p>
        </p:txBody>
      </p:sp>
      <p:sp>
        <p:nvSpPr>
          <p:cNvPr id="3" name="Subtitle 2"/>
          <p:cNvSpPr>
            <a:spLocks noGrp="1"/>
          </p:cNvSpPr>
          <p:nvPr>
            <p:ph type="subTitle" idx="1"/>
          </p:nvPr>
        </p:nvSpPr>
        <p:spPr>
          <a:xfrm>
            <a:off x="1371600" y="3886200"/>
            <a:ext cx="6400800" cy="1752600"/>
          </a:xfrm>
        </p:spPr>
        <p:txBody>
          <a:bodyPr/>
          <a:lstStyle>
            <a:lvl1pPr marL="0" indent="0" algn="ctr">
              <a:buNone/>
              <a:defRPr lang="ja-JP">
                <a:solidFill>
                  <a:schemeClr val="tx1">
                    <a:tint val="75000"/>
                  </a:schemeClr>
                </a:solidFill>
              </a:defRPr>
            </a:lvl1pPr>
            <a:lvl2pPr marL="457200" indent="0" algn="ctr">
              <a:buNone/>
              <a:defRPr lang="ja-JP">
                <a:solidFill>
                  <a:schemeClr val="tx1">
                    <a:tint val="75000"/>
                  </a:schemeClr>
                </a:solidFill>
              </a:defRPr>
            </a:lvl2pPr>
            <a:lvl3pPr marL="914400" indent="0" algn="ctr">
              <a:buNone/>
              <a:defRPr lang="ja-JP">
                <a:solidFill>
                  <a:schemeClr val="tx1">
                    <a:tint val="75000"/>
                  </a:schemeClr>
                </a:solidFill>
              </a:defRPr>
            </a:lvl3pPr>
            <a:lvl4pPr marL="1371600" indent="0" algn="ctr">
              <a:buNone/>
              <a:defRPr lang="ja-JP">
                <a:solidFill>
                  <a:schemeClr val="tx1">
                    <a:tint val="75000"/>
                  </a:schemeClr>
                </a:solidFill>
              </a:defRPr>
            </a:lvl4pPr>
            <a:lvl5pPr marL="1828800" indent="0" algn="ctr">
              <a:buNone/>
              <a:defRPr lang="ja-JP">
                <a:solidFill>
                  <a:schemeClr val="tx1">
                    <a:tint val="75000"/>
                  </a:schemeClr>
                </a:solidFill>
              </a:defRPr>
            </a:lvl5pPr>
            <a:lvl6pPr marL="2286000" indent="0" algn="ctr">
              <a:buNone/>
              <a:defRPr lang="ja-JP">
                <a:solidFill>
                  <a:schemeClr val="tx1">
                    <a:tint val="75000"/>
                  </a:schemeClr>
                </a:solidFill>
              </a:defRPr>
            </a:lvl6pPr>
            <a:lvl7pPr marL="2743200" indent="0" algn="ctr">
              <a:buNone/>
              <a:defRPr lang="ja-JP">
                <a:solidFill>
                  <a:schemeClr val="tx1">
                    <a:tint val="75000"/>
                  </a:schemeClr>
                </a:solidFill>
              </a:defRPr>
            </a:lvl7pPr>
            <a:lvl8pPr marL="3200400" indent="0" algn="ctr">
              <a:buNone/>
              <a:defRPr lang="ja-JP">
                <a:solidFill>
                  <a:schemeClr val="tx1">
                    <a:tint val="75000"/>
                  </a:schemeClr>
                </a:solidFill>
              </a:defRPr>
            </a:lvl8pPr>
            <a:lvl9pPr marL="3657600" indent="0" algn="ctr">
              <a:buNone/>
              <a:defRPr lang="ja-JP">
                <a:solidFill>
                  <a:schemeClr val="tx1">
                    <a:tint val="75000"/>
                  </a:schemeClr>
                </a:solidFill>
              </a:defRPr>
            </a:lvl9pPr>
          </a:lstStyle>
          <a:p>
            <a:r>
              <a:rPr lang="ja-JP" smtClean="0"/>
              <a:t>Click to edit Master subtitle style</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idx="1"/>
          </p:nvPr>
        </p:nvSpPr>
        <p:spPr/>
        <p:txBody>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lang="ja-JP"/>
            </a:lvl1pPr>
          </a:lstStyle>
          <a:p>
            <a:r>
              <a:rPr lang="ja-JP" smtClean="0"/>
              <a:t>Click to edit Master title style</a:t>
            </a:r>
            <a:endParaRPr lang="ja-JP"/>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lang="ja-JP">
                <a:solidFill>
                  <a:schemeClr val="tx1">
                    <a:tint val="75000"/>
                  </a:schemeClr>
                </a:solidFill>
              </a:defRPr>
            </a:lvl1pPr>
            <a:lvl2pPr marL="457200" indent="0">
              <a:buNone/>
              <a:defRPr sz="1800" lang="ja-JP">
                <a:solidFill>
                  <a:schemeClr val="tx1">
                    <a:tint val="75000"/>
                  </a:schemeClr>
                </a:solidFill>
              </a:defRPr>
            </a:lvl2pPr>
            <a:lvl3pPr marL="914400" indent="0">
              <a:buNone/>
              <a:defRPr sz="1600" lang="ja-JP">
                <a:solidFill>
                  <a:schemeClr val="tx1">
                    <a:tint val="75000"/>
                  </a:schemeClr>
                </a:solidFill>
              </a:defRPr>
            </a:lvl3pPr>
            <a:lvl4pPr marL="1371600" indent="0">
              <a:buNone/>
              <a:defRPr sz="1400" lang="ja-JP">
                <a:solidFill>
                  <a:schemeClr val="tx1">
                    <a:tint val="75000"/>
                  </a:schemeClr>
                </a:solidFill>
              </a:defRPr>
            </a:lvl4pPr>
            <a:lvl5pPr marL="1828800" indent="0">
              <a:buNone/>
              <a:defRPr sz="1400" lang="ja-JP">
                <a:solidFill>
                  <a:schemeClr val="tx1">
                    <a:tint val="75000"/>
                  </a:schemeClr>
                </a:solidFill>
              </a:defRPr>
            </a:lvl5pPr>
            <a:lvl6pPr marL="2286000" indent="0">
              <a:buNone/>
              <a:defRPr sz="1400" lang="ja-JP">
                <a:solidFill>
                  <a:schemeClr val="tx1">
                    <a:tint val="75000"/>
                  </a:schemeClr>
                </a:solidFill>
              </a:defRPr>
            </a:lvl6pPr>
            <a:lvl7pPr marL="2743200" indent="0">
              <a:buNone/>
              <a:defRPr sz="1400" lang="ja-JP">
                <a:solidFill>
                  <a:schemeClr val="tx1">
                    <a:tint val="75000"/>
                  </a:schemeClr>
                </a:solidFill>
              </a:defRPr>
            </a:lvl7pPr>
            <a:lvl8pPr marL="3200400" indent="0">
              <a:buNone/>
              <a:defRPr sz="1400" lang="ja-JP">
                <a:solidFill>
                  <a:schemeClr val="tx1">
                    <a:tint val="75000"/>
                  </a:schemeClr>
                </a:solidFill>
              </a:defRPr>
            </a:lvl8pPr>
            <a:lvl9pPr marL="3657600" indent="0">
              <a:buNone/>
              <a:defRPr sz="1400" lang="ja-JP">
                <a:solidFill>
                  <a:schemeClr val="tx1">
                    <a:tint val="75000"/>
                  </a:schemeClr>
                </a:solidFill>
              </a:defRPr>
            </a:lvl9pPr>
          </a:lstStyle>
          <a:p>
            <a:pPr lvl="0"/>
            <a:r>
              <a:rPr lang="ja-JP"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sz="half" idx="1"/>
          </p:nvPr>
        </p:nvSpPr>
        <p:spPr>
          <a:xfrm>
            <a:off x="457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Content Placeholder 3"/>
          <p:cNvSpPr>
            <a:spLocks noGrp="1"/>
          </p:cNvSpPr>
          <p:nvPr>
            <p:ph sz="half" idx="2"/>
          </p:nvPr>
        </p:nvSpPr>
        <p:spPr>
          <a:xfrm>
            <a:off x="4648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lang="ja-JP"/>
            </a:lvl1pPr>
          </a:lstStyle>
          <a:p>
            <a:r>
              <a:rPr lang="ja-JP" smtClean="0"/>
              <a:t>Click to edit Master title style</a:t>
            </a:r>
            <a:endParaRPr lang="ja-JP"/>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7" name="Date Placeholder 6"/>
          <p:cNvSpPr>
            <a:spLocks noGrp="1"/>
          </p:cNvSpPr>
          <p:nvPr>
            <p:ph type="dt" sz="half" idx="10"/>
          </p:nvPr>
        </p:nvSpPr>
        <p:spPr/>
        <p:txBody>
          <a:bodyPr/>
          <a:lstStyle/>
          <a:p>
            <a:fld id="{5BCAD085-E8A6-8845-BD4E-CB4CCA059FC4}" type="datetimeFigureOut">
              <a:rPr lang="ja-JP" smtClean="0"/>
              <a:t>1/27/13</a:t>
            </a:fld>
            <a:endParaRPr lang="ja-JP"/>
          </a:p>
        </p:txBody>
      </p:sp>
      <p:sp>
        <p:nvSpPr>
          <p:cNvPr id="8" name="Footer Placeholder 7"/>
          <p:cNvSpPr>
            <a:spLocks noGrp="1"/>
          </p:cNvSpPr>
          <p:nvPr>
            <p:ph type="ftr" sz="quarter" idx="11"/>
          </p:nvPr>
        </p:nvSpPr>
        <p:spPr/>
        <p:txBody>
          <a:bodyPr/>
          <a:lstStyle/>
          <a:p>
            <a:endParaRPr lang="ja-JP"/>
          </a:p>
        </p:txBody>
      </p:sp>
      <p:sp>
        <p:nvSpPr>
          <p:cNvPr id="9" name="Slide Number Placeholder 8"/>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Date Placeholder 2"/>
          <p:cNvSpPr>
            <a:spLocks noGrp="1"/>
          </p:cNvSpPr>
          <p:nvPr>
            <p:ph type="dt" sz="half" idx="10"/>
          </p:nvPr>
        </p:nvSpPr>
        <p:spPr/>
        <p:txBody>
          <a:bodyPr/>
          <a:lstStyle/>
          <a:p>
            <a:fld id="{5BCAD085-E8A6-8845-BD4E-CB4CCA059FC4}" type="datetimeFigureOut">
              <a:rPr lang="ja-JP" smtClean="0"/>
              <a:t>1/27/13</a:t>
            </a:fld>
            <a:endParaRPr lang="ja-JP"/>
          </a:p>
        </p:txBody>
      </p:sp>
      <p:sp>
        <p:nvSpPr>
          <p:cNvPr id="4" name="Footer Placeholder 3"/>
          <p:cNvSpPr>
            <a:spLocks noGrp="1"/>
          </p:cNvSpPr>
          <p:nvPr>
            <p:ph type="ftr" sz="quarter" idx="11"/>
          </p:nvPr>
        </p:nvSpPr>
        <p:spPr/>
        <p:txBody>
          <a:bodyPr/>
          <a:lstStyle/>
          <a:p>
            <a:endParaRPr lang="ja-JP"/>
          </a:p>
        </p:txBody>
      </p:sp>
      <p:sp>
        <p:nvSpPr>
          <p:cNvPr id="5" name="Slide Number Placeholder 4"/>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ja-JP" smtClean="0"/>
              <a:t>1/27/13</a:t>
            </a:fld>
            <a:endParaRPr lang="ja-JP"/>
          </a:p>
        </p:txBody>
      </p:sp>
      <p:sp>
        <p:nvSpPr>
          <p:cNvPr id="3" name="Footer Placeholder 2"/>
          <p:cNvSpPr>
            <a:spLocks noGrp="1"/>
          </p:cNvSpPr>
          <p:nvPr>
            <p:ph type="ftr" sz="quarter" idx="11"/>
          </p:nvPr>
        </p:nvSpPr>
        <p:spPr/>
        <p:txBody>
          <a:bodyPr/>
          <a:lstStyle/>
          <a:p>
            <a:endParaRPr lang="ja-JP"/>
          </a:p>
        </p:txBody>
      </p:sp>
      <p:sp>
        <p:nvSpPr>
          <p:cNvPr id="4" name="Slide Number Placeholder 3"/>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lang="ja-JP"/>
            </a:lvl1pPr>
          </a:lstStyle>
          <a:p>
            <a:r>
              <a:rPr lang="ja-JP" smtClean="0"/>
              <a:t>Click to edit Master title style</a:t>
            </a:r>
            <a:endParaRPr lang="ja-JP"/>
          </a:p>
        </p:txBody>
      </p:sp>
      <p:sp>
        <p:nvSpPr>
          <p:cNvPr id="3" name="Content Placeholder 2"/>
          <p:cNvSpPr>
            <a:spLocks noGrp="1"/>
          </p:cNvSpPr>
          <p:nvPr>
            <p:ph idx="1"/>
          </p:nvPr>
        </p:nvSpPr>
        <p:spPr>
          <a:xfrm>
            <a:off x="3575050" y="273050"/>
            <a:ext cx="5111750" cy="5853113"/>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lang="ja-JP"/>
            </a:lvl1pPr>
          </a:lstStyle>
          <a:p>
            <a:r>
              <a:rPr lang="ja-JP" smtClean="0"/>
              <a:t>Click to edit Master title style</a:t>
            </a:r>
            <a:endParaRPr lang="ja-JP"/>
          </a:p>
        </p:txBody>
      </p:sp>
      <p:sp>
        <p:nvSpPr>
          <p:cNvPr id="3" name="Picture Placeholder 2"/>
          <p:cNvSpPr>
            <a:spLocks noGrp="1"/>
          </p:cNvSpPr>
          <p:nvPr>
            <p:ph type="pic" idx="1"/>
          </p:nvPr>
        </p:nvSpPr>
        <p:spPr>
          <a:xfrm>
            <a:off x="1792288" y="612775"/>
            <a:ext cx="5486400" cy="4114800"/>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lang="ja-JP"/>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Vertical Text Placeholder 2"/>
          <p:cNvSpPr>
            <a:spLocks noGrp="1"/>
          </p:cNvSpPr>
          <p:nvPr>
            <p:ph type="body" orient="vert" idx="1"/>
          </p:nvPr>
        </p:nvSpPr>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ja-JP" smtClean="0"/>
              <a:t>Click to edit Master title style</a:t>
            </a:r>
            <a:endParaRPr lang="ja-JP"/>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ja-JP" smtClean="0"/>
              <a:t>Click to edit Master title style</a:t>
            </a:r>
            <a:endParaRPr lang="ja-JP"/>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ja-JP">
                <a:solidFill>
                  <a:schemeClr val="tx1">
                    <a:tint val="75000"/>
                  </a:schemeClr>
                </a:solidFill>
              </a:defRPr>
            </a:lvl1pPr>
          </a:lstStyle>
          <a:p>
            <a:fld id="{5BCAD085-E8A6-8845-BD4E-CB4CCA059FC4}" type="datetimeFigureOut">
              <a:rPr lang="ja-JP" smtClean="0"/>
              <a:t>1/27/13</a:t>
            </a:fld>
            <a:endParaRPr lang="ja-JP"/>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ja-JP">
                <a:solidFill>
                  <a:schemeClr val="tx1">
                    <a:tint val="75000"/>
                  </a:schemeClr>
                </a:solidFill>
              </a:defRPr>
            </a:lvl1pPr>
          </a:lstStyle>
          <a:p>
            <a:endParaRPr lang="ja-JP"/>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ja-JP">
                <a:solidFill>
                  <a:schemeClr val="tx1">
                    <a:tint val="75000"/>
                  </a:schemeClr>
                </a:solidFill>
              </a:defRPr>
            </a:lvl1pPr>
          </a:lstStyle>
          <a:p>
            <a:fld id="{C1FF6DA9-008F-8B48-92A6-B652298478BF}" type="slidenum">
              <a:rPr lang="ja-JP" smtClean="0"/>
              <a:t>‹#›</a:t>
            </a:fld>
            <a:endParaRPr lang="ja-JP"/>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lang="ja-JP">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ja-JP">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ja-JP">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ja-JP">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9pPr>
    </p:bodyStyle>
    <p:other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lang="ja-JP">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lang="ja-JP">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lang="ja-JP">
                <a:solidFill>
                  <a:srgbClr val="000000"/>
                </a:solidFill>
                <a:latin typeface="游ゴシック"/>
                <a:ea typeface="游ゴシック"/>
                <a:cs typeface="游ゴシック"/>
              </a:rPr>
              <a:t>中野 友晴</a:t>
            </a:r>
            <a:r>
              <a:rPr sz="3800" b="0" i="0" lang="ja-JP">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lang="ja-JP">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lang="ja-JP">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① </a:t>
            </a:r>
            <a:r>
              <a:rPr sz="3200" b="1" i="0" lang="ja-JP">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lang="ja-JP">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② </a:t>
            </a:r>
            <a:r>
              <a:rPr sz="3200" b="1" i="0" lang="ja-JP">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lang="ja-JP">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③ </a:t>
            </a:r>
            <a:r>
              <a:rPr sz="3200" b="1" i="0" lang="ja-JP">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lang="ja-JP">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lang="ja-JP">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lang="ja-JP">
                <a:solidFill>
                  <a:srgbClr val="000000"/>
                </a:solidFill>
                <a:latin typeface="游ゴシック"/>
                <a:ea typeface="游ゴシック"/>
                <a:cs typeface="游ゴシック"/>
              </a:rPr>
              <a:t>Waniら[1]　</a:t>
            </a:r>
            <a:r>
              <a:rPr sz="3600" b="0" i="0" lang="ja-JP">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lang="ja-JP">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625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841553"/>
            <a:ext cx="12876000" cy="1673457"/>
          </a:xfrm>
          <a:prstGeom prst="rect">
            <a:avLst/>
          </a:prstGeom>
          <a:noFill/>
        </p:spPr>
        <p:txBody>
          <a:bodyPr wrap="square" lIns="0" tIns="0" rIns="0" bIns="0" anchor="ctr"/>
          <a:lstStyle/>
          <a:p>
            <a:pPr marL="0" indent="0">
              <a:lnSpc>
                <a:spcPts val="4392"/>
              </a:lnSpc>
              <a:spcAft>
                <a:spcPts val="0"/>
              </a:spcAft>
              <a:buNone/>
            </a:pPr>
            <a:r>
              <a:rPr sz="3600" b="1" i="0" lang="ja-JP">
                <a:solidFill>
                  <a:srgbClr val="70AD47"/>
                </a:solidFill>
                <a:latin typeface="游ゴシック"/>
                <a:ea typeface="游ゴシック"/>
                <a:cs typeface="游ゴシック"/>
              </a:rPr>
              <a:t>仮説　</a:t>
            </a:r>
            <a:r>
              <a:rPr sz="3600" b="1" i="0" lang="ja-JP">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4271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427101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5315011"/>
            <a:ext cx="13308000" cy="3784753"/>
          </a:xfrm>
          <a:prstGeom prst="rect">
            <a:avLst/>
          </a:prstGeom>
        </p:spPr>
      </p:pic>
      <p:sp>
        <p:nvSpPr>
          <p:cNvPr id="24" name="TextBox 23"/>
          <p:cNvSpPr txBox="1"/>
          <p:nvPr/>
        </p:nvSpPr>
        <p:spPr>
          <a:xfrm>
            <a:off x="792000" y="1917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lang="ja-JP">
                <a:solidFill>
                  <a:srgbClr val="000000"/>
                </a:solidFill>
                <a:latin typeface="游ゴシック"/>
                <a:ea typeface="游ゴシック"/>
                <a:cs typeface="游ゴシック"/>
              </a:rPr>
              <a:t>図1　提案手法の概要（予稿の図1）</a:t>
            </a:r>
          </a:p>
        </p:txBody>
      </p:sp>
      <p:sp>
        <p:nvSpPr>
          <p:cNvPr id="25" name="TextBox 24"/>
          <p:cNvSpPr txBox="1"/>
          <p:nvPr/>
        </p:nvSpPr>
        <p:spPr>
          <a:xfrm>
            <a:off x="792000" y="20093436"/>
            <a:ext cx="13308000" cy="1724261"/>
          </a:xfrm>
          <a:prstGeom prst="rect">
            <a:avLst/>
          </a:prstGeom>
          <a:noFill/>
        </p:spPr>
        <p:txBody>
          <a:bodyPr wrap="square" lIns="0" tIns="0" rIns="0" bIns="0" anchor="t"/>
          <a:lstStyle/>
          <a:p>
            <a:pPr marL="0" indent="0">
              <a:lnSpc>
                <a:spcPts val="4392"/>
              </a:lnSpc>
              <a:spcAft>
                <a:spcPts val="400"/>
              </a:spcAft>
              <a:buNone/>
            </a:pPr>
            <a:r>
              <a:rPr sz="3600" b="1" i="0" lang="ja-JP">
                <a:solidFill>
                  <a:srgbClr val="000000"/>
                </a:solidFill>
                <a:latin typeface="游ゴシック"/>
                <a:ea typeface="游ゴシック"/>
                <a:cs typeface="游ゴシック"/>
              </a:rPr>
              <a:t>タスク署名　</a:t>
            </a:r>
            <a:r>
              <a:rPr sz="3600" b="0" i="0" lang="ja-JP">
                <a:solidFill>
                  <a:srgbClr val="000000"/>
                </a:solidFill>
                <a:latin typeface="游ゴシック"/>
                <a:ea typeface="游ゴシック"/>
                <a:cs typeface="游ゴシック"/>
              </a:rPr>
              <a:t>GQA[3]の各質問に付く回答の手順（functional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2321697"/>
          <a:ext cx="13308000" cy="3312000"/>
        </p:xfrm>
        <a:graphic>
          <a:graphicData uri="http://schemas.openxmlformats.org/drawingml/2006/table">
            <a:tbl>
              <a:tblPr firstRow="1" bandRow="0">
                <a:tableStyleId>{5C22544A-7EE6-4342-B048-85BDC9FD1C3A}</a:tableStyleId>
              </a:tblPr>
              <a:tblGrid>
                <a:gridCol w="7053240"/>
                <a:gridCol w="6254760"/>
              </a:tblGrid>
              <a:tr h="828000">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タスク署名</a:t>
                      </a:r>
                    </a:p>
                  </a:txBody>
                  <a:tcPr anchor="ctr" marL="86400" marR="86400" marT="0" marB="0">
                    <a:solidFill>
                      <a:srgbClr val="70AD47"/>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6245697"/>
            <a:ext cx="13308000" cy="2645831"/>
          </a:xfrm>
          <a:prstGeom prst="rect">
            <a:avLst/>
          </a:prstGeom>
          <a:noFill/>
        </p:spPr>
        <p:txBody>
          <a:bodyPr wrap="square" lIns="0" tIns="0" rIns="0" bIns="0" anchor="t"/>
          <a:lstStyle/>
          <a:p>
            <a:pPr marL="0" indent="0">
              <a:lnSpc>
                <a:spcPts val="4392"/>
              </a:lnSpc>
              <a:spcAft>
                <a:spcPts val="600"/>
              </a:spcAft>
              <a:buNone/>
            </a:pPr>
            <a:r>
              <a:rPr sz="3600" b="1" i="0" lang="ja-JP">
                <a:solidFill>
                  <a:srgbClr val="000000"/>
                </a:solidFill>
                <a:latin typeface="游ゴシック"/>
                <a:ea typeface="游ゴシック"/>
                <a:cs typeface="游ゴシック"/>
              </a:rPr>
              <a:t>学習　</a:t>
            </a:r>
            <a:r>
              <a:rPr sz="3600" b="0" i="0" lang="ja-JP">
                <a:solidFill>
                  <a:srgbClr val="000000"/>
                </a:solidFill>
                <a:latin typeface="Cambria Math"/>
                <a:ea typeface="Cambria Math"/>
                <a:cs typeface="Cambria Math"/>
              </a:rPr>
              <a:t>ℒ = ℒ</a:t>
            </a:r>
            <a:r>
              <a:rPr sz="3600" b="0" i="0" lang="ja-JP" baseline="-25000">
                <a:solidFill>
                  <a:srgbClr val="000000"/>
                </a:solidFill>
                <a:latin typeface="Cambria Math"/>
                <a:ea typeface="Cambria Math"/>
                <a:cs typeface="Cambria Math"/>
              </a:rPr>
              <a:t>LM</a:t>
            </a:r>
            <a:r>
              <a:rPr sz="3600" b="0" i="0" lang="ja-JP">
                <a:solidFill>
                  <a:srgbClr val="000000"/>
                </a:solidFill>
                <a:latin typeface="Cambria Math"/>
                <a:ea typeface="Cambria Math"/>
                <a:cs typeface="Cambria Math"/>
              </a:rPr>
              <a:t> + 𝜆ℒ</a:t>
            </a:r>
            <a:r>
              <a:rPr sz="3600" b="0" i="0" lang="ja-JP" baseline="-25000">
                <a:solidFill>
                  <a:srgbClr val="000000"/>
                </a:solidFill>
                <a:latin typeface="Cambria Math"/>
                <a:ea typeface="Cambria Math"/>
                <a:cs typeface="Cambria Math"/>
              </a:rPr>
              <a:t>align</a:t>
            </a:r>
            <a:r>
              <a:rPr sz="3600" b="0" i="0" lang="ja-JP">
                <a:solidFill>
                  <a:srgbClr val="000000"/>
                </a:solidFill>
                <a:latin typeface="游ゴシック"/>
                <a:ea typeface="游ゴシック"/>
                <a:cs typeface="游ゴシック"/>
              </a:rPr>
              <a:t>，</a:t>
            </a:r>
            <a:r>
              <a:rPr sz="3600" b="0" i="0" lang="ja-JP">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整合損失</a:t>
            </a:r>
            <a:r>
              <a:rPr sz="3000" b="0" i="0" lang="ja-JP">
                <a:solidFill>
                  <a:srgbClr val="000000"/>
                </a:solidFill>
                <a:latin typeface="Cambria Math"/>
                <a:ea typeface="Cambria Math"/>
                <a:cs typeface="Cambria Math"/>
              </a:rPr>
              <a:t>ℒ</a:t>
            </a:r>
            <a:r>
              <a:rPr sz="3000" b="0" i="0" lang="ja-JP" baseline="-25000">
                <a:solidFill>
                  <a:srgbClr val="000000"/>
                </a:solidFill>
                <a:latin typeface="Cambria Math"/>
                <a:ea typeface="Cambria Math"/>
                <a:cs typeface="Cambria Math"/>
              </a:rPr>
              <a:t>align</a:t>
            </a:r>
            <a:r>
              <a:rPr sz="3000" b="0" i="0" lang="ja-JP">
                <a:solidFill>
                  <a:srgbClr val="000000"/>
                </a:solidFill>
                <a:latin typeface="游ゴシック"/>
                <a:ea typeface="游ゴシック"/>
                <a:cs typeface="游ゴシック"/>
              </a:rPr>
              <a:t>は，署名をクラスとする supervised contrastive loss[4]．射影を挟まず，第16層・入力末尾の内部表現</a:t>
            </a:r>
            <a:r>
              <a:rPr sz="3000" b="0" i="0" lang="ja-JP">
                <a:solidFill>
                  <a:srgbClr val="000000"/>
                </a:solidFill>
                <a:latin typeface="Cambria Math"/>
                <a:ea typeface="Cambria Math"/>
                <a:cs typeface="Cambria Math"/>
              </a:rPr>
              <a:t>𝒉</a:t>
            </a:r>
            <a:r>
              <a:rPr sz="3000" b="0" i="0" lang="ja-JP">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モデル　</a:t>
            </a:r>
            <a:r>
              <a:rPr sz="3000" b="0" i="0" lang="ja-JP">
                <a:solidFill>
                  <a:srgbClr val="000000"/>
                </a:solidFill>
                <a:latin typeface="游ゴシック"/>
                <a:ea typeface="游ゴシック"/>
                <a:cs typeface="游ゴシック"/>
              </a:rPr>
              <a:t>SmolVLM-500M-Instruct[2]</a:t>
            </a:r>
          </a:p>
          <a:p>
            <a:pPr marL="0" indent="0">
              <a:lnSpc>
                <a:spcPts val="3660"/>
              </a:lnSpc>
              <a:spcAft>
                <a:spcPts val="200"/>
              </a:spcAft>
              <a:buNone/>
            </a:pPr>
            <a:r>
              <a:rPr sz="3000" b="1" i="0" lang="ja-JP">
                <a:solidFill>
                  <a:srgbClr val="000000"/>
                </a:solidFill>
                <a:latin typeface="游ゴシック"/>
                <a:ea typeface="游ゴシック"/>
                <a:cs typeface="游ゴシック"/>
              </a:rPr>
              <a:t>学習　</a:t>
            </a:r>
            <a:r>
              <a:rPr sz="3000" b="0" i="0" lang="ja-JP">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lang="ja-JP">
                <a:solidFill>
                  <a:srgbClr val="000000"/>
                </a:solidFill>
                <a:latin typeface="游ゴシック"/>
                <a:ea typeface="游ゴシック"/>
                <a:cs typeface="游ゴシック"/>
              </a:rPr>
              <a:t>評価　</a:t>
            </a:r>
            <a:r>
              <a:rPr sz="3000" b="0" i="0" lang="ja-JP">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Cambria Math"/>
                          <a:ea typeface="Cambria Math"/>
                          <a:cs typeface="Cambria Math"/>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404040"/>
                </a:solidFill>
                <a:latin typeface="游ゴシック"/>
                <a:ea typeface="游ゴシック"/>
                <a:cs typeface="游ゴシック"/>
              </a:rPr>
              <a:t>3群 × 3乱数種 ＝ 9回学習し，3乱数種の平均を示す．ablation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lang="ja-JP">
                <a:solidFill>
                  <a:srgbClr val="C00000"/>
                </a:solidFill>
                <a:latin typeface="游ゴシック"/>
                <a:ea typeface="游ゴシック"/>
                <a:cs typeface="游ゴシック"/>
              </a:rPr>
              <a:t>+13.0pt</a:t>
            </a:r>
          </a:p>
          <a:p>
            <a:pPr marL="0" indent="0">
              <a:lnSpc>
                <a:spcPts val="3294"/>
              </a:lnSpc>
              <a:spcAft>
                <a:spcPts val="0"/>
              </a:spcAft>
              <a:buNone/>
            </a:pPr>
            <a:r>
              <a:rPr sz="2700" b="0" i="0" lang="ja-JP">
                <a:solidFill>
                  <a:srgbClr val="000000"/>
                </a:solidFill>
                <a:latin typeface="游ゴシック"/>
                <a:ea typeface="游ゴシック"/>
                <a:cs typeface="游ゴシック"/>
              </a:rPr>
              <a:t>署名を並べ替えると消え，質問文の語では説明できない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4.2　正解率（GQA公式の評価）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proposal − baseline は -0.06pt，95%信頼区間 [-1.81, +1.70]．0を含み，低下は最大でも1.81pt</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誤答した問でも，proposal では署名を96.4%読み取れる．誤りは署名の取り違えではない</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相対感度　</a:t>
            </a:r>
            <a:r>
              <a:rPr sz="3000" b="0" i="0" lang="ja-JP">
                <a:solidFill>
                  <a:srgbClr val="000000"/>
                </a:solidFill>
                <a:latin typeface="Cambria Math"/>
                <a:ea typeface="Cambria Math"/>
                <a:cs typeface="Cambria Math"/>
              </a:rPr>
              <a:t>𝑒 = ‖𝑱</a:t>
            </a:r>
            <a:r>
              <a:rPr sz="3000" b="0" i="0" lang="ja-JP" baseline="30000">
                <a:solidFill>
                  <a:srgbClr val="000000"/>
                </a:solidFill>
                <a:latin typeface="Cambria Math"/>
                <a:ea typeface="Cambria Math"/>
                <a:cs typeface="Cambria Math"/>
              </a:rPr>
              <a:t>⊤</a:t>
            </a:r>
            <a:r>
              <a:rPr sz="3000" b="0" i="0" lang="ja-JP">
                <a:solidFill>
                  <a:srgbClr val="000000"/>
                </a:solidFill>
                <a:latin typeface="Cambria Math"/>
                <a:ea typeface="Cambria Math"/>
                <a:cs typeface="Cambria Math"/>
              </a:rPr>
              <a:t>𝒖‖‖𝒉‖ ∕ ‖𝒓‖</a:t>
            </a:r>
          </a:p>
          <a:p>
            <a:pPr marL="0" indent="0">
              <a:lnSpc>
                <a:spcPts val="3294"/>
              </a:lnSpc>
              <a:spcAft>
                <a:spcPts val="200"/>
              </a:spcAft>
              <a:buNone/>
            </a:pPr>
            <a:r>
              <a:rPr sz="2700" b="0" i="0" lang="ja-JP">
                <a:solidFill>
                  <a:srgbClr val="404040"/>
                </a:solidFill>
                <a:latin typeface="Cambria Math"/>
                <a:ea typeface="Cambria Math"/>
                <a:cs typeface="Cambria Math"/>
              </a:rPr>
              <a:t>𝒉</a:t>
            </a:r>
            <a:r>
              <a:rPr sz="2700" b="0" i="0" lang="ja-JP">
                <a:solidFill>
                  <a:srgbClr val="404040"/>
                </a:solidFill>
                <a:latin typeface="游ゴシック"/>
                <a:ea typeface="游ゴシック"/>
                <a:cs typeface="游ゴシック"/>
              </a:rPr>
              <a:t>を1%動かしたとき，正規化した出力</a:t>
            </a:r>
            <a:r>
              <a:rPr sz="2700" b="0" i="0" lang="ja-JP">
                <a:solidFill>
                  <a:srgbClr val="404040"/>
                </a:solidFill>
                <a:latin typeface="Cambria Math"/>
                <a:ea typeface="Cambria Math"/>
                <a:cs typeface="Cambria Math"/>
              </a:rPr>
              <a:t>𝒓</a:t>
            </a:r>
            <a:r>
              <a:rPr sz="2700" b="0" i="0" lang="ja-JP">
                <a:solidFill>
                  <a:srgbClr val="404040"/>
                </a:solidFill>
                <a:latin typeface="游ゴシック"/>
                <a:ea typeface="游ゴシック"/>
                <a:cs typeface="游ゴシック"/>
              </a:rPr>
              <a:t>が回答を決める方向</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へ最大で何%動くか．</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は回答の候補の出力層の行の主成分（上位</a:t>
            </a:r>
            <a:r>
              <a:rPr sz="2700" b="0" i="0" lang="ja-JP">
                <a:solidFill>
                  <a:srgbClr val="404040"/>
                </a:solidFill>
                <a:latin typeface="Cambria Math"/>
                <a:ea typeface="Cambria Math"/>
                <a:cs typeface="Cambria Math"/>
              </a:rPr>
              <a:t>𝑚</a:t>
            </a:r>
            <a:r>
              <a:rPr sz="2700" b="0" i="0" lang="ja-JP">
                <a:solidFill>
                  <a:srgbClr val="404040"/>
                </a:solidFill>
                <a:latin typeface="游ゴシック"/>
                <a:ea typeface="游ゴシック"/>
                <a:cs typeface="游ゴシック"/>
              </a:rPr>
              <a:t>本），</a:t>
            </a:r>
            <a:r>
              <a:rPr sz="2700" b="0" i="0" lang="ja-JP">
                <a:solidFill>
                  <a:srgbClr val="404040"/>
                </a:solidFill>
                <a:latin typeface="Cambria Math"/>
                <a:ea typeface="Cambria Math"/>
                <a:cs typeface="Cambria Math"/>
              </a:rPr>
              <a:t>𝑱</a:t>
            </a:r>
            <a:r>
              <a:rPr sz="2700" b="0" i="0" lang="ja-JP">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C00000"/>
                </a:solidFill>
                <a:latin typeface="游ゴシック"/>
                <a:ea typeface="游ゴシック"/>
                <a:cs typeface="游ゴシック"/>
              </a:rPr>
              <a:t>proposal は baseline より18–28%低い</a:t>
            </a:r>
            <a:r>
              <a:rPr sz="2700" b="0" i="0" lang="ja-JP">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游ゴシック"/>
                <a:ea typeface="游ゴシック"/>
                <a:cs typeface="游ゴシック"/>
              </a:rPr>
              <a:t>予稿以降に測定．Waniら[1]の加工8族23通りを評価データの全問に施し，第16層の</a:t>
            </a: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の動き（コサイン距離）を3群で比べた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文字の重ね書き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lang="ja-JP">
                <a:solidFill>
                  <a:srgbClr val="595959"/>
                </a:solidFill>
                <a:latin typeface="游ゴシック"/>
                <a:ea typeface="游ゴシック"/>
                <a:cs typeface="游ゴシック"/>
              </a:rPr>
              <a:t>評価データの問「Who is wearing the dress?」に，測定で施した加工（画像：GQA）</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000000"/>
                </a:solidFill>
                <a:latin typeface="游ゴシック"/>
                <a:ea typeface="游ゴシック"/>
                <a:cs typeface="游ゴシック"/>
              </a:rPr>
              <a:t>比</a:t>
            </a:r>
            <a:r>
              <a:rPr sz="2700" b="0" i="0" lang="ja-JP">
                <a:solidFill>
                  <a:srgbClr val="000000"/>
                </a:solidFill>
                <a:latin typeface="游ゴシック"/>
                <a:ea typeface="游ゴシック"/>
                <a:cs typeface="游ゴシック"/>
              </a:rPr>
              <a:t>　加工前後の距離の平均 ÷ 同じ質問に別の画像を与えたときの距離の平均</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lang="ja-JP">
                <a:solidFill>
                  <a:srgbClr val="595959"/>
                </a:solidFill>
                <a:latin typeface="游ゴシック"/>
                <a:ea typeface="游ゴシック"/>
                <a:cs typeface="游ゴシック"/>
              </a:rPr>
              <a:t>族ごとの比較は探索的（8族を3乱数種で比べている）．判定は「23通り」で行う</a:t>
            </a:r>
          </a:p>
        </p:txBody>
      </p:sp>
      <p:sp>
        <p:nvSpPr>
          <p:cNvPr id="63" name="TextBox 62"/>
          <p:cNvSpPr txBox="1"/>
          <p:nvPr/>
        </p:nvSpPr>
        <p:spPr>
          <a:xfrm>
            <a:off x="28704000" y="16019869"/>
            <a:ext cx="13308000" cy="2244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23通りすべて　</a:t>
            </a:r>
            <a:r>
              <a:rPr sz="2700" b="0" i="0" lang="ja-JP">
                <a:solidFill>
                  <a:srgbClr val="000000"/>
                </a:solidFill>
                <a:latin typeface="游ゴシック"/>
                <a:ea typeface="游ゴシック"/>
                <a:cs typeface="游ゴシック"/>
              </a:rPr>
              <a:t>baseline 15.6% ／ proposal 10.0% ／ ablation 19.9%</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ablation より小さい　</a:t>
            </a:r>
            <a:r>
              <a:rPr sz="2700" b="0" i="0" lang="ja-JP">
                <a:solidFill>
                  <a:srgbClr val="000000"/>
                </a:solidFill>
                <a:latin typeface="游ゴシック"/>
                <a:ea typeface="游ゴシック"/>
                <a:cs typeface="游ゴシック"/>
              </a:rPr>
              <a:t>-9.9pt [-13.8, -6.1]</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baseline との差は向きが未決　</a:t>
            </a:r>
            <a:r>
              <a:rPr sz="2700" b="0" i="0" lang="ja-JP">
                <a:solidFill>
                  <a:srgbClr val="000000"/>
                </a:solidFill>
                <a:latin typeface="游ゴシック"/>
                <a:ea typeface="游ゴシック"/>
                <a:cs typeface="游ゴシック"/>
              </a:rPr>
              <a:t>-5.7pt [-13.0, +1.7]．3乱数種すべて負だが，区間が0を含む</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最終層と回答では，幾何的な加工について3群の差は見られない</a:t>
            </a:r>
          </a:p>
        </p:txBody>
      </p:sp>
      <p:sp>
        <p:nvSpPr>
          <p:cNvPr id="64" name="Rectangle 63"/>
          <p:cNvSpPr/>
          <p:nvPr/>
        </p:nvSpPr>
        <p:spPr>
          <a:xfrm>
            <a:off x="28704000" y="18480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848010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6．まとめ</a:t>
            </a:r>
          </a:p>
        </p:txBody>
      </p:sp>
      <p:sp>
        <p:nvSpPr>
          <p:cNvPr id="66" name="Rounded Rectangle 65"/>
          <p:cNvSpPr/>
          <p:nvPr/>
        </p:nvSpPr>
        <p:spPr>
          <a:xfrm>
            <a:off x="28704000" y="19380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19596101"/>
            <a:ext cx="12876000" cy="1053658"/>
          </a:xfrm>
          <a:prstGeom prst="rect">
            <a:avLst/>
          </a:prstGeom>
          <a:noFill/>
        </p:spPr>
        <p:txBody>
          <a:bodyPr wrap="square" lIns="0" tIns="0" rIns="0" bIns="0" anchor="ctr"/>
          <a:lstStyle/>
          <a:p>
            <a:pPr marL="0" indent="0">
              <a:lnSpc>
                <a:spcPts val="4148"/>
              </a:lnSpc>
              <a:spcAft>
                <a:spcPts val="0"/>
              </a:spcAft>
              <a:buNone/>
            </a:pPr>
            <a:r>
              <a:rPr sz="3400" b="1" i="0" lang="ja-JP">
                <a:solidFill>
                  <a:srgbClr val="000000"/>
                </a:solidFill>
                <a:latin typeface="游ゴシック"/>
                <a:ea typeface="游ゴシック"/>
                <a:cs typeface="游ゴシック"/>
              </a:rPr>
              <a:t>内部表現に表れた手続きの特徴は，</a:t>
            </a:r>
            <a:br>
              <a:rPr sz="3400" b="1" i="0" lang="ja-JP">
                <a:solidFill>
                  <a:srgbClr val="000000"/>
                </a:solidFill>
                <a:latin typeface="游ゴシック"/>
                <a:ea typeface="游ゴシック"/>
                <a:cs typeface="游ゴシック"/>
              </a:rPr>
            </a:br>
            <a:r>
              <a:rPr sz="3400" b="1" i="0" lang="ja-JP">
                <a:solidFill>
                  <a:srgbClr val="000000"/>
                </a:solidFill>
                <a:latin typeface="游ゴシック"/>
                <a:ea typeface="游ゴシック"/>
                <a:cs typeface="游ゴシック"/>
              </a:rPr>
              <a:t>回答の生成に十分用いられていないことが示唆される</a:t>
            </a:r>
          </a:p>
        </p:txBody>
      </p:sp>
      <p:sp>
        <p:nvSpPr>
          <p:cNvPr id="68" name="TextBox 67"/>
          <p:cNvSpPr txBox="1"/>
          <p:nvPr/>
        </p:nvSpPr>
        <p:spPr>
          <a:xfrm>
            <a:off x="28704000" y="21117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正解率を高めるには，手続きの特徴を回答の生成に用いる工夫が要る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今後　</a:t>
            </a:r>
            <a:r>
              <a:rPr sz="2700" b="0" i="0" lang="ja-JP">
                <a:solidFill>
                  <a:srgbClr val="000000"/>
                </a:solidFill>
                <a:latin typeface="游ゴシック"/>
                <a:ea typeface="游ゴシック"/>
                <a:cs typeface="游ゴシック"/>
              </a:rPr>
              <a:t>乱数種を足して安定性の向きを決める．回答の型で整合する群を足し，効果が署名に固有かを確かめる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限界　</a:t>
            </a:r>
            <a:r>
              <a:rPr sz="2700" b="0" i="0" lang="ja-JP">
                <a:solidFill>
                  <a:srgbClr val="000000"/>
                </a:solidFill>
                <a:latin typeface="游ゴシック"/>
                <a:ea typeface="游ゴシック"/>
                <a:cs typeface="游ゴシック"/>
              </a:rPr>
              <a:t>1モデル・1データセット・第16層・</a:t>
            </a:r>
            <a:r>
              <a:rPr sz="2700" b="0" i="0" lang="ja-JP">
                <a:solidFill>
                  <a:srgbClr val="000000"/>
                </a:solidFill>
                <a:latin typeface="Cambria Math"/>
                <a:ea typeface="Cambria Math"/>
                <a:cs typeface="Cambria Math"/>
              </a:rPr>
              <a:t>𝜆 = 0.1</a:t>
            </a:r>
            <a:r>
              <a:rPr sz="2700" b="0" i="0" lang="ja-JP">
                <a:solidFill>
                  <a:srgbClr val="000000"/>
                </a:solidFill>
                <a:latin typeface="游ゴシック"/>
                <a:ea typeface="游ゴシック"/>
                <a:cs typeface="游ゴシック"/>
              </a:rPr>
              <a:t>．相対感度は一次近似</a:t>
            </a:r>
          </a:p>
        </p:txBody>
      </p:sp>
      <p:sp>
        <p:nvSpPr>
          <p:cNvPr id="69" name="Rounded Rectangle 68"/>
          <p:cNvSpPr/>
          <p:nvPr/>
        </p:nvSpPr>
        <p:spPr>
          <a:xfrm>
            <a:off x="28704000" y="23539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3755888"/>
            <a:ext cx="12876000" cy="2142625"/>
          </a:xfrm>
          <a:prstGeom prst="rect">
            <a:avLst/>
          </a:prstGeom>
          <a:noFill/>
        </p:spPr>
        <p:txBody>
          <a:bodyPr wrap="square" lIns="0" tIns="0" rIns="0" bIns="0" anchor="ctr"/>
          <a:lstStyle/>
          <a:p>
            <a:pPr marL="0" indent="0">
              <a:lnSpc>
                <a:spcPts val="3294"/>
              </a:lnSpc>
              <a:spcAft>
                <a:spcPts val="400"/>
              </a:spcAft>
              <a:buNone/>
            </a:pPr>
            <a:r>
              <a:rPr sz="2700" b="1" i="0" lang="ja-JP">
                <a:solidFill>
                  <a:srgbClr val="70AD47"/>
                </a:solidFill>
                <a:latin typeface="游ゴシック"/>
                <a:ea typeface="游ゴシック"/>
                <a:cs typeface="游ゴシック"/>
              </a:rPr>
              <a:t>研究の意義　</a:t>
            </a:r>
            <a:r>
              <a:rPr sz="2700" b="0" i="0" lang="ja-JP">
                <a:solidFill>
                  <a:srgbClr val="000000"/>
                </a:solidFill>
                <a:latin typeface="游ゴシック"/>
                <a:ea typeface="游ゴシック"/>
                <a:cs typeface="游ゴシック"/>
              </a:rPr>
              <a:t>Elazarら[5]は既にある性質を表現から除き，語予測への影響を見た．本研究は逆に，手続きの特徴を損失で内部表現に作り込み，回答の生成に使われるかを見た．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lang="ja-JP">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lang="ja-JP">
                <a:solidFill>
                  <a:srgbClr val="404040"/>
                </a:solidFill>
                <a:latin typeface="游ゴシック"/>
                <a:ea typeface="游ゴシック"/>
                <a:cs typeface="游ゴシック"/>
              </a:rPr>
              <a:t>[1] F. A. Wani et al., “Same Answer, Different Representations: Hidden Instability in VLMs,” arXiv:2602.06652, 2026.</a:t>
            </a:r>
          </a:p>
          <a:p>
            <a:pPr marL="0" indent="0">
              <a:lnSpc>
                <a:spcPts val="1830"/>
              </a:lnSpc>
              <a:spcAft>
                <a:spcPts val="0"/>
              </a:spcAft>
              <a:buNone/>
            </a:pPr>
            <a:r>
              <a:rPr sz="1500" b="0" i="0" lang="ja-JP">
                <a:solidFill>
                  <a:srgbClr val="404040"/>
                </a:solidFill>
                <a:latin typeface="游ゴシック"/>
                <a:ea typeface="游ゴシック"/>
                <a:cs typeface="游ゴシック"/>
              </a:rPr>
              <a:t>[2] A. Marafioti et al., “SmolVLM: Redefining Small and Efficient Multimodal Models,” arXiv:2504.05299, 2025.</a:t>
            </a:r>
          </a:p>
          <a:p>
            <a:pPr marL="0" indent="0">
              <a:lnSpc>
                <a:spcPts val="1830"/>
              </a:lnSpc>
              <a:spcAft>
                <a:spcPts val="0"/>
              </a:spcAft>
              <a:buNone/>
            </a:pPr>
            <a:r>
              <a:rPr sz="1500" b="0" i="0" lang="ja-JP">
                <a:solidFill>
                  <a:srgbClr val="404040"/>
                </a:solidFill>
                <a:latin typeface="游ゴシック"/>
                <a:ea typeface="游ゴシック"/>
                <a:cs typeface="游ゴシック"/>
              </a:rPr>
              <a:t>[3] D. A. Hudson and C. D. Manning, “GQA: A New Dataset for Real-World Visual Reasoning and Compositional Question Answering,” in Proc. IEEE/CVF CVPR, 2019.</a:t>
            </a:r>
          </a:p>
          <a:p>
            <a:pPr marL="0" indent="0">
              <a:lnSpc>
                <a:spcPts val="1830"/>
              </a:lnSpc>
              <a:spcAft>
                <a:spcPts val="0"/>
              </a:spcAft>
              <a:buNone/>
            </a:pPr>
            <a:r>
              <a:rPr sz="1500" b="0" i="0" lang="ja-JP">
                <a:solidFill>
                  <a:srgbClr val="404040"/>
                </a:solidFill>
                <a:latin typeface="游ゴシック"/>
                <a:ea typeface="游ゴシック"/>
                <a:cs typeface="游ゴシック"/>
              </a:rPr>
              <a:t>[4] P. Khosla et al., “Supervised Contrastive Learning,” in Proc. NeurIPS, 2020.</a:t>
            </a:r>
          </a:p>
          <a:p>
            <a:pPr marL="0" indent="0">
              <a:lnSpc>
                <a:spcPts val="1830"/>
              </a:lnSpc>
              <a:spcAft>
                <a:spcPts val="0"/>
              </a:spcAft>
              <a:buNone/>
            </a:pPr>
            <a:r>
              <a:rPr sz="1500" b="0" i="0" lang="ja-JP">
                <a:solidFill>
                  <a:srgbClr val="404040"/>
                </a:solidFill>
                <a:latin typeface="游ゴシック"/>
                <a:ea typeface="游ゴシック"/>
                <a:cs typeface="游ゴシック"/>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游ゴシック"/>
        <a:ea typeface="游ゴシック"/>
        <a:cs typeface=""/>
        <a:font script="Jpan" typeface="游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游ゴシック"/>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Application>Microsoft Office PowerPoint</Application>
  <PresentationFormat>ユーザー設定</PresentationFormat>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Arial</vt:lpstr>
      <vt:lpstr>Cambria Math</vt:lpstr>
      <vt:lpstr>Office Theme</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友晴 中野</cp:lastModifiedBy>
  <cp:revision>1</cp:revision>
  <dcterms:created xsi:type="dcterms:W3CDTF">2026-10-29T09:21:56Z</dcterms:created>
  <dcterms:modified xsi:type="dcterms:W3CDTF">2026-10-29T09:21:56Z</dcterms:modified>
  <dc:creator>友晴 中野</dc:creator>
</cp:coreProperties>
</file>