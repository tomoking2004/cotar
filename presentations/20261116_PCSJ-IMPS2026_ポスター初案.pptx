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2804000" cy="30276000" type="screen4x3"/>
  <p:notesSz cx="6858000" cy="9144000"/>
  <p:defaultTextStyle>
    <a:defPPr>
      <a:defRPr lang="ja-JP"/>
    </a:defPPr>
    <a:lvl1pPr marL="0" algn="l" defTabSz="457200" rtl="0" eaLnBrk="1" latinLnBrk="0" hangingPunct="1">
      <a:defRPr sz="1800" kern="1200" lang="ja-JP">
        <a:solidFill>
          <a:schemeClr val="tx1"/>
        </a:solidFill>
        <a:latin typeface="+mn-lt"/>
        <a:ea typeface="+mn-ea"/>
        <a:cs typeface="+mn-cs"/>
      </a:defRPr>
    </a:lvl1pPr>
    <a:lvl2pPr marL="457200" algn="l" defTabSz="457200" rtl="0" eaLnBrk="1" latinLnBrk="0" hangingPunct="1">
      <a:defRPr sz="1800" kern="1200" lang="ja-JP">
        <a:solidFill>
          <a:schemeClr val="tx1"/>
        </a:solidFill>
        <a:latin typeface="+mn-lt"/>
        <a:ea typeface="+mn-ea"/>
        <a:cs typeface="+mn-cs"/>
      </a:defRPr>
    </a:lvl2pPr>
    <a:lvl3pPr marL="914400" algn="l" defTabSz="457200" rtl="0" eaLnBrk="1" latinLnBrk="0" hangingPunct="1">
      <a:defRPr sz="1800" kern="1200" lang="ja-JP">
        <a:solidFill>
          <a:schemeClr val="tx1"/>
        </a:solidFill>
        <a:latin typeface="+mn-lt"/>
        <a:ea typeface="+mn-ea"/>
        <a:cs typeface="+mn-cs"/>
      </a:defRPr>
    </a:lvl3pPr>
    <a:lvl4pPr marL="1371600" algn="l" defTabSz="457200" rtl="0" eaLnBrk="1" latinLnBrk="0" hangingPunct="1">
      <a:defRPr sz="1800" kern="1200" lang="ja-JP">
        <a:solidFill>
          <a:schemeClr val="tx1"/>
        </a:solidFill>
        <a:latin typeface="+mn-lt"/>
        <a:ea typeface="+mn-ea"/>
        <a:cs typeface="+mn-cs"/>
      </a:defRPr>
    </a:lvl4pPr>
    <a:lvl5pPr marL="1828800" algn="l" defTabSz="457200" rtl="0" eaLnBrk="1" latinLnBrk="0" hangingPunct="1">
      <a:defRPr sz="1800" kern="1200" lang="ja-JP">
        <a:solidFill>
          <a:schemeClr val="tx1"/>
        </a:solidFill>
        <a:latin typeface="+mn-lt"/>
        <a:ea typeface="+mn-ea"/>
        <a:cs typeface="+mn-cs"/>
      </a:defRPr>
    </a:lvl5pPr>
    <a:lvl6pPr marL="2286000" algn="l" defTabSz="457200" rtl="0" eaLnBrk="1" latinLnBrk="0" hangingPunct="1">
      <a:defRPr sz="1800" kern="1200" lang="ja-JP">
        <a:solidFill>
          <a:schemeClr val="tx1"/>
        </a:solidFill>
        <a:latin typeface="+mn-lt"/>
        <a:ea typeface="+mn-ea"/>
        <a:cs typeface="+mn-cs"/>
      </a:defRPr>
    </a:lvl6pPr>
    <a:lvl7pPr marL="2743200" algn="l" defTabSz="457200" rtl="0" eaLnBrk="1" latinLnBrk="0" hangingPunct="1">
      <a:defRPr sz="1800" kern="1200" lang="ja-JP">
        <a:solidFill>
          <a:schemeClr val="tx1"/>
        </a:solidFill>
        <a:latin typeface="+mn-lt"/>
        <a:ea typeface="+mn-ea"/>
        <a:cs typeface="+mn-cs"/>
      </a:defRPr>
    </a:lvl7pPr>
    <a:lvl8pPr marL="3200400" algn="l" defTabSz="457200" rtl="0" eaLnBrk="1" latinLnBrk="0" hangingPunct="1">
      <a:defRPr sz="1800" kern="1200" lang="ja-JP">
        <a:solidFill>
          <a:schemeClr val="tx1"/>
        </a:solidFill>
        <a:latin typeface="+mn-lt"/>
        <a:ea typeface="+mn-ea"/>
        <a:cs typeface="+mn-cs"/>
      </a:defRPr>
    </a:lvl8pPr>
    <a:lvl9pPr marL="3657600" algn="l" defTabSz="457200" rtl="0" eaLnBrk="1" latinLnBrk="0" hangingPunct="1">
      <a:defRPr sz="1800" kern="1200" lang="ja-JP">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読み取り精度（%）</c:v>
                </c:pt>
              </c:strCache>
            </c:strRef>
          </c:tx>
          <c:spPr>
            <a:solidFill>
              <a:srgbClr val="A6A6A6"/>
            </a:solidFill>
          </c:spPr>
          <c:invertIfNegative val="0"/>
          <c:dPt>
            <c:idx val="1"/>
            <c:spPr>
              <a:solidFill>
                <a:srgbClr val="C00000"/>
              </a:solidFill>
            </c:spPr>
          </c:dPt>
          <c:dPt>
            <c:idx val="3"/>
            <c:spPr>
              <a:solidFill>
                <a:srgbClr val="D9D9D9"/>
              </a:solidFill>
            </c:spPr>
          </c:dPt>
          <c:cat>
            <c:strRef>
              <c:f>Sheet1!$A$2:$A$5</c:f>
              <c:strCache>
                <c:ptCount val="4"/>
                <c:pt idx="0">
                  <c:v>baseline</c:v>
                </c:pt>
                <c:pt idx="1">
                  <c:v>proposal</c:v>
                </c:pt>
                <c:pt idx="2">
                  <c:v>ablation</c:v>
                </c:pt>
                <c:pt idx="3">
                  <c:v>質問文の語</c:v>
                </c:pt>
              </c:strCache>
            </c:strRef>
          </c:cat>
          <c:val>
            <c:numRef>
              <c:f>Sheet1!$B$2:$B$5</c:f>
              <c:numCache>
                <c:formatCode>General</c:formatCode>
                <c:ptCount val="4"/>
                <c:pt idx="0">
                  <c:v>82.87683526674905</c:v>
                </c:pt>
                <c:pt idx="1">
                  <c:v>95.89455127716064</c:v>
                </c:pt>
                <c:pt idx="2">
                  <c:v>80.99038600921631</c:v>
                </c:pt>
                <c:pt idx="3">
                  <c:v>69.68982219696045</c:v>
                </c:pt>
              </c:numCache>
            </c:numRef>
          </c:val>
        </c:ser>
        <c:dLbls>
          <c:numFmt formatCode="0.0" sourceLinked="0"/>
          <c:txPr>
            <a:bodyPr/>
            <a:lstStyle/>
            <a:p>
              <a:pPr>
                <a:defRPr sz="2400" lang="ja-JP">
                  <a:latin typeface="游ゴシック"/>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2400" lang="ja-JP"/>
            </a:pPr>
          </a:p>
        </c:txPr>
        <c:crossAx val="2113994440"/>
        <c:crosses val="autoZero"/>
        <c:auto val="1"/>
        <c:lblAlgn val="ctr"/>
        <c:lblOffset val="100"/>
        <c:noMultiLvlLbl val="0"/>
      </c:catAx>
      <c:valAx>
        <c:axId val="2113994440"/>
        <c:scaling>
          <c:max val="100.0"/>
          <c:min val="0.0"/>
        </c:scaling>
        <c:delete val="0"/>
        <c:axPos val="l"/>
        <c:majorGridlines>
          <c:spPr>
            <a:ln>
              <a:solidFill>
                <a:srgbClr val="D9D9D9"/>
              </a:solidFill>
            </a:ln>
          </c:spPr>
        </c:majorGridlines>
        <c:majorTickMark val="out"/>
        <c:minorTickMark val="none"/>
        <c:tickLblPos val="nextTo"/>
        <c:spPr>
          <a:ln>
            <a:noFill/>
          </a:ln>
        </c:spPr>
        <c:txPr>
          <a:bodyPr/>
          <a:lstStyle/>
          <a:p>
            <a:pPr>
              <a:defRPr sz="2400" lang="ja-JP">
                <a:solidFill>
                  <a:srgbClr val="595959"/>
                </a:solidFill>
              </a:defRPr>
            </a:pPr>
          </a:p>
        </c:txPr>
        <c:crossAx val="2068027336"/>
        <c:crosses val="autoZero"/>
        <c:majorUnit val="25.0"/>
      </c:valAx>
    </c:plotArea>
    <c:dispBlanksAs val="gap"/>
  </c:chart>
  <c:txPr>
    <a:bodyPr/>
    <a:lstStyle/>
    <a:p>
      <a:pPr>
        <a:defRPr sz="2400" lang="ja-JP">
          <a:latin typeface="游ゴシック"/>
          <a:ea typeface="游ゴシック"/>
        </a:defRPr>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c:v>
                </c:pt>
              </c:strCache>
            </c:strRef>
          </c:tx>
          <c:spPr>
            <a:solidFill>
              <a:srgbClr val="A6A6A6"/>
            </a:solidFill>
          </c:spPr>
          <c:invertIfNegative val="0"/>
          <c:cat>
            <c:strRef>
              <c:f>Sheet1!$A$2:$A$4</c:f>
              <c:strCache>
                <c:ptCount val="3"/>
                <c:pt idx="0">
                  <c:v>m = 8</c:v>
                </c:pt>
                <c:pt idx="1">
                  <c:v>m = 32</c:v>
                </c:pt>
                <c:pt idx="2">
                  <c:v>m = 128</c:v>
                </c:pt>
              </c:strCache>
            </c:strRef>
          </c:cat>
          <c:val>
            <c:numRef>
              <c:f>Sheet1!$B$2:$B$4</c:f>
              <c:numCache>
                <c:formatCode>General</c:formatCode>
                <c:ptCount val="3"/>
                <c:pt idx="0">
                  <c:v>0.40229665239651996</c:v>
                </c:pt>
                <c:pt idx="1">
                  <c:v>0.2996903459231059</c:v>
                </c:pt>
                <c:pt idx="2">
                  <c:v>0.24151953558127084</c:v>
                </c:pt>
              </c:numCache>
            </c:numRef>
          </c:val>
        </c:ser>
        <c:ser>
          <c:idx val="1"/>
          <c:order val="1"/>
          <c:tx>
            <c:strRef>
              <c:f>Sheet1!$C$1</c:f>
              <c:strCache>
                <c:ptCount val="1"/>
                <c:pt idx="0">
                  <c:v>proposal</c:v>
                </c:pt>
              </c:strCache>
            </c:strRef>
          </c:tx>
          <c:spPr>
            <a:solidFill>
              <a:srgbClr val="C00000"/>
            </a:solidFill>
          </c:spPr>
          <c:invertIfNegative val="0"/>
          <c:cat>
            <c:strRef>
              <c:f>Sheet1!$A$2:$A$4</c:f>
              <c:strCache>
                <c:ptCount val="3"/>
                <c:pt idx="0">
                  <c:v>m = 8</c:v>
                </c:pt>
                <c:pt idx="1">
                  <c:v>m = 32</c:v>
                </c:pt>
                <c:pt idx="2">
                  <c:v>m = 128</c:v>
                </c:pt>
              </c:strCache>
            </c:strRef>
          </c:cat>
          <c:val>
            <c:numRef>
              <c:f>Sheet1!$C$2:$C$4</c:f>
              <c:numCache>
                <c:formatCode>General</c:formatCode>
                <c:ptCount val="3"/>
                <c:pt idx="0">
                  <c:v>0.2882558802763621</c:v>
                </c:pt>
                <c:pt idx="1">
                  <c:v>0.2340521365404129</c:v>
                </c:pt>
                <c:pt idx="2">
                  <c:v>0.1973231981197993</c:v>
                </c:pt>
              </c:numCache>
            </c:numRef>
          </c:val>
        </c:ser>
        <c:ser>
          <c:idx val="2"/>
          <c:order val="2"/>
          <c:tx>
            <c:strRef>
              <c:f>Sheet1!$D$1</c:f>
              <c:strCache>
                <c:ptCount val="1"/>
                <c:pt idx="0">
                  <c:v>ablation</c:v>
                </c:pt>
              </c:strCache>
            </c:strRef>
          </c:tx>
          <c:spPr>
            <a:solidFill>
              <a:srgbClr val="9DC3E6"/>
            </a:solidFill>
          </c:spPr>
          <c:invertIfNegative val="0"/>
          <c:cat>
            <c:strRef>
              <c:f>Sheet1!$A$2:$A$4</c:f>
              <c:strCache>
                <c:ptCount val="3"/>
                <c:pt idx="0">
                  <c:v>m = 8</c:v>
                </c:pt>
                <c:pt idx="1">
                  <c:v>m = 32</c:v>
                </c:pt>
                <c:pt idx="2">
                  <c:v>m = 128</c:v>
                </c:pt>
              </c:strCache>
            </c:strRef>
          </c:cat>
          <c:val>
            <c:numRef>
              <c:f>Sheet1!$D$2:$D$4</c:f>
              <c:numCache>
                <c:formatCode>General</c:formatCode>
                <c:ptCount val="3"/>
                <c:pt idx="0">
                  <c:v>0.38330380121866864</c:v>
                </c:pt>
                <c:pt idx="1">
                  <c:v>0.2971581121285756</c:v>
                </c:pt>
                <c:pt idx="2">
                  <c:v>0.24193893373012543</c:v>
                </c:pt>
              </c:numCache>
            </c:numRef>
          </c:val>
        </c:ser>
        <c:dLbls>
          <c:numFmt formatCode="0.00" sourceLinked="0"/>
          <c:txPr>
            <a:bodyPr/>
            <a:lstStyle/>
            <a:p>
              <a:pPr>
                <a:defRPr sz="2300" lang="ja-JP">
                  <a:latin typeface="游ゴシック"/>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2400" lang="ja-JP"/>
            </a:pPr>
          </a:p>
        </c:txPr>
        <c:crossAx val="2113994440"/>
        <c:crosses val="autoZero"/>
        <c:auto val="1"/>
        <c:lblAlgn val="ctr"/>
        <c:lblOffset val="100"/>
        <c:noMultiLvlLbl val="0"/>
      </c:catAx>
      <c:valAx>
        <c:axId val="2113994440"/>
        <c:scaling>
          <c:max val="0.45"/>
          <c:min val="0.0"/>
        </c:scaling>
        <c:delete val="0"/>
        <c:axPos val="l"/>
        <c:majorGridlines>
          <c:spPr>
            <a:ln>
              <a:solidFill>
                <a:srgbClr val="D9D9D9"/>
              </a:solidFill>
            </a:ln>
          </c:spPr>
        </c:majorGridlines>
        <c:majorTickMark val="out"/>
        <c:minorTickMark val="none"/>
        <c:tickLblPos val="nextTo"/>
        <c:spPr>
          <a:ln>
            <a:noFill/>
          </a:ln>
        </c:spPr>
        <c:txPr>
          <a:bodyPr/>
          <a:lstStyle/>
          <a:p>
            <a:pPr>
              <a:defRPr sz="2400" lang="ja-JP">
                <a:solidFill>
                  <a:srgbClr val="595959"/>
                </a:solidFill>
              </a:defRPr>
            </a:pPr>
          </a:p>
        </c:txPr>
        <c:crossAx val="2068027336"/>
        <c:crosses val="autoZero"/>
        <c:majorUnit val="0.1"/>
      </c:valAx>
    </c:plotArea>
    <c:legend>
      <c:legendPos val="t"/>
      <c:overlay val="0"/>
      <c:txPr>
        <a:bodyPr/>
        <a:lstStyle/>
        <a:p>
          <a:pPr>
            <a:defRPr sz="2400" lang="ja-JP">
              <a:latin typeface="游ゴシック"/>
            </a:defRPr>
          </a:pPr>
        </a:p>
      </c:txPr>
    </c:legend>
    <c:dispBlanksAs val="gap"/>
  </c:chart>
  <c:txPr>
    <a:bodyPr/>
    <a:lstStyle/>
    <a:p>
      <a:pPr>
        <a:defRPr sz="2400" lang="ja-JP">
          <a:latin typeface="游ゴシック"/>
          <a:ea typeface="游ゴシック"/>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c:v>
                </c:pt>
              </c:strCache>
            </c:strRef>
          </c:tx>
          <c:spPr>
            <a:solidFill>
              <a:srgbClr val="A6A6A6"/>
            </a:solidFill>
          </c:spPr>
          <c:invertIfNegative val="0"/>
          <c:cat>
            <c:strRef>
              <c:f>Sheet1!$A$2:$A$10</c:f>
              <c:strCache>
                <c:ptCount val="9"/>
                <c:pt idx="0">
                  <c:v>平行移動</c:v>
                </c:pt>
                <c:pt idx="1">
                  <c:v>余白</c:v>
                </c:pt>
                <c:pt idx="2">
                  <c:v>縮小</c:v>
                </c:pt>
                <c:pt idx="3">
                  <c:v>縮小＋余白</c:v>
                </c:pt>
                <c:pt idx="4">
                  <c:v>回転</c:v>
                </c:pt>
                <c:pt idx="5">
                  <c:v>指示文</c:v>
                </c:pt>
                <c:pt idx="6">
                  <c:v>文字列</c:v>
                </c:pt>
                <c:pt idx="7">
                  <c:v>白い箱</c:v>
                </c:pt>
                <c:pt idx="8">
                  <c:v>23通り</c:v>
                </c:pt>
              </c:strCache>
            </c:strRef>
          </c:cat>
          <c:val>
            <c:numRef>
              <c:f>Sheet1!$B$2:$B$10</c:f>
              <c:numCache>
                <c:formatCode>General</c:formatCode>
                <c:ptCount val="9"/>
                <c:pt idx="0">
                  <c:v>10.02900800074681</c:v>
                </c:pt>
                <c:pt idx="1">
                  <c:v>13.548702123328344</c:v>
                </c:pt>
                <c:pt idx="2">
                  <c:v>1.8523354302052129</c:v>
                </c:pt>
                <c:pt idx="3">
                  <c:v>24.684762937243026</c:v>
                </c:pt>
                <c:pt idx="4">
                  <c:v>32.95338937878566</c:v>
                </c:pt>
                <c:pt idx="5">
                  <c:v>40.835668062655316</c:v>
                </c:pt>
                <c:pt idx="6">
                  <c:v>31.26825691037604</c:v>
                </c:pt>
                <c:pt idx="7">
                  <c:v>6.704250085282664</c:v>
                </c:pt>
                <c:pt idx="8">
                  <c:v>15.646683917607296</c:v>
                </c:pt>
              </c:numCache>
            </c:numRef>
          </c:val>
        </c:ser>
        <c:ser>
          <c:idx val="1"/>
          <c:order val="1"/>
          <c:tx>
            <c:strRef>
              <c:f>Sheet1!$C$1</c:f>
              <c:strCache>
                <c:ptCount val="1"/>
                <c:pt idx="0">
                  <c:v>proposal</c:v>
                </c:pt>
              </c:strCache>
            </c:strRef>
          </c:tx>
          <c:spPr>
            <a:solidFill>
              <a:srgbClr val="C00000"/>
            </a:solidFill>
          </c:spPr>
          <c:invertIfNegative val="0"/>
          <c:cat>
            <c:strRef>
              <c:f>Sheet1!$A$2:$A$10</c:f>
              <c:strCache>
                <c:ptCount val="9"/>
                <c:pt idx="0">
                  <c:v>平行移動</c:v>
                </c:pt>
                <c:pt idx="1">
                  <c:v>余白</c:v>
                </c:pt>
                <c:pt idx="2">
                  <c:v>縮小</c:v>
                </c:pt>
                <c:pt idx="3">
                  <c:v>縮小＋余白</c:v>
                </c:pt>
                <c:pt idx="4">
                  <c:v>回転</c:v>
                </c:pt>
                <c:pt idx="5">
                  <c:v>指示文</c:v>
                </c:pt>
                <c:pt idx="6">
                  <c:v>文字列</c:v>
                </c:pt>
                <c:pt idx="7">
                  <c:v>白い箱</c:v>
                </c:pt>
                <c:pt idx="8">
                  <c:v>23通り</c:v>
                </c:pt>
              </c:strCache>
            </c:strRef>
          </c:cat>
          <c:val>
            <c:numRef>
              <c:f>Sheet1!$C$2:$C$10</c:f>
              <c:numCache>
                <c:formatCode>General</c:formatCode>
                <c:ptCount val="9"/>
                <c:pt idx="0">
                  <c:v>8.453832303205807</c:v>
                </c:pt>
                <c:pt idx="1">
                  <c:v>9.15780278890348</c:v>
                </c:pt>
                <c:pt idx="2">
                  <c:v>1.9544698645462728</c:v>
                </c:pt>
                <c:pt idx="3">
                  <c:v>13.750254144634487</c:v>
                </c:pt>
                <c:pt idx="4">
                  <c:v>23.422918438780584</c:v>
                </c:pt>
                <c:pt idx="5">
                  <c:v>11.265779945377707</c:v>
                </c:pt>
                <c:pt idx="6">
                  <c:v>9.175406355810663</c:v>
                </c:pt>
                <c:pt idx="7">
                  <c:v>5.774252125443189</c:v>
                </c:pt>
                <c:pt idx="8">
                  <c:v>9.985176697833298</c:v>
                </c:pt>
              </c:numCache>
            </c:numRef>
          </c:val>
        </c:ser>
        <c:ser>
          <c:idx val="2"/>
          <c:order val="2"/>
          <c:tx>
            <c:strRef>
              <c:f>Sheet1!$D$1</c:f>
              <c:strCache>
                <c:ptCount val="1"/>
                <c:pt idx="0">
                  <c:v>ablation</c:v>
                </c:pt>
              </c:strCache>
            </c:strRef>
          </c:tx>
          <c:spPr>
            <a:solidFill>
              <a:srgbClr val="9DC3E6"/>
            </a:solidFill>
          </c:spPr>
          <c:invertIfNegative val="0"/>
          <c:cat>
            <c:strRef>
              <c:f>Sheet1!$A$2:$A$10</c:f>
              <c:strCache>
                <c:ptCount val="9"/>
                <c:pt idx="0">
                  <c:v>平行移動</c:v>
                </c:pt>
                <c:pt idx="1">
                  <c:v>余白</c:v>
                </c:pt>
                <c:pt idx="2">
                  <c:v>縮小</c:v>
                </c:pt>
                <c:pt idx="3">
                  <c:v>縮小＋余白</c:v>
                </c:pt>
                <c:pt idx="4">
                  <c:v>回転</c:v>
                </c:pt>
                <c:pt idx="5">
                  <c:v>指示文</c:v>
                </c:pt>
                <c:pt idx="6">
                  <c:v>文字列</c:v>
                </c:pt>
                <c:pt idx="7">
                  <c:v>白い箱</c:v>
                </c:pt>
                <c:pt idx="8">
                  <c:v>23通り</c:v>
                </c:pt>
              </c:strCache>
            </c:strRef>
          </c:cat>
          <c:val>
            <c:numRef>
              <c:f>Sheet1!$D$2:$D$10</c:f>
              <c:numCache>
                <c:formatCode>General</c:formatCode>
                <c:ptCount val="9"/>
                <c:pt idx="0">
                  <c:v>13.826996578433445</c:v>
                </c:pt>
                <c:pt idx="1">
                  <c:v>18.061827341512743</c:v>
                </c:pt>
                <c:pt idx="2">
                  <c:v>2.844913814378999</c:v>
                </c:pt>
                <c:pt idx="3">
                  <c:v>31.092497478705205</c:v>
                </c:pt>
                <c:pt idx="4">
                  <c:v>41.101926295694355</c:v>
                </c:pt>
                <c:pt idx="5">
                  <c:v>47.79909959402181</c:v>
                </c:pt>
                <c:pt idx="6">
                  <c:v>29.682890443161483</c:v>
                </c:pt>
                <c:pt idx="7">
                  <c:v>9.702544803772088</c:v>
                </c:pt>
                <c:pt idx="8">
                  <c:v>19.93201814288131</c:v>
                </c:pt>
              </c:numCache>
            </c:numRef>
          </c:val>
        </c:ser>
        <c:gapWidth val="40"/>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2000" lang="ja-JP"/>
            </a:pPr>
          </a:p>
        </c:txPr>
        <c:crossAx val="2113994440"/>
        <c:crosses val="autoZero"/>
        <c:auto val="1"/>
        <c:lblAlgn val="ctr"/>
        <c:lblOffset val="100"/>
        <c:noMultiLvlLbl val="0"/>
      </c:catAx>
      <c:valAx>
        <c:axId val="2113994440"/>
        <c:scaling>
          <c:max val="50.0"/>
          <c:min val="0.0"/>
        </c:scaling>
        <c:delete val="0"/>
        <c:axPos val="l"/>
        <c:majorGridlines>
          <c:spPr>
            <a:ln>
              <a:solidFill>
                <a:srgbClr val="D9D9D9"/>
              </a:solidFill>
            </a:ln>
          </c:spPr>
        </c:majorGridlines>
        <c:title>
          <c:tx>
            <c:rich>
              <a:bodyPr/>
              <a:lstStyle/>
              <a:p>
                <a:r>
                  <a:rPr sz="2000" lang="ja-JP"/>
                  <a:t>第16層の比（%）</a:t>
                </a:r>
              </a:p>
            </c:rich>
          </c:tx>
          <c:layout/>
          <c:overlay val="0"/>
        </c:title>
        <c:majorTickMark val="out"/>
        <c:minorTickMark val="none"/>
        <c:tickLblPos val="nextTo"/>
        <c:spPr>
          <a:ln>
            <a:noFill/>
          </a:ln>
        </c:spPr>
        <c:txPr>
          <a:bodyPr/>
          <a:lstStyle/>
          <a:p>
            <a:pPr>
              <a:defRPr sz="2000" lang="ja-JP">
                <a:solidFill>
                  <a:srgbClr val="595959"/>
                </a:solidFill>
              </a:defRPr>
            </a:pPr>
          </a:p>
        </c:txPr>
        <c:crossAx val="2068027336"/>
        <c:crosses val="autoZero"/>
        <c:majorUnit val="10.0"/>
      </c:valAx>
    </c:plotArea>
    <c:legend>
      <c:legendPos val="t"/>
      <c:overlay val="0"/>
      <c:txPr>
        <a:bodyPr/>
        <a:lstStyle/>
        <a:p>
          <a:pPr>
            <a:defRPr sz="2000" lang="ja-JP">
              <a:latin typeface="游ゴシック"/>
            </a:defRPr>
          </a:pPr>
        </a:p>
      </c:txPr>
    </c:legend>
    <c:dispBlanksAs val="gap"/>
  </c:chart>
  <c:txPr>
    <a:bodyPr/>
    <a:lstStyle/>
    <a:p>
      <a:pPr>
        <a:defRPr sz="2000" lang="ja-JP">
          <a:latin typeface="游ゴシック"/>
          <a:ea typeface="游ゴシック"/>
        </a:defRPr>
      </a:pPr>
      <a:endParaRPr lang="ja-JP"/>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ja-JP" smtClean="0"/>
              <a:t>Click to edit Master title style</a:t>
            </a:r>
            <a:endParaRPr lang="ja-JP"/>
          </a:p>
        </p:txBody>
      </p:sp>
      <p:sp>
        <p:nvSpPr>
          <p:cNvPr id="3" name="Subtitle 2"/>
          <p:cNvSpPr>
            <a:spLocks noGrp="1"/>
          </p:cNvSpPr>
          <p:nvPr>
            <p:ph type="subTitle" idx="1"/>
          </p:nvPr>
        </p:nvSpPr>
        <p:spPr>
          <a:xfrm>
            <a:off x="1371600" y="3886200"/>
            <a:ext cx="6400800" cy="1752600"/>
          </a:xfrm>
        </p:spPr>
        <p:txBody>
          <a:bodyPr/>
          <a:lstStyle>
            <a:lvl1pPr marL="0" indent="0" algn="ctr">
              <a:buNone/>
              <a:defRPr lang="ja-JP">
                <a:solidFill>
                  <a:schemeClr val="tx1">
                    <a:tint val="75000"/>
                  </a:schemeClr>
                </a:solidFill>
              </a:defRPr>
            </a:lvl1pPr>
            <a:lvl2pPr marL="457200" indent="0" algn="ctr">
              <a:buNone/>
              <a:defRPr lang="ja-JP">
                <a:solidFill>
                  <a:schemeClr val="tx1">
                    <a:tint val="75000"/>
                  </a:schemeClr>
                </a:solidFill>
              </a:defRPr>
            </a:lvl2pPr>
            <a:lvl3pPr marL="914400" indent="0" algn="ctr">
              <a:buNone/>
              <a:defRPr lang="ja-JP">
                <a:solidFill>
                  <a:schemeClr val="tx1">
                    <a:tint val="75000"/>
                  </a:schemeClr>
                </a:solidFill>
              </a:defRPr>
            </a:lvl3pPr>
            <a:lvl4pPr marL="1371600" indent="0" algn="ctr">
              <a:buNone/>
              <a:defRPr lang="ja-JP">
                <a:solidFill>
                  <a:schemeClr val="tx1">
                    <a:tint val="75000"/>
                  </a:schemeClr>
                </a:solidFill>
              </a:defRPr>
            </a:lvl4pPr>
            <a:lvl5pPr marL="1828800" indent="0" algn="ctr">
              <a:buNone/>
              <a:defRPr lang="ja-JP">
                <a:solidFill>
                  <a:schemeClr val="tx1">
                    <a:tint val="75000"/>
                  </a:schemeClr>
                </a:solidFill>
              </a:defRPr>
            </a:lvl5pPr>
            <a:lvl6pPr marL="2286000" indent="0" algn="ctr">
              <a:buNone/>
              <a:defRPr lang="ja-JP">
                <a:solidFill>
                  <a:schemeClr val="tx1">
                    <a:tint val="75000"/>
                  </a:schemeClr>
                </a:solidFill>
              </a:defRPr>
            </a:lvl6pPr>
            <a:lvl7pPr marL="2743200" indent="0" algn="ctr">
              <a:buNone/>
              <a:defRPr lang="ja-JP">
                <a:solidFill>
                  <a:schemeClr val="tx1">
                    <a:tint val="75000"/>
                  </a:schemeClr>
                </a:solidFill>
              </a:defRPr>
            </a:lvl7pPr>
            <a:lvl8pPr marL="3200400" indent="0" algn="ctr">
              <a:buNone/>
              <a:defRPr lang="ja-JP">
                <a:solidFill>
                  <a:schemeClr val="tx1">
                    <a:tint val="75000"/>
                  </a:schemeClr>
                </a:solidFill>
              </a:defRPr>
            </a:lvl8pPr>
            <a:lvl9pPr marL="3657600" indent="0" algn="ctr">
              <a:buNone/>
              <a:defRPr lang="ja-JP">
                <a:solidFill>
                  <a:schemeClr val="tx1">
                    <a:tint val="75000"/>
                  </a:schemeClr>
                </a:solidFill>
              </a:defRPr>
            </a:lvl9pPr>
          </a:lstStyle>
          <a:p>
            <a:r>
              <a:rPr lang="ja-JP" smtClean="0"/>
              <a:t>Click to edit Master subtitle style</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Content Placeholder 2"/>
          <p:cNvSpPr>
            <a:spLocks noGrp="1"/>
          </p:cNvSpPr>
          <p:nvPr>
            <p:ph idx="1"/>
          </p:nvPr>
        </p:nvSpPr>
        <p:spPr/>
        <p:txBody>
          <a:body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lang="ja-JP"/>
            </a:lvl1pPr>
          </a:lstStyle>
          <a:p>
            <a:r>
              <a:rPr lang="ja-JP" smtClean="0"/>
              <a:t>Click to edit Master title style</a:t>
            </a:r>
            <a:endParaRPr lang="ja-JP"/>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lang="ja-JP">
                <a:solidFill>
                  <a:schemeClr val="tx1">
                    <a:tint val="75000"/>
                  </a:schemeClr>
                </a:solidFill>
              </a:defRPr>
            </a:lvl1pPr>
            <a:lvl2pPr marL="457200" indent="0">
              <a:buNone/>
              <a:defRPr sz="1800" lang="ja-JP">
                <a:solidFill>
                  <a:schemeClr val="tx1">
                    <a:tint val="75000"/>
                  </a:schemeClr>
                </a:solidFill>
              </a:defRPr>
            </a:lvl2pPr>
            <a:lvl3pPr marL="914400" indent="0">
              <a:buNone/>
              <a:defRPr sz="1600" lang="ja-JP">
                <a:solidFill>
                  <a:schemeClr val="tx1">
                    <a:tint val="75000"/>
                  </a:schemeClr>
                </a:solidFill>
              </a:defRPr>
            </a:lvl3pPr>
            <a:lvl4pPr marL="1371600" indent="0">
              <a:buNone/>
              <a:defRPr sz="1400" lang="ja-JP">
                <a:solidFill>
                  <a:schemeClr val="tx1">
                    <a:tint val="75000"/>
                  </a:schemeClr>
                </a:solidFill>
              </a:defRPr>
            </a:lvl4pPr>
            <a:lvl5pPr marL="1828800" indent="0">
              <a:buNone/>
              <a:defRPr sz="1400" lang="ja-JP">
                <a:solidFill>
                  <a:schemeClr val="tx1">
                    <a:tint val="75000"/>
                  </a:schemeClr>
                </a:solidFill>
              </a:defRPr>
            </a:lvl5pPr>
            <a:lvl6pPr marL="2286000" indent="0">
              <a:buNone/>
              <a:defRPr sz="1400" lang="ja-JP">
                <a:solidFill>
                  <a:schemeClr val="tx1">
                    <a:tint val="75000"/>
                  </a:schemeClr>
                </a:solidFill>
              </a:defRPr>
            </a:lvl6pPr>
            <a:lvl7pPr marL="2743200" indent="0">
              <a:buNone/>
              <a:defRPr sz="1400" lang="ja-JP">
                <a:solidFill>
                  <a:schemeClr val="tx1">
                    <a:tint val="75000"/>
                  </a:schemeClr>
                </a:solidFill>
              </a:defRPr>
            </a:lvl7pPr>
            <a:lvl8pPr marL="3200400" indent="0">
              <a:buNone/>
              <a:defRPr sz="1400" lang="ja-JP">
                <a:solidFill>
                  <a:schemeClr val="tx1">
                    <a:tint val="75000"/>
                  </a:schemeClr>
                </a:solidFill>
              </a:defRPr>
            </a:lvl8pPr>
            <a:lvl9pPr marL="3657600" indent="0">
              <a:buNone/>
              <a:defRPr sz="1400" lang="ja-JP">
                <a:solidFill>
                  <a:schemeClr val="tx1">
                    <a:tint val="75000"/>
                  </a:schemeClr>
                </a:solidFill>
              </a:defRPr>
            </a:lvl9pPr>
          </a:lstStyle>
          <a:p>
            <a:pPr lvl="0"/>
            <a:r>
              <a:rPr lang="ja-JP"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Content Placeholder 2"/>
          <p:cNvSpPr>
            <a:spLocks noGrp="1"/>
          </p:cNvSpPr>
          <p:nvPr>
            <p:ph sz="half" idx="1"/>
          </p:nvPr>
        </p:nvSpPr>
        <p:spPr>
          <a:xfrm>
            <a:off x="457200" y="1600200"/>
            <a:ext cx="4038600" cy="4525963"/>
          </a:xfrm>
        </p:spPr>
        <p:txBody>
          <a:bodyPr/>
          <a:lstStyle>
            <a:lvl1pPr>
              <a:defRPr sz="2800" lang="ja-JP"/>
            </a:lvl1pPr>
            <a:lvl2pPr>
              <a:defRPr sz="2400" lang="ja-JP"/>
            </a:lvl2pPr>
            <a:lvl3pPr>
              <a:defRPr sz="2000" lang="ja-JP"/>
            </a:lvl3pPr>
            <a:lvl4pPr>
              <a:defRPr sz="1800" lang="ja-JP"/>
            </a:lvl4pPr>
            <a:lvl5pPr>
              <a:defRPr sz="1800" lang="ja-JP"/>
            </a:lvl5pPr>
            <a:lvl6pPr>
              <a:defRPr sz="1800" lang="ja-JP"/>
            </a:lvl6pPr>
            <a:lvl7pPr>
              <a:defRPr sz="1800" lang="ja-JP"/>
            </a:lvl7pPr>
            <a:lvl8pPr>
              <a:defRPr sz="1800" lang="ja-JP"/>
            </a:lvl8pPr>
            <a:lvl9pPr>
              <a:defRPr sz="18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Content Placeholder 3"/>
          <p:cNvSpPr>
            <a:spLocks noGrp="1"/>
          </p:cNvSpPr>
          <p:nvPr>
            <p:ph sz="half" idx="2"/>
          </p:nvPr>
        </p:nvSpPr>
        <p:spPr>
          <a:xfrm>
            <a:off x="4648200" y="1600200"/>
            <a:ext cx="4038600" cy="4525963"/>
          </a:xfrm>
        </p:spPr>
        <p:txBody>
          <a:bodyPr/>
          <a:lstStyle>
            <a:lvl1pPr>
              <a:defRPr sz="2800" lang="ja-JP"/>
            </a:lvl1pPr>
            <a:lvl2pPr>
              <a:defRPr sz="2400" lang="ja-JP"/>
            </a:lvl2pPr>
            <a:lvl3pPr>
              <a:defRPr sz="2000" lang="ja-JP"/>
            </a:lvl3pPr>
            <a:lvl4pPr>
              <a:defRPr sz="1800" lang="ja-JP"/>
            </a:lvl4pPr>
            <a:lvl5pPr>
              <a:defRPr sz="1800" lang="ja-JP"/>
            </a:lvl5pPr>
            <a:lvl6pPr>
              <a:defRPr sz="1800" lang="ja-JP"/>
            </a:lvl6pPr>
            <a:lvl7pPr>
              <a:defRPr sz="1800" lang="ja-JP"/>
            </a:lvl7pPr>
            <a:lvl8pPr>
              <a:defRPr sz="1800" lang="ja-JP"/>
            </a:lvl8pPr>
            <a:lvl9pPr>
              <a:defRPr sz="18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ja-JP"/>
            </a:lvl1pPr>
          </a:lstStyle>
          <a:p>
            <a:r>
              <a:rPr lang="ja-JP" smtClean="0"/>
              <a:t>Click to edit Master title style</a:t>
            </a:r>
            <a:endParaRPr lang="ja-JP"/>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lang="ja-JP"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lang="ja-JP"/>
            </a:lvl1pPr>
            <a:lvl2pPr>
              <a:defRPr sz="2000" lang="ja-JP"/>
            </a:lvl2pPr>
            <a:lvl3pPr>
              <a:defRPr sz="1800" lang="ja-JP"/>
            </a:lvl3pPr>
            <a:lvl4pPr>
              <a:defRPr sz="1600" lang="ja-JP"/>
            </a:lvl4pPr>
            <a:lvl5pPr>
              <a:defRPr sz="1600" lang="ja-JP"/>
            </a:lvl5pPr>
            <a:lvl6pPr>
              <a:defRPr sz="1600" lang="ja-JP"/>
            </a:lvl6pPr>
            <a:lvl7pPr>
              <a:defRPr sz="1600" lang="ja-JP"/>
            </a:lvl7pPr>
            <a:lvl8pPr>
              <a:defRPr sz="1600" lang="ja-JP"/>
            </a:lvl8pPr>
            <a:lvl9pPr>
              <a:defRPr sz="16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lang="ja-JP"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lang="ja-JP"/>
            </a:lvl1pPr>
            <a:lvl2pPr>
              <a:defRPr sz="2000" lang="ja-JP"/>
            </a:lvl2pPr>
            <a:lvl3pPr>
              <a:defRPr sz="1800" lang="ja-JP"/>
            </a:lvl3pPr>
            <a:lvl4pPr>
              <a:defRPr sz="1600" lang="ja-JP"/>
            </a:lvl4pPr>
            <a:lvl5pPr>
              <a:defRPr sz="1600" lang="ja-JP"/>
            </a:lvl5pPr>
            <a:lvl6pPr>
              <a:defRPr sz="1600" lang="ja-JP"/>
            </a:lvl6pPr>
            <a:lvl7pPr>
              <a:defRPr sz="1600" lang="ja-JP"/>
            </a:lvl7pPr>
            <a:lvl8pPr>
              <a:defRPr sz="1600" lang="ja-JP"/>
            </a:lvl8pPr>
            <a:lvl9pPr>
              <a:defRPr sz="16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7" name="Date Placeholder 6"/>
          <p:cNvSpPr>
            <a:spLocks noGrp="1"/>
          </p:cNvSpPr>
          <p:nvPr>
            <p:ph type="dt" sz="half" idx="10"/>
          </p:nvPr>
        </p:nvSpPr>
        <p:spPr/>
        <p:txBody>
          <a:bodyPr/>
          <a:lstStyle/>
          <a:p>
            <a:fld id="{5BCAD085-E8A6-8845-BD4E-CB4CCA059FC4}" type="datetimeFigureOut">
              <a:rPr lang="ja-JP" smtClean="0"/>
              <a:t>1/27/13</a:t>
            </a:fld>
            <a:endParaRPr lang="ja-JP"/>
          </a:p>
        </p:txBody>
      </p:sp>
      <p:sp>
        <p:nvSpPr>
          <p:cNvPr id="8" name="Footer Placeholder 7"/>
          <p:cNvSpPr>
            <a:spLocks noGrp="1"/>
          </p:cNvSpPr>
          <p:nvPr>
            <p:ph type="ftr" sz="quarter" idx="11"/>
          </p:nvPr>
        </p:nvSpPr>
        <p:spPr/>
        <p:txBody>
          <a:bodyPr/>
          <a:lstStyle/>
          <a:p>
            <a:endParaRPr lang="ja-JP"/>
          </a:p>
        </p:txBody>
      </p:sp>
      <p:sp>
        <p:nvSpPr>
          <p:cNvPr id="9" name="Slide Number Placeholder 8"/>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Date Placeholder 2"/>
          <p:cNvSpPr>
            <a:spLocks noGrp="1"/>
          </p:cNvSpPr>
          <p:nvPr>
            <p:ph type="dt" sz="half" idx="10"/>
          </p:nvPr>
        </p:nvSpPr>
        <p:spPr/>
        <p:txBody>
          <a:bodyPr/>
          <a:lstStyle/>
          <a:p>
            <a:fld id="{5BCAD085-E8A6-8845-BD4E-CB4CCA059FC4}" type="datetimeFigureOut">
              <a:rPr lang="ja-JP" smtClean="0"/>
              <a:t>1/27/13</a:t>
            </a:fld>
            <a:endParaRPr lang="ja-JP"/>
          </a:p>
        </p:txBody>
      </p:sp>
      <p:sp>
        <p:nvSpPr>
          <p:cNvPr id="4" name="Footer Placeholder 3"/>
          <p:cNvSpPr>
            <a:spLocks noGrp="1"/>
          </p:cNvSpPr>
          <p:nvPr>
            <p:ph type="ftr" sz="quarter" idx="11"/>
          </p:nvPr>
        </p:nvSpPr>
        <p:spPr/>
        <p:txBody>
          <a:bodyPr/>
          <a:lstStyle/>
          <a:p>
            <a:endParaRPr lang="ja-JP"/>
          </a:p>
        </p:txBody>
      </p:sp>
      <p:sp>
        <p:nvSpPr>
          <p:cNvPr id="5" name="Slide Number Placeholder 4"/>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ja-JP" smtClean="0"/>
              <a:t>1/27/13</a:t>
            </a:fld>
            <a:endParaRPr lang="ja-JP"/>
          </a:p>
        </p:txBody>
      </p:sp>
      <p:sp>
        <p:nvSpPr>
          <p:cNvPr id="3" name="Footer Placeholder 2"/>
          <p:cNvSpPr>
            <a:spLocks noGrp="1"/>
          </p:cNvSpPr>
          <p:nvPr>
            <p:ph type="ftr" sz="quarter" idx="11"/>
          </p:nvPr>
        </p:nvSpPr>
        <p:spPr/>
        <p:txBody>
          <a:bodyPr/>
          <a:lstStyle/>
          <a:p>
            <a:endParaRPr lang="ja-JP"/>
          </a:p>
        </p:txBody>
      </p:sp>
      <p:sp>
        <p:nvSpPr>
          <p:cNvPr id="4" name="Slide Number Placeholder 3"/>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lang="ja-JP"/>
            </a:lvl1pPr>
          </a:lstStyle>
          <a:p>
            <a:r>
              <a:rPr lang="ja-JP" smtClean="0"/>
              <a:t>Click to edit Master title style</a:t>
            </a:r>
            <a:endParaRPr lang="ja-JP"/>
          </a:p>
        </p:txBody>
      </p:sp>
      <p:sp>
        <p:nvSpPr>
          <p:cNvPr id="3" name="Content Placeholder 2"/>
          <p:cNvSpPr>
            <a:spLocks noGrp="1"/>
          </p:cNvSpPr>
          <p:nvPr>
            <p:ph idx="1"/>
          </p:nvPr>
        </p:nvSpPr>
        <p:spPr>
          <a:xfrm>
            <a:off x="3575050" y="273050"/>
            <a:ext cx="5111750" cy="5853113"/>
          </a:xfrm>
        </p:spPr>
        <p:txBody>
          <a:bodyPr/>
          <a:lstStyle>
            <a:lvl1pPr>
              <a:defRPr sz="3200" lang="ja-JP"/>
            </a:lvl1pPr>
            <a:lvl2pPr>
              <a:defRPr sz="2800" lang="ja-JP"/>
            </a:lvl2pPr>
            <a:lvl3pPr>
              <a:defRPr sz="2400" lang="ja-JP"/>
            </a:lvl3pPr>
            <a:lvl4pPr>
              <a:defRPr sz="2000" lang="ja-JP"/>
            </a:lvl4pPr>
            <a:lvl5pPr>
              <a:defRPr sz="2000" lang="ja-JP"/>
            </a:lvl5pPr>
            <a:lvl6pPr>
              <a:defRPr sz="2000" lang="ja-JP"/>
            </a:lvl6pPr>
            <a:lvl7pPr>
              <a:defRPr sz="2000" lang="ja-JP"/>
            </a:lvl7pPr>
            <a:lvl8pPr>
              <a:defRPr sz="2000" lang="ja-JP"/>
            </a:lvl8pPr>
            <a:lvl9pPr>
              <a:defRPr sz="20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lang="ja-JP"/>
            </a:lvl1pPr>
            <a:lvl2pPr marL="457200" indent="0">
              <a:buNone/>
              <a:defRPr sz="1200" lang="ja-JP"/>
            </a:lvl2pPr>
            <a:lvl3pPr marL="914400" indent="0">
              <a:buNone/>
              <a:defRPr sz="1000" lang="ja-JP"/>
            </a:lvl3pPr>
            <a:lvl4pPr marL="1371600" indent="0">
              <a:buNone/>
              <a:defRPr sz="900" lang="ja-JP"/>
            </a:lvl4pPr>
            <a:lvl5pPr marL="1828800" indent="0">
              <a:buNone/>
              <a:defRPr sz="900" lang="ja-JP"/>
            </a:lvl5pPr>
            <a:lvl6pPr marL="2286000" indent="0">
              <a:buNone/>
              <a:defRPr sz="900" lang="ja-JP"/>
            </a:lvl6pPr>
            <a:lvl7pPr marL="2743200" indent="0">
              <a:buNone/>
              <a:defRPr sz="900" lang="ja-JP"/>
            </a:lvl7pPr>
            <a:lvl8pPr marL="3200400" indent="0">
              <a:buNone/>
              <a:defRPr sz="900" lang="ja-JP"/>
            </a:lvl8pPr>
            <a:lvl9pPr marL="3657600" indent="0">
              <a:buNone/>
              <a:defRPr sz="900" lang="ja-JP"/>
            </a:lvl9pPr>
          </a:lstStyle>
          <a:p>
            <a:pPr lvl="0"/>
            <a:r>
              <a:rPr lang="ja-JP"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lang="ja-JP"/>
            </a:lvl1pPr>
          </a:lstStyle>
          <a:p>
            <a:r>
              <a:rPr lang="ja-JP" smtClean="0"/>
              <a:t>Click to edit Master title style</a:t>
            </a:r>
            <a:endParaRPr lang="ja-JP"/>
          </a:p>
        </p:txBody>
      </p:sp>
      <p:sp>
        <p:nvSpPr>
          <p:cNvPr id="3" name="Picture Placeholder 2"/>
          <p:cNvSpPr>
            <a:spLocks noGrp="1"/>
          </p:cNvSpPr>
          <p:nvPr>
            <p:ph type="pic" idx="1"/>
          </p:nvPr>
        </p:nvSpPr>
        <p:spPr>
          <a:xfrm>
            <a:off x="1792288" y="612775"/>
            <a:ext cx="5486400" cy="4114800"/>
          </a:xfrm>
        </p:spPr>
        <p:txBody>
          <a:bodyPr/>
          <a:lstStyle>
            <a:lvl1pPr marL="0" indent="0">
              <a:buNone/>
              <a:defRPr sz="3200" lang="ja-JP"/>
            </a:lvl1pPr>
            <a:lvl2pPr marL="457200" indent="0">
              <a:buNone/>
              <a:defRPr sz="2800" lang="ja-JP"/>
            </a:lvl2pPr>
            <a:lvl3pPr marL="914400" indent="0">
              <a:buNone/>
              <a:defRPr sz="2400" lang="ja-JP"/>
            </a:lvl3pPr>
            <a:lvl4pPr marL="1371600" indent="0">
              <a:buNone/>
              <a:defRPr sz="2000" lang="ja-JP"/>
            </a:lvl4pPr>
            <a:lvl5pPr marL="1828800" indent="0">
              <a:buNone/>
              <a:defRPr sz="2000" lang="ja-JP"/>
            </a:lvl5pPr>
            <a:lvl6pPr marL="2286000" indent="0">
              <a:buNone/>
              <a:defRPr sz="2000" lang="ja-JP"/>
            </a:lvl6pPr>
            <a:lvl7pPr marL="2743200" indent="0">
              <a:buNone/>
              <a:defRPr sz="2000" lang="ja-JP"/>
            </a:lvl7pPr>
            <a:lvl8pPr marL="3200400" indent="0">
              <a:buNone/>
              <a:defRPr sz="2000" lang="ja-JP"/>
            </a:lvl8pPr>
            <a:lvl9pPr marL="3657600" indent="0">
              <a:buNone/>
              <a:defRPr sz="2000" lang="ja-JP"/>
            </a:lvl9pPr>
          </a:lstStyle>
          <a:p>
            <a:endParaRPr lang="ja-JP"/>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lang="ja-JP"/>
            </a:lvl1pPr>
            <a:lvl2pPr marL="457200" indent="0">
              <a:buNone/>
              <a:defRPr sz="1200" lang="ja-JP"/>
            </a:lvl2pPr>
            <a:lvl3pPr marL="914400" indent="0">
              <a:buNone/>
              <a:defRPr sz="1000" lang="ja-JP"/>
            </a:lvl3pPr>
            <a:lvl4pPr marL="1371600" indent="0">
              <a:buNone/>
              <a:defRPr sz="900" lang="ja-JP"/>
            </a:lvl4pPr>
            <a:lvl5pPr marL="1828800" indent="0">
              <a:buNone/>
              <a:defRPr sz="900" lang="ja-JP"/>
            </a:lvl5pPr>
            <a:lvl6pPr marL="2286000" indent="0">
              <a:buNone/>
              <a:defRPr sz="900" lang="ja-JP"/>
            </a:lvl6pPr>
            <a:lvl7pPr marL="2743200" indent="0">
              <a:buNone/>
              <a:defRPr sz="900" lang="ja-JP"/>
            </a:lvl7pPr>
            <a:lvl8pPr marL="3200400" indent="0">
              <a:buNone/>
              <a:defRPr sz="900" lang="ja-JP"/>
            </a:lvl8pPr>
            <a:lvl9pPr marL="3657600" indent="0">
              <a:buNone/>
              <a:defRPr sz="900" lang="ja-JP"/>
            </a:lvl9pPr>
          </a:lstStyle>
          <a:p>
            <a:pPr lvl="0"/>
            <a:r>
              <a:rPr lang="ja-JP"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Vertical Text Placeholder 2"/>
          <p:cNvSpPr>
            <a:spLocks noGrp="1"/>
          </p:cNvSpPr>
          <p:nvPr>
            <p:ph type="body" orient="vert" idx="1"/>
          </p:nvPr>
        </p:nvSpPr>
        <p:spPr/>
        <p:txBody>
          <a:bodyPr vert="eaVert"/>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ja-JP" smtClean="0"/>
              <a:t>Click to edit Master title style</a:t>
            </a:r>
            <a:endParaRPr lang="ja-JP"/>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smtClean="0"/>
              <a:t>Click to edit Master title style</a:t>
            </a:r>
            <a:endParaRPr lang="ja-JP"/>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ja-JP">
                <a:solidFill>
                  <a:schemeClr val="tx1">
                    <a:tint val="75000"/>
                  </a:schemeClr>
                </a:solidFill>
              </a:defRPr>
            </a:lvl1pPr>
          </a:lstStyle>
          <a:p>
            <a:fld id="{5BCAD085-E8A6-8845-BD4E-CB4CCA059FC4}" type="datetimeFigureOut">
              <a:rPr lang="ja-JP" smtClean="0"/>
              <a:t>1/27/13</a:t>
            </a:fld>
            <a:endParaRPr lang="ja-JP"/>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ja-JP">
                <a:solidFill>
                  <a:schemeClr val="tx1">
                    <a:tint val="75000"/>
                  </a:schemeClr>
                </a:solidFill>
              </a:defRPr>
            </a:lvl1pPr>
          </a:lstStyle>
          <a:p>
            <a:endParaRPr lang="ja-JP"/>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ja-JP">
                <a:solidFill>
                  <a:schemeClr val="tx1">
                    <a:tint val="75000"/>
                  </a:schemeClr>
                </a:solidFill>
              </a:defRPr>
            </a:lvl1pPr>
          </a:lstStyle>
          <a:p>
            <a:fld id="{C1FF6DA9-008F-8B48-92A6-B652298478BF}" type="slidenum">
              <a:rPr lang="ja-JP" smtClean="0"/>
              <a:t>‹#›</a:t>
            </a:fld>
            <a:endParaRPr lang="ja-JP"/>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lang="ja-JP">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ja-JP">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ja-JP">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ja-JP">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9pPr>
    </p:bodyStyle>
    <p:otherStyle>
      <a:defPPr>
        <a:defRPr lang="ja-JP"/>
      </a:defPPr>
      <a:lvl1pPr marL="0" algn="l" defTabSz="457200" rtl="0" eaLnBrk="1" latinLnBrk="0" hangingPunct="1">
        <a:defRPr sz="1800" kern="1200" lang="ja-JP">
          <a:solidFill>
            <a:schemeClr val="tx1"/>
          </a:solidFill>
          <a:latin typeface="+mn-lt"/>
          <a:ea typeface="+mn-ea"/>
          <a:cs typeface="+mn-cs"/>
        </a:defRPr>
      </a:lvl1pPr>
      <a:lvl2pPr marL="457200" algn="l" defTabSz="457200" rtl="0" eaLnBrk="1" latinLnBrk="0" hangingPunct="1">
        <a:defRPr sz="1800" kern="1200" lang="ja-JP">
          <a:solidFill>
            <a:schemeClr val="tx1"/>
          </a:solidFill>
          <a:latin typeface="+mn-lt"/>
          <a:ea typeface="+mn-ea"/>
          <a:cs typeface="+mn-cs"/>
        </a:defRPr>
      </a:lvl2pPr>
      <a:lvl3pPr marL="914400" algn="l" defTabSz="457200" rtl="0" eaLnBrk="1" latinLnBrk="0" hangingPunct="1">
        <a:defRPr sz="1800" kern="1200" lang="ja-JP">
          <a:solidFill>
            <a:schemeClr val="tx1"/>
          </a:solidFill>
          <a:latin typeface="+mn-lt"/>
          <a:ea typeface="+mn-ea"/>
          <a:cs typeface="+mn-cs"/>
        </a:defRPr>
      </a:lvl3pPr>
      <a:lvl4pPr marL="1371600" algn="l" defTabSz="457200" rtl="0" eaLnBrk="1" latinLnBrk="0" hangingPunct="1">
        <a:defRPr sz="1800" kern="1200" lang="ja-JP">
          <a:solidFill>
            <a:schemeClr val="tx1"/>
          </a:solidFill>
          <a:latin typeface="+mn-lt"/>
          <a:ea typeface="+mn-ea"/>
          <a:cs typeface="+mn-cs"/>
        </a:defRPr>
      </a:lvl4pPr>
      <a:lvl5pPr marL="1828800" algn="l" defTabSz="457200" rtl="0" eaLnBrk="1" latinLnBrk="0" hangingPunct="1">
        <a:defRPr sz="1800" kern="1200" lang="ja-JP">
          <a:solidFill>
            <a:schemeClr val="tx1"/>
          </a:solidFill>
          <a:latin typeface="+mn-lt"/>
          <a:ea typeface="+mn-ea"/>
          <a:cs typeface="+mn-cs"/>
        </a:defRPr>
      </a:lvl5pPr>
      <a:lvl6pPr marL="2286000" algn="l" defTabSz="457200" rtl="0" eaLnBrk="1" latinLnBrk="0" hangingPunct="1">
        <a:defRPr sz="1800" kern="1200" lang="ja-JP">
          <a:solidFill>
            <a:schemeClr val="tx1"/>
          </a:solidFill>
          <a:latin typeface="+mn-lt"/>
          <a:ea typeface="+mn-ea"/>
          <a:cs typeface="+mn-cs"/>
        </a:defRPr>
      </a:lvl6pPr>
      <a:lvl7pPr marL="2743200" algn="l" defTabSz="457200" rtl="0" eaLnBrk="1" latinLnBrk="0" hangingPunct="1">
        <a:defRPr sz="1800" kern="1200" lang="ja-JP">
          <a:solidFill>
            <a:schemeClr val="tx1"/>
          </a:solidFill>
          <a:latin typeface="+mn-lt"/>
          <a:ea typeface="+mn-ea"/>
          <a:cs typeface="+mn-cs"/>
        </a:defRPr>
      </a:lvl7pPr>
      <a:lvl8pPr marL="3200400" algn="l" defTabSz="457200" rtl="0" eaLnBrk="1" latinLnBrk="0" hangingPunct="1">
        <a:defRPr sz="1800" kern="1200" lang="ja-JP">
          <a:solidFill>
            <a:schemeClr val="tx1"/>
          </a:solidFill>
          <a:latin typeface="+mn-lt"/>
          <a:ea typeface="+mn-ea"/>
          <a:cs typeface="+mn-cs"/>
        </a:defRPr>
      </a:lvl8pPr>
      <a:lvl9pPr marL="3657600" algn="l" defTabSz="457200" rtl="0" eaLnBrk="1" latinLnBrk="0" hangingPunct="1">
        <a:defRPr sz="1800" kern="1200" lang="ja-JP">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92000" y="360000"/>
            <a:ext cx="41220000" cy="1224000"/>
          </a:xfrm>
          <a:prstGeom prst="rect">
            <a:avLst/>
          </a:prstGeom>
          <a:noFill/>
        </p:spPr>
        <p:txBody>
          <a:bodyPr wrap="square" lIns="0" tIns="0" rIns="0" bIns="0" anchor="ctr"/>
          <a:lstStyle/>
          <a:p>
            <a:pPr algn="ctr" marL="0" indent="0">
              <a:lnSpc>
                <a:spcPts val="8296"/>
              </a:lnSpc>
              <a:spcAft>
                <a:spcPts val="0"/>
              </a:spcAft>
              <a:buNone/>
            </a:pPr>
            <a:r>
              <a:rPr sz="6800" b="1" i="0" lang="ja-JP">
                <a:solidFill>
                  <a:srgbClr val="000000"/>
                </a:solidFill>
                <a:latin typeface="游ゴシック"/>
                <a:ea typeface="游ゴシック"/>
                <a:cs typeface="游ゴシック"/>
              </a:rPr>
              <a:t>タスク類似性に基づく内部表現整合学習が視覚言語モデルの出力に与える影響</a:t>
            </a:r>
          </a:p>
        </p:txBody>
      </p:sp>
      <p:sp>
        <p:nvSpPr>
          <p:cNvPr id="3" name="TextBox 2"/>
          <p:cNvSpPr txBox="1"/>
          <p:nvPr/>
        </p:nvSpPr>
        <p:spPr>
          <a:xfrm>
            <a:off x="792000" y="1620000"/>
            <a:ext cx="41220000" cy="468000"/>
          </a:xfrm>
          <a:prstGeom prst="rect">
            <a:avLst/>
          </a:prstGeom>
          <a:noFill/>
        </p:spPr>
        <p:txBody>
          <a:bodyPr wrap="square" lIns="0" tIns="0" rIns="0" bIns="0" anchor="ctr"/>
          <a:lstStyle/>
          <a:p>
            <a:pPr algn="ctr" marL="0" indent="0">
              <a:lnSpc>
                <a:spcPts val="3904"/>
              </a:lnSpc>
              <a:spcAft>
                <a:spcPts val="0"/>
              </a:spcAft>
              <a:buNone/>
            </a:pPr>
            <a:r>
              <a:rPr sz="3200" b="0" i="0" lang="ja-JP">
                <a:solidFill>
                  <a:srgbClr val="404040"/>
                </a:solidFill>
                <a:latin typeface="游ゴシック"/>
                <a:ea typeface="游ゴシック"/>
                <a:cs typeface="游ゴシック"/>
              </a:rPr>
              <a:t>Effects of Task-Similarity-Based Internal Representation Alignment on the Outputs of Vision-Language Models</a:t>
            </a:r>
          </a:p>
        </p:txBody>
      </p:sp>
      <p:sp>
        <p:nvSpPr>
          <p:cNvPr id="4" name="TextBox 3"/>
          <p:cNvSpPr txBox="1"/>
          <p:nvPr/>
        </p:nvSpPr>
        <p:spPr>
          <a:xfrm>
            <a:off x="792000" y="2160000"/>
            <a:ext cx="41220000" cy="540000"/>
          </a:xfrm>
          <a:prstGeom prst="rect">
            <a:avLst/>
          </a:prstGeom>
          <a:noFill/>
        </p:spPr>
        <p:txBody>
          <a:bodyPr wrap="square" lIns="0" tIns="0" rIns="0" bIns="0" anchor="ctr"/>
          <a:lstStyle/>
          <a:p>
            <a:pPr algn="ctr" marL="0" indent="0">
              <a:lnSpc>
                <a:spcPts val="4636"/>
              </a:lnSpc>
              <a:spcAft>
                <a:spcPts val="0"/>
              </a:spcAft>
              <a:buNone/>
            </a:pPr>
            <a:r>
              <a:rPr sz="3800" b="1" i="0" lang="ja-JP">
                <a:solidFill>
                  <a:srgbClr val="000000"/>
                </a:solidFill>
                <a:latin typeface="游ゴシック"/>
                <a:ea typeface="游ゴシック"/>
                <a:cs typeface="游ゴシック"/>
              </a:rPr>
              <a:t>中野 友晴</a:t>
            </a:r>
            <a:r>
              <a:rPr sz="3800" b="0" i="0" lang="ja-JP">
                <a:solidFill>
                  <a:srgbClr val="000000"/>
                </a:solidFill>
                <a:latin typeface="游ゴシック"/>
                <a:ea typeface="游ゴシック"/>
                <a:cs typeface="游ゴシック"/>
              </a:rPr>
              <a:t>，杉村 大輔（東京都立大学）</a:t>
            </a:r>
          </a:p>
        </p:txBody>
      </p:sp>
      <p:sp>
        <p:nvSpPr>
          <p:cNvPr id="5" name="Rectangle 4"/>
          <p:cNvSpPr/>
          <p:nvPr/>
        </p:nvSpPr>
        <p:spPr>
          <a:xfrm>
            <a:off x="792000" y="2844000"/>
            <a:ext cx="41220000" cy="576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792000" y="432000"/>
            <a:ext cx="2088000" cy="864000"/>
          </a:xfrm>
          <a:prstGeom prst="roundRect">
            <a:avLst>
              <a:gd name="adj" fmla="val 15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2000" y="432000"/>
            <a:ext cx="2088000" cy="864000"/>
          </a:xfrm>
          <a:prstGeom prst="rect">
            <a:avLst/>
          </a:prstGeom>
          <a:noFill/>
        </p:spPr>
        <p:txBody>
          <a:bodyPr wrap="square" lIns="0" tIns="0" rIns="0" bIns="0" anchor="ctr"/>
          <a:lstStyle/>
          <a:p>
            <a:pPr algn="ctr" marL="0" indent="0">
              <a:lnSpc>
                <a:spcPts val="5856"/>
              </a:lnSpc>
              <a:spcAft>
                <a:spcPts val="0"/>
              </a:spcAft>
              <a:buNone/>
            </a:pPr>
            <a:r>
              <a:rPr sz="4800" b="1" i="0" lang="ja-JP">
                <a:solidFill>
                  <a:srgbClr val="FFFFFF"/>
                </a:solidFill>
                <a:latin typeface="游ゴシック"/>
                <a:ea typeface="游ゴシック"/>
                <a:cs typeface="游ゴシック"/>
              </a:rPr>
              <a:t>P3-15</a:t>
            </a:r>
          </a:p>
        </p:txBody>
      </p:sp>
      <p:sp>
        <p:nvSpPr>
          <p:cNvPr id="8" name="Rounded Rectangle 7"/>
          <p:cNvSpPr/>
          <p:nvPr/>
        </p:nvSpPr>
        <p:spPr>
          <a:xfrm>
            <a:off x="792000" y="3096000"/>
            <a:ext cx="41220000" cy="2664000"/>
          </a:xfrm>
          <a:prstGeom prst="roundRect">
            <a:avLst>
              <a:gd name="adj" fmla="val 8000"/>
            </a:avLst>
          </a:prstGeom>
          <a:solidFill>
            <a:srgbClr val="E2F0D9"/>
          </a:solidFill>
          <a:ln w="288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52000" y="3204000"/>
            <a:ext cx="40500000" cy="576000"/>
          </a:xfrm>
          <a:prstGeom prst="rect">
            <a:avLst/>
          </a:prstGeom>
          <a:noFill/>
        </p:spPr>
        <p:txBody>
          <a:bodyPr wrap="square" lIns="0" tIns="0" rIns="0" bIns="0" anchor="ctr"/>
          <a:lstStyle/>
          <a:p>
            <a:pPr marL="0" indent="0">
              <a:lnSpc>
                <a:spcPts val="4392"/>
              </a:lnSpc>
              <a:spcAft>
                <a:spcPts val="0"/>
              </a:spcAft>
              <a:buNone/>
            </a:pPr>
            <a:r>
              <a:rPr sz="3600" b="1" i="0" lang="ja-JP">
                <a:solidFill>
                  <a:srgbClr val="000000"/>
                </a:solidFill>
                <a:latin typeface="游ゴシック"/>
                <a:ea typeface="游ゴシック"/>
                <a:cs typeface="游ゴシック"/>
              </a:rPr>
              <a:t>手続きが同じ質問どうしの内部表現を近づけて学習すると</a:t>
            </a:r>
          </a:p>
        </p:txBody>
      </p:sp>
      <p:sp>
        <p:nvSpPr>
          <p:cNvPr id="10" name="Rounded Rectangle 9"/>
          <p:cNvSpPr/>
          <p:nvPr/>
        </p:nvSpPr>
        <p:spPr>
          <a:xfrm>
            <a:off x="1152000" y="3852000"/>
            <a:ext cx="13212000" cy="1692000"/>
          </a:xfrm>
          <a:prstGeom prst="roundRect">
            <a:avLst>
              <a:gd name="adj" fmla="val 10000"/>
            </a:avLst>
          </a:prstGeom>
          <a:solidFill>
            <a:srgbClr val="FFFFFF"/>
          </a:solidFill>
          <a:ln w="180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68000" y="3888000"/>
            <a:ext cx="12780000" cy="1620000"/>
          </a:xfrm>
          <a:prstGeom prst="rect">
            <a:avLst/>
          </a:prstGeom>
          <a:noFill/>
        </p:spPr>
        <p:txBody>
          <a:bodyPr wrap="square" lIns="0" tIns="0" rIns="0" bIns="0" anchor="ctr"/>
          <a:lstStyle/>
          <a:p>
            <a:pPr algn="ctr" marL="0" indent="0">
              <a:lnSpc>
                <a:spcPts val="3904"/>
              </a:lnSpc>
              <a:spcAft>
                <a:spcPts val="800"/>
              </a:spcAft>
              <a:buNone/>
            </a:pPr>
            <a:r>
              <a:rPr sz="3200" b="1" i="0" lang="ja-JP">
                <a:solidFill>
                  <a:srgbClr val="70AD47"/>
                </a:solidFill>
                <a:latin typeface="游ゴシック"/>
                <a:ea typeface="游ゴシック"/>
                <a:cs typeface="游ゴシック"/>
              </a:rPr>
              <a:t>① </a:t>
            </a:r>
            <a:r>
              <a:rPr sz="3200" b="1" i="0" lang="ja-JP">
                <a:solidFill>
                  <a:srgbClr val="000000"/>
                </a:solidFill>
                <a:latin typeface="游ゴシック"/>
                <a:ea typeface="游ゴシック"/>
                <a:cs typeface="游ゴシック"/>
              </a:rPr>
              <a:t>内部表現から手続きを読み取りやすくなる</a:t>
            </a:r>
          </a:p>
          <a:p>
            <a:pPr algn="ctr" marL="0" indent="0">
              <a:lnSpc>
                <a:spcPts val="4636"/>
              </a:lnSpc>
              <a:spcAft>
                <a:spcPts val="0"/>
              </a:spcAft>
              <a:buNone/>
            </a:pPr>
            <a:r>
              <a:rPr sz="3800" b="1" i="0" lang="ja-JP">
                <a:solidFill>
                  <a:srgbClr val="C00000"/>
                </a:solidFill>
                <a:latin typeface="游ゴシック"/>
                <a:ea typeface="游ゴシック"/>
                <a:cs typeface="游ゴシック"/>
              </a:rPr>
              <a:t>読み取り精度 82.9% → 95.9%</a:t>
            </a:r>
          </a:p>
        </p:txBody>
      </p:sp>
      <p:sp>
        <p:nvSpPr>
          <p:cNvPr id="12" name="Rounded Rectangle 11"/>
          <p:cNvSpPr/>
          <p:nvPr/>
        </p:nvSpPr>
        <p:spPr>
          <a:xfrm>
            <a:off x="14796000" y="3852000"/>
            <a:ext cx="13212000" cy="1692000"/>
          </a:xfrm>
          <a:prstGeom prst="roundRect">
            <a:avLst>
              <a:gd name="adj" fmla="val 10000"/>
            </a:avLst>
          </a:prstGeom>
          <a:solidFill>
            <a:srgbClr val="FFFFFF"/>
          </a:solidFill>
          <a:ln w="180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012000" y="3888000"/>
            <a:ext cx="12780000" cy="1620000"/>
          </a:xfrm>
          <a:prstGeom prst="rect">
            <a:avLst/>
          </a:prstGeom>
          <a:noFill/>
        </p:spPr>
        <p:txBody>
          <a:bodyPr wrap="square" lIns="0" tIns="0" rIns="0" bIns="0" anchor="ctr"/>
          <a:lstStyle/>
          <a:p>
            <a:pPr algn="ctr" marL="0" indent="0">
              <a:lnSpc>
                <a:spcPts val="3904"/>
              </a:lnSpc>
              <a:spcAft>
                <a:spcPts val="800"/>
              </a:spcAft>
              <a:buNone/>
            </a:pPr>
            <a:r>
              <a:rPr sz="3200" b="1" i="0" lang="ja-JP">
                <a:solidFill>
                  <a:srgbClr val="70AD47"/>
                </a:solidFill>
                <a:latin typeface="游ゴシック"/>
                <a:ea typeface="游ゴシック"/>
                <a:cs typeface="游ゴシック"/>
              </a:rPr>
              <a:t>② </a:t>
            </a:r>
            <a:r>
              <a:rPr sz="3200" b="1" i="0" lang="ja-JP">
                <a:solidFill>
                  <a:srgbClr val="000000"/>
                </a:solidFill>
                <a:latin typeface="游ゴシック"/>
                <a:ea typeface="游ゴシック"/>
                <a:cs typeface="游ゴシック"/>
              </a:rPr>
              <a:t>正解率はほとんど変わらない</a:t>
            </a:r>
          </a:p>
          <a:p>
            <a:pPr algn="ctr" marL="0" indent="0">
              <a:lnSpc>
                <a:spcPts val="4636"/>
              </a:lnSpc>
              <a:spcAft>
                <a:spcPts val="0"/>
              </a:spcAft>
              <a:buNone/>
            </a:pPr>
            <a:r>
              <a:rPr sz="3800" b="1" i="0" lang="ja-JP">
                <a:solidFill>
                  <a:srgbClr val="000000"/>
                </a:solidFill>
                <a:latin typeface="游ゴシック"/>
                <a:ea typeface="游ゴシック"/>
                <a:cs typeface="游ゴシック"/>
              </a:rPr>
              <a:t>正解率 53.5% → 53.5%</a:t>
            </a:r>
          </a:p>
        </p:txBody>
      </p:sp>
      <p:sp>
        <p:nvSpPr>
          <p:cNvPr id="14" name="Rounded Rectangle 13"/>
          <p:cNvSpPr/>
          <p:nvPr/>
        </p:nvSpPr>
        <p:spPr>
          <a:xfrm>
            <a:off x="28440000" y="3852000"/>
            <a:ext cx="13212000" cy="1692000"/>
          </a:xfrm>
          <a:prstGeom prst="roundRect">
            <a:avLst>
              <a:gd name="adj" fmla="val 10000"/>
            </a:avLst>
          </a:prstGeom>
          <a:solidFill>
            <a:srgbClr val="FFFFFF"/>
          </a:solidFill>
          <a:ln w="180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8656000" y="3888000"/>
            <a:ext cx="12780000" cy="1620000"/>
          </a:xfrm>
          <a:prstGeom prst="rect">
            <a:avLst/>
          </a:prstGeom>
          <a:noFill/>
        </p:spPr>
        <p:txBody>
          <a:bodyPr wrap="square" lIns="0" tIns="0" rIns="0" bIns="0" anchor="ctr"/>
          <a:lstStyle/>
          <a:p>
            <a:pPr algn="ctr" marL="0" indent="0">
              <a:lnSpc>
                <a:spcPts val="3904"/>
              </a:lnSpc>
              <a:spcAft>
                <a:spcPts val="800"/>
              </a:spcAft>
              <a:buNone/>
            </a:pPr>
            <a:r>
              <a:rPr sz="3200" b="1" i="0" lang="ja-JP">
                <a:solidFill>
                  <a:srgbClr val="70AD47"/>
                </a:solidFill>
                <a:latin typeface="游ゴシック"/>
                <a:ea typeface="游ゴシック"/>
                <a:cs typeface="游ゴシック"/>
              </a:rPr>
              <a:t>③ </a:t>
            </a:r>
            <a:r>
              <a:rPr sz="3200" b="1" i="0" lang="ja-JP">
                <a:solidFill>
                  <a:srgbClr val="000000"/>
                </a:solidFill>
                <a:latin typeface="游ゴシック"/>
                <a:ea typeface="游ゴシック"/>
                <a:cs typeface="游ゴシック"/>
              </a:rPr>
              <a:t>回答の生成が内部表現に頼る度合いは下がる</a:t>
            </a:r>
          </a:p>
          <a:p>
            <a:pPr algn="ctr" marL="0" indent="0">
              <a:lnSpc>
                <a:spcPts val="4636"/>
              </a:lnSpc>
              <a:spcAft>
                <a:spcPts val="0"/>
              </a:spcAft>
              <a:buNone/>
            </a:pPr>
            <a:r>
              <a:rPr sz="3800" b="1" i="0" lang="ja-JP">
                <a:solidFill>
                  <a:srgbClr val="C00000"/>
                </a:solidFill>
                <a:latin typeface="游ゴシック"/>
                <a:ea typeface="游ゴシック"/>
                <a:cs typeface="游ゴシック"/>
              </a:rPr>
              <a:t>相対感度 18–28% 低下</a:t>
            </a:r>
          </a:p>
        </p:txBody>
      </p:sp>
      <p:sp>
        <p:nvSpPr>
          <p:cNvPr id="16" name="Rectangle 15"/>
          <p:cNvSpPr/>
          <p:nvPr/>
        </p:nvSpPr>
        <p:spPr>
          <a:xfrm>
            <a:off x="792000" y="6084000"/>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8000" y="6084000"/>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1．背景と目的</a:t>
            </a:r>
          </a:p>
        </p:txBody>
      </p:sp>
      <p:sp>
        <p:nvSpPr>
          <p:cNvPr id="18" name="TextBox 17"/>
          <p:cNvSpPr txBox="1"/>
          <p:nvPr/>
        </p:nvSpPr>
        <p:spPr>
          <a:xfrm>
            <a:off x="792000" y="6984000"/>
            <a:ext cx="13308000" cy="4209553"/>
          </a:xfrm>
          <a:prstGeom prst="rect">
            <a:avLst/>
          </a:prstGeom>
          <a:noFill/>
        </p:spPr>
        <p:txBody>
          <a:bodyPr wrap="square" lIns="0" tIns="0" rIns="0" bIns="0" anchor="t"/>
          <a:lstStyle/>
          <a:p>
            <a:pPr marL="0" indent="0">
              <a:lnSpc>
                <a:spcPts val="4392"/>
              </a:lnSpc>
              <a:spcAft>
                <a:spcPts val="800"/>
              </a:spcAft>
              <a:buNone/>
            </a:pPr>
            <a:r>
              <a:rPr sz="3600" b="0" i="0" lang="ja-JP">
                <a:solidFill>
                  <a:srgbClr val="000000"/>
                </a:solidFill>
                <a:latin typeface="游ゴシック"/>
                <a:ea typeface="游ゴシック"/>
                <a:cs typeface="游ゴシック"/>
              </a:rPr>
              <a:t>視覚言語モデル（VLM）は，画像と質問文から回答を生成する．多くは正しい回答を出すように学習され，内部表現がどう形成されるべきかは学習の目的に含まれない．</a:t>
            </a:r>
          </a:p>
          <a:p>
            <a:pPr marL="0" indent="0">
              <a:lnSpc>
                <a:spcPts val="4392"/>
              </a:lnSpc>
              <a:spcAft>
                <a:spcPts val="800"/>
              </a:spcAft>
              <a:buNone/>
            </a:pPr>
            <a:r>
              <a:rPr sz="3600" b="1" i="0" lang="ja-JP">
                <a:solidFill>
                  <a:srgbClr val="000000"/>
                </a:solidFill>
                <a:latin typeface="游ゴシック"/>
                <a:ea typeface="游ゴシック"/>
                <a:cs typeface="游ゴシック"/>
              </a:rPr>
              <a:t>Waniら[1]　</a:t>
            </a:r>
            <a:r>
              <a:rPr sz="3600" b="0" i="0" lang="ja-JP">
                <a:solidFill>
                  <a:srgbClr val="000000"/>
                </a:solidFill>
                <a:latin typeface="游ゴシック"/>
                <a:ea typeface="游ゴシック"/>
                <a:cs typeface="游ゴシック"/>
              </a:rPr>
              <a:t>正解を変えない加工（文字の重ね書きなど）を画像に施すと，回答が同じでも内部表現は大きく変わる．</a:t>
            </a:r>
          </a:p>
          <a:p>
            <a:pPr marL="0" indent="0">
              <a:lnSpc>
                <a:spcPts val="4392"/>
              </a:lnSpc>
              <a:spcAft>
                <a:spcPts val="800"/>
              </a:spcAft>
              <a:buNone/>
            </a:pPr>
            <a:r>
              <a:rPr sz="3600" b="0" i="0" lang="ja-JP">
                <a:solidFill>
                  <a:srgbClr val="000000"/>
                </a:solidFill>
                <a:latin typeface="游ゴシック"/>
                <a:ea typeface="游ゴシック"/>
                <a:cs typeface="游ゴシック"/>
              </a:rPr>
              <a:t>→「見つける」「たどる」「答える」といった回答の手続きの特徴を，内部表現は一貫した形で持たないのでは？</a:t>
            </a:r>
          </a:p>
        </p:txBody>
      </p:sp>
      <p:sp>
        <p:nvSpPr>
          <p:cNvPr id="19" name="Rounded Rectangle 18"/>
          <p:cNvSpPr/>
          <p:nvPr/>
        </p:nvSpPr>
        <p:spPr>
          <a:xfrm>
            <a:off x="792000" y="11625553"/>
            <a:ext cx="13308000" cy="2105457"/>
          </a:xfrm>
          <a:prstGeom prst="roundRect">
            <a:avLst>
              <a:gd name="adj" fmla="val 10000"/>
            </a:avLst>
          </a:prstGeom>
          <a:solidFill>
            <a:srgbClr val="E2F0D9"/>
          </a:solidFill>
          <a:ln w="216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08000" y="11841553"/>
            <a:ext cx="12876000" cy="1673457"/>
          </a:xfrm>
          <a:prstGeom prst="rect">
            <a:avLst/>
          </a:prstGeom>
          <a:noFill/>
        </p:spPr>
        <p:txBody>
          <a:bodyPr wrap="square" lIns="0" tIns="0" rIns="0" bIns="0" anchor="ctr"/>
          <a:lstStyle/>
          <a:p>
            <a:pPr marL="0" indent="0">
              <a:lnSpc>
                <a:spcPts val="4392"/>
              </a:lnSpc>
              <a:spcAft>
                <a:spcPts val="0"/>
              </a:spcAft>
              <a:buNone/>
            </a:pPr>
            <a:r>
              <a:rPr sz="3600" b="1" i="0" lang="ja-JP">
                <a:solidFill>
                  <a:srgbClr val="70AD47"/>
                </a:solidFill>
                <a:latin typeface="游ゴシック"/>
                <a:ea typeface="游ゴシック"/>
                <a:cs typeface="游ゴシック"/>
              </a:rPr>
              <a:t>仮説　</a:t>
            </a:r>
            <a:r>
              <a:rPr sz="3600" b="1" i="0" lang="ja-JP">
                <a:solidFill>
                  <a:srgbClr val="000000"/>
                </a:solidFill>
                <a:latin typeface="游ゴシック"/>
                <a:ea typeface="游ゴシック"/>
                <a:cs typeface="游ゴシック"/>
              </a:rPr>
              <a:t>手続きが同じ質問どうしの内部表現を近づければ，手続きの特徴が物体によらず共通に使われ，回答の正確さが高まる</a:t>
            </a:r>
          </a:p>
        </p:txBody>
      </p:sp>
      <p:sp>
        <p:nvSpPr>
          <p:cNvPr id="21" name="Rectangle 20"/>
          <p:cNvSpPr/>
          <p:nvPr/>
        </p:nvSpPr>
        <p:spPr>
          <a:xfrm>
            <a:off x="792000" y="14271011"/>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8000" y="14271011"/>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2．提案手法</a:t>
            </a:r>
          </a:p>
        </p:txBody>
      </p:sp>
      <p:pic>
        <p:nvPicPr>
          <p:cNvPr id="23" name="Picture 22" descr="fig1.png"/>
          <p:cNvPicPr>
            <a:picLocks noChangeAspect="1"/>
          </p:cNvPicPr>
          <p:nvPr/>
        </p:nvPicPr>
        <p:blipFill>
          <a:blip r:embed="rId2"/>
          <a:stretch>
            <a:fillRect/>
          </a:stretch>
        </p:blipFill>
        <p:spPr>
          <a:xfrm>
            <a:off x="792000" y="15315011"/>
            <a:ext cx="13308000" cy="3784753"/>
          </a:xfrm>
          <a:prstGeom prst="rect">
            <a:avLst/>
          </a:prstGeom>
        </p:spPr>
      </p:pic>
      <p:sp>
        <p:nvSpPr>
          <p:cNvPr id="24" name="TextBox 23"/>
          <p:cNvSpPr txBox="1"/>
          <p:nvPr/>
        </p:nvSpPr>
        <p:spPr>
          <a:xfrm>
            <a:off x="792000" y="19171764"/>
            <a:ext cx="13308000" cy="453673"/>
          </a:xfrm>
          <a:prstGeom prst="rect">
            <a:avLst/>
          </a:prstGeom>
          <a:noFill/>
        </p:spPr>
        <p:txBody>
          <a:bodyPr wrap="square" lIns="0" tIns="0" rIns="0" bIns="0" anchor="t"/>
          <a:lstStyle/>
          <a:p>
            <a:pPr algn="ctr" marL="0" indent="0">
              <a:lnSpc>
                <a:spcPts val="3172"/>
              </a:lnSpc>
              <a:spcAft>
                <a:spcPts val="400"/>
              </a:spcAft>
              <a:buNone/>
            </a:pPr>
            <a:r>
              <a:rPr sz="2600" b="0" i="0" lang="ja-JP">
                <a:solidFill>
                  <a:srgbClr val="000000"/>
                </a:solidFill>
                <a:latin typeface="游ゴシック"/>
                <a:ea typeface="游ゴシック"/>
                <a:cs typeface="游ゴシック"/>
              </a:rPr>
              <a:t>図1　提案手法の概要（予稿の図1）</a:t>
            </a:r>
          </a:p>
        </p:txBody>
      </p:sp>
      <p:sp>
        <p:nvSpPr>
          <p:cNvPr id="25" name="TextBox 24"/>
          <p:cNvSpPr txBox="1"/>
          <p:nvPr/>
        </p:nvSpPr>
        <p:spPr>
          <a:xfrm>
            <a:off x="792000" y="20093436"/>
            <a:ext cx="13308000" cy="1724261"/>
          </a:xfrm>
          <a:prstGeom prst="rect">
            <a:avLst/>
          </a:prstGeom>
          <a:noFill/>
        </p:spPr>
        <p:txBody>
          <a:bodyPr wrap="square" lIns="0" tIns="0" rIns="0" bIns="0" anchor="t"/>
          <a:lstStyle/>
          <a:p>
            <a:pPr marL="0" indent="0">
              <a:lnSpc>
                <a:spcPts val="4392"/>
              </a:lnSpc>
              <a:spcAft>
                <a:spcPts val="400"/>
              </a:spcAft>
              <a:buNone/>
            </a:pPr>
            <a:r>
              <a:rPr sz="3600" b="1" i="0" lang="ja-JP">
                <a:solidFill>
                  <a:srgbClr val="000000"/>
                </a:solidFill>
                <a:latin typeface="游ゴシック"/>
                <a:ea typeface="游ゴシック"/>
                <a:cs typeface="游ゴシック"/>
              </a:rPr>
              <a:t>タスク署名　</a:t>
            </a:r>
            <a:r>
              <a:rPr sz="3600" b="0" i="0" lang="ja-JP">
                <a:solidFill>
                  <a:srgbClr val="000000"/>
                </a:solidFill>
                <a:latin typeface="游ゴシック"/>
                <a:ea typeface="游ゴシック"/>
                <a:cs typeface="游ゴシック"/>
              </a:rPr>
              <a:t>GQA[3]の各質問に付く回答の手順（functional program）から，操作の名前だけを実行順に並べた列．署名が一致すれば「手続きが同じ」とみなす．</a:t>
            </a:r>
          </a:p>
        </p:txBody>
      </p:sp>
      <p:graphicFrame>
        <p:nvGraphicFramePr>
          <p:cNvPr id="26" name="Table 25"/>
          <p:cNvGraphicFramePr>
            <a:graphicFrameLocks noGrp="1"/>
          </p:cNvGraphicFramePr>
          <p:nvPr/>
        </p:nvGraphicFramePr>
        <p:xfrm>
          <a:off x="792000" y="22321697"/>
          <a:ext cx="13308000" cy="3312000"/>
        </p:xfrm>
        <a:graphic>
          <a:graphicData uri="http://schemas.openxmlformats.org/drawingml/2006/table">
            <a:tbl>
              <a:tblPr firstRow="1" bandRow="0">
                <a:tableStyleId>{5C22544A-7EE6-4342-B048-85BDC9FD1C3A}</a:tableStyleId>
              </a:tblPr>
              <a:tblGrid>
                <a:gridCol w="7053240"/>
                <a:gridCol w="6254760"/>
              </a:tblGrid>
              <a:tr h="828000">
                <a:tc>
                  <a:txBody>
                    <a:bodyPr wrap="square"/>
                    <a:lstStyle/>
                    <a:p>
                      <a:pPr algn="ctr" marL="0" indent="0">
                        <a:lnSpc>
                          <a:spcPts val="3660"/>
                        </a:lnSpc>
                        <a:spcAft>
                          <a:spcPts val="0"/>
                        </a:spcAft>
                        <a:buNone/>
                      </a:pPr>
                      <a:r>
                        <a:rPr sz="3000" b="1" i="0" lang="ja-JP">
                          <a:solidFill>
                            <a:srgbClr val="FFFFFF"/>
                          </a:solidFill>
                          <a:latin typeface="游ゴシック"/>
                          <a:ea typeface="游ゴシック"/>
                          <a:cs typeface="游ゴシック"/>
                        </a:rPr>
                        <a:t>質問</a:t>
                      </a:r>
                    </a:p>
                  </a:txBody>
                  <a:tcPr anchor="ctr" marL="86400" marR="86400" marT="0" marB="0">
                    <a:solidFill>
                      <a:srgbClr val="70AD47"/>
                    </a:solidFill>
                  </a:tcPr>
                </a:tc>
                <a:tc>
                  <a:txBody>
                    <a:bodyPr wrap="square"/>
                    <a:lstStyle/>
                    <a:p>
                      <a:pPr algn="ctr" marL="0" indent="0">
                        <a:lnSpc>
                          <a:spcPts val="3660"/>
                        </a:lnSpc>
                        <a:spcAft>
                          <a:spcPts val="0"/>
                        </a:spcAft>
                        <a:buNone/>
                      </a:pPr>
                      <a:r>
                        <a:rPr sz="3000" b="1" i="0" lang="ja-JP">
                          <a:solidFill>
                            <a:srgbClr val="FFFFFF"/>
                          </a:solidFill>
                          <a:latin typeface="游ゴシック"/>
                          <a:ea typeface="游ゴシック"/>
                          <a:cs typeface="游ゴシック"/>
                        </a:rPr>
                        <a:t>タスク署名</a:t>
                      </a:r>
                    </a:p>
                  </a:txBody>
                  <a:tcPr anchor="ctr" marL="86400" marR="86400" marT="0" marB="0">
                    <a:solidFill>
                      <a:srgbClr val="70AD47"/>
                    </a:solidFill>
                  </a:tcPr>
                </a:tc>
              </a:tr>
              <a:tr h="828000">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Who is wearing the dress?</a:t>
                      </a:r>
                    </a:p>
                  </a:txBody>
                  <a:tcPr anchor="ctr" marL="86400" marR="86400" marT="0" marB="0">
                    <a:solidFill>
                      <a:srgbClr val="EBF1E9"/>
                    </a:solidFill>
                  </a:tcPr>
                </a:tc>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select &gt; relate &gt; query</a:t>
                      </a:r>
                    </a:p>
                  </a:txBody>
                  <a:tcPr anchor="ctr" marL="86400" marR="86400" marT="0" marB="0">
                    <a:solidFill>
                      <a:srgbClr val="EBF1E9"/>
                    </a:solidFill>
                  </a:tcPr>
                </a:tc>
              </a:tr>
              <a:tr h="828000">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What is the boy wearing?</a:t>
                      </a:r>
                    </a:p>
                  </a:txBody>
                  <a:tcPr anchor="ctr" marL="86400" marR="86400" marT="0" marB="0">
                    <a:solidFill>
                      <a:srgbClr val="D5E3CF"/>
                    </a:solidFill>
                  </a:tcPr>
                </a:tc>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select &gt; relate &gt; query</a:t>
                      </a:r>
                    </a:p>
                  </a:txBody>
                  <a:tcPr anchor="ctr" marL="86400" marR="86400" marT="0" marB="0">
                    <a:solidFill>
                      <a:srgbClr val="D5E3CF"/>
                    </a:solidFill>
                  </a:tcPr>
                </a:tc>
              </a:tr>
              <a:tr h="828000">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What color is the cup?</a:t>
                      </a:r>
                    </a:p>
                  </a:txBody>
                  <a:tcPr anchor="ctr" marL="86400" marR="86400" marT="0" marB="0">
                    <a:solidFill>
                      <a:srgbClr val="EBF1E9"/>
                    </a:solidFill>
                  </a:tcPr>
                </a:tc>
                <a:tc>
                  <a:txBody>
                    <a:bodyPr wrap="square"/>
                    <a:lstStyle/>
                    <a:p>
                      <a:pPr algn="ctr" marL="0" indent="0">
                        <a:lnSpc>
                          <a:spcPts val="3660"/>
                        </a:lnSpc>
                        <a:spcAft>
                          <a:spcPts val="0"/>
                        </a:spcAft>
                        <a:buNone/>
                      </a:pPr>
                      <a:r>
                        <a:rPr sz="3000" b="0" i="0" lang="ja-JP">
                          <a:solidFill>
                            <a:srgbClr val="000000"/>
                          </a:solidFill>
                          <a:latin typeface="游ゴシック"/>
                          <a:ea typeface="游ゴシック"/>
                          <a:cs typeface="游ゴシック"/>
                        </a:rPr>
                        <a:t>select &gt; query</a:t>
                      </a:r>
                    </a:p>
                  </a:txBody>
                  <a:tcPr anchor="ctr" marL="86400" marR="86400" marT="0" marB="0">
                    <a:solidFill>
                      <a:srgbClr val="EBF1E9"/>
                    </a:solidFill>
                  </a:tcPr>
                </a:tc>
              </a:tr>
            </a:tbl>
          </a:graphicData>
        </a:graphic>
      </p:graphicFrame>
      <p:sp>
        <p:nvSpPr>
          <p:cNvPr id="27" name="TextBox 26"/>
          <p:cNvSpPr txBox="1"/>
          <p:nvPr/>
        </p:nvSpPr>
        <p:spPr>
          <a:xfrm>
            <a:off x="792000" y="26245697"/>
            <a:ext cx="13308000" cy="2645831"/>
          </a:xfrm>
          <a:prstGeom prst="rect">
            <a:avLst/>
          </a:prstGeom>
          <a:noFill/>
        </p:spPr>
        <p:txBody>
          <a:bodyPr wrap="square" lIns="0" tIns="0" rIns="0" bIns="0" anchor="t"/>
          <a:lstStyle/>
          <a:p>
            <a:pPr marL="0" indent="0">
              <a:lnSpc>
                <a:spcPts val="4392"/>
              </a:lnSpc>
              <a:spcAft>
                <a:spcPts val="600"/>
              </a:spcAft>
              <a:buNone/>
            </a:pPr>
            <a:r>
              <a:rPr sz="3600" b="1" i="0" lang="ja-JP">
                <a:solidFill>
                  <a:srgbClr val="000000"/>
                </a:solidFill>
                <a:latin typeface="游ゴシック"/>
                <a:ea typeface="游ゴシック"/>
                <a:cs typeface="游ゴシック"/>
              </a:rPr>
              <a:t>学習　</a:t>
            </a:r>
            <a:r>
              <a:rPr sz="3600" b="0" i="0" lang="ja-JP">
                <a:solidFill>
                  <a:srgbClr val="000000"/>
                </a:solidFill>
                <a:latin typeface="Cambria Math"/>
                <a:ea typeface="Cambria Math"/>
                <a:cs typeface="Cambria Math"/>
              </a:rPr>
              <a:t>ℒ = ℒ</a:t>
            </a:r>
            <a:r>
              <a:rPr sz="3600" b="0" i="0" lang="ja-JP" baseline="-25000">
                <a:solidFill>
                  <a:srgbClr val="000000"/>
                </a:solidFill>
                <a:latin typeface="Cambria Math"/>
                <a:ea typeface="Cambria Math"/>
                <a:cs typeface="Cambria Math"/>
              </a:rPr>
              <a:t>LM</a:t>
            </a:r>
            <a:r>
              <a:rPr sz="3600" b="0" i="0" lang="ja-JP">
                <a:solidFill>
                  <a:srgbClr val="000000"/>
                </a:solidFill>
                <a:latin typeface="Cambria Math"/>
                <a:ea typeface="Cambria Math"/>
                <a:cs typeface="Cambria Math"/>
              </a:rPr>
              <a:t> + 𝜆ℒ</a:t>
            </a:r>
            <a:r>
              <a:rPr sz="3600" b="0" i="0" lang="ja-JP" baseline="-25000">
                <a:solidFill>
                  <a:srgbClr val="000000"/>
                </a:solidFill>
                <a:latin typeface="Cambria Math"/>
                <a:ea typeface="Cambria Math"/>
                <a:cs typeface="Cambria Math"/>
              </a:rPr>
              <a:t>align</a:t>
            </a:r>
            <a:r>
              <a:rPr sz="3600" b="0" i="0" lang="ja-JP">
                <a:solidFill>
                  <a:srgbClr val="000000"/>
                </a:solidFill>
                <a:latin typeface="游ゴシック"/>
                <a:ea typeface="游ゴシック"/>
                <a:cs typeface="游ゴシック"/>
              </a:rPr>
              <a:t>，</a:t>
            </a:r>
            <a:r>
              <a:rPr sz="3600" b="0" i="0" lang="ja-JP">
                <a:solidFill>
                  <a:srgbClr val="000000"/>
                </a:solidFill>
                <a:latin typeface="Cambria Math"/>
                <a:ea typeface="Cambria Math"/>
                <a:cs typeface="Cambria Math"/>
              </a:rPr>
              <a:t>𝜆 = 0.1</a:t>
            </a:r>
          </a:p>
          <a:p>
            <a:pPr marL="381000" indent="-381000">
              <a:lnSpc>
                <a:spcPts val="3660"/>
              </a:lnSpc>
              <a:spcAft>
                <a:spcPts val="600"/>
              </a:spcAft>
              <a:buFont typeface="Arial"/>
              <a:buChar char="•"/>
            </a:pPr>
            <a:r>
              <a:rPr sz="3000" b="0" i="0" lang="ja-JP">
                <a:solidFill>
                  <a:srgbClr val="000000"/>
                </a:solidFill>
                <a:latin typeface="游ゴシック"/>
                <a:ea typeface="游ゴシック"/>
                <a:cs typeface="游ゴシック"/>
              </a:rPr>
              <a:t>整合損失</a:t>
            </a:r>
            <a:r>
              <a:rPr sz="3000" b="0" i="0" lang="ja-JP">
                <a:solidFill>
                  <a:srgbClr val="000000"/>
                </a:solidFill>
                <a:latin typeface="Cambria Math"/>
                <a:ea typeface="Cambria Math"/>
                <a:cs typeface="Cambria Math"/>
              </a:rPr>
              <a:t>ℒ</a:t>
            </a:r>
            <a:r>
              <a:rPr sz="3000" b="0" i="0" lang="ja-JP" baseline="-25000">
                <a:solidFill>
                  <a:srgbClr val="000000"/>
                </a:solidFill>
                <a:latin typeface="Cambria Math"/>
                <a:ea typeface="Cambria Math"/>
                <a:cs typeface="Cambria Math"/>
              </a:rPr>
              <a:t>align</a:t>
            </a:r>
            <a:r>
              <a:rPr sz="3000" b="0" i="0" lang="ja-JP">
                <a:solidFill>
                  <a:srgbClr val="000000"/>
                </a:solidFill>
                <a:latin typeface="游ゴシック"/>
                <a:ea typeface="游ゴシック"/>
                <a:cs typeface="游ゴシック"/>
              </a:rPr>
              <a:t>は，署名をクラスとする supervised contrastive loss[4]．射影を挟まず，第16層・入力末尾の内部表現</a:t>
            </a:r>
            <a:r>
              <a:rPr sz="3000" b="0" i="0" lang="ja-JP">
                <a:solidFill>
                  <a:srgbClr val="000000"/>
                </a:solidFill>
                <a:latin typeface="Cambria Math"/>
                <a:ea typeface="Cambria Math"/>
                <a:cs typeface="Cambria Math"/>
              </a:rPr>
              <a:t>𝒉</a:t>
            </a:r>
            <a:r>
              <a:rPr sz="3000" b="0" i="0" lang="ja-JP">
                <a:solidFill>
                  <a:srgbClr val="000000"/>
                </a:solidFill>
                <a:latin typeface="游ゴシック"/>
                <a:ea typeface="游ゴシック"/>
                <a:cs typeface="游ゴシック"/>
              </a:rPr>
              <a:t>（960次元）に直接掛ける</a:t>
            </a:r>
          </a:p>
          <a:p>
            <a:pPr marL="381000" indent="-381000">
              <a:lnSpc>
                <a:spcPts val="3660"/>
              </a:lnSpc>
              <a:spcAft>
                <a:spcPts val="600"/>
              </a:spcAft>
              <a:buFont typeface="Arial"/>
              <a:buChar char="•"/>
            </a:pPr>
            <a:r>
              <a:rPr sz="3000" b="0" i="0" lang="ja-JP">
                <a:solidFill>
                  <a:srgbClr val="000000"/>
                </a:solidFill>
                <a:latin typeface="游ゴシック"/>
                <a:ea typeface="游ゴシック"/>
                <a:cs typeface="游ゴシック"/>
              </a:rPr>
              <a:t>バッチは16署名 × 2問．どの質問にも同じ署名の相手がいる</a:t>
            </a:r>
          </a:p>
        </p:txBody>
      </p:sp>
      <p:sp>
        <p:nvSpPr>
          <p:cNvPr id="28" name="Rectangle 27"/>
          <p:cNvSpPr/>
          <p:nvPr/>
        </p:nvSpPr>
        <p:spPr>
          <a:xfrm>
            <a:off x="14748000" y="6084000"/>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4964000" y="6084000"/>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3．実験設定</a:t>
            </a:r>
          </a:p>
        </p:txBody>
      </p:sp>
      <p:sp>
        <p:nvSpPr>
          <p:cNvPr id="30" name="TextBox 29"/>
          <p:cNvSpPr txBox="1"/>
          <p:nvPr/>
        </p:nvSpPr>
        <p:spPr>
          <a:xfrm>
            <a:off x="14748000" y="6984000"/>
            <a:ext cx="13308000" cy="1470753"/>
          </a:xfrm>
          <a:prstGeom prst="rect">
            <a:avLst/>
          </a:prstGeom>
          <a:noFill/>
        </p:spPr>
        <p:txBody>
          <a:bodyPr wrap="square" lIns="0" tIns="0" rIns="0" bIns="0" anchor="t"/>
          <a:lstStyle/>
          <a:p>
            <a:pPr marL="0" indent="0">
              <a:lnSpc>
                <a:spcPts val="3660"/>
              </a:lnSpc>
              <a:spcAft>
                <a:spcPts val="200"/>
              </a:spcAft>
              <a:buNone/>
            </a:pPr>
            <a:r>
              <a:rPr sz="3000" b="1" i="0" lang="ja-JP">
                <a:solidFill>
                  <a:srgbClr val="000000"/>
                </a:solidFill>
                <a:latin typeface="游ゴシック"/>
                <a:ea typeface="游ゴシック"/>
                <a:cs typeface="游ゴシック"/>
              </a:rPr>
              <a:t>モデル　</a:t>
            </a:r>
            <a:r>
              <a:rPr sz="3000" b="0" i="0" lang="ja-JP">
                <a:solidFill>
                  <a:srgbClr val="000000"/>
                </a:solidFill>
                <a:latin typeface="游ゴシック"/>
                <a:ea typeface="游ゴシック"/>
                <a:cs typeface="游ゴシック"/>
              </a:rPr>
              <a:t>SmolVLM-500M-Instruct[2]</a:t>
            </a:r>
          </a:p>
          <a:p>
            <a:pPr marL="0" indent="0">
              <a:lnSpc>
                <a:spcPts val="3660"/>
              </a:lnSpc>
              <a:spcAft>
                <a:spcPts val="200"/>
              </a:spcAft>
              <a:buNone/>
            </a:pPr>
            <a:r>
              <a:rPr sz="3000" b="1" i="0" lang="ja-JP">
                <a:solidFill>
                  <a:srgbClr val="000000"/>
                </a:solidFill>
                <a:latin typeface="游ゴシック"/>
                <a:ea typeface="游ゴシック"/>
                <a:cs typeface="游ゴシック"/>
              </a:rPr>
              <a:t>学習　</a:t>
            </a:r>
            <a:r>
              <a:rPr sz="3000" b="0" i="0" lang="ja-JP">
                <a:solidFill>
                  <a:srgbClr val="000000"/>
                </a:solidFill>
                <a:latin typeface="游ゴシック"/>
                <a:ea typeface="游ゴシック"/>
                <a:cs typeface="游ゴシック"/>
              </a:rPr>
              <a:t>GQA train_balanced 942,116問，1エポック</a:t>
            </a:r>
          </a:p>
          <a:p>
            <a:pPr marL="0" indent="0">
              <a:lnSpc>
                <a:spcPts val="3660"/>
              </a:lnSpc>
              <a:spcAft>
                <a:spcPts val="200"/>
              </a:spcAft>
              <a:buNone/>
            </a:pPr>
            <a:r>
              <a:rPr sz="3000" b="1" i="0" lang="ja-JP">
                <a:solidFill>
                  <a:srgbClr val="000000"/>
                </a:solidFill>
                <a:latin typeface="游ゴシック"/>
                <a:ea typeface="游ゴシック"/>
                <a:cs typeface="游ゴシック"/>
              </a:rPr>
              <a:t>評価　</a:t>
            </a:r>
            <a:r>
              <a:rPr sz="3000" b="0" i="0" lang="ja-JP">
                <a:solidFill>
                  <a:srgbClr val="000000"/>
                </a:solidFill>
                <a:latin typeface="游ゴシック"/>
                <a:ea typeface="游ゴシック"/>
                <a:cs typeface="游ゴシック"/>
              </a:rPr>
              <a:t>testdev_balanced 12,578問（学習に不使用）</a:t>
            </a:r>
          </a:p>
        </p:txBody>
      </p:sp>
      <p:graphicFrame>
        <p:nvGraphicFramePr>
          <p:cNvPr id="31" name="Table 30"/>
          <p:cNvGraphicFramePr>
            <a:graphicFrameLocks noGrp="1"/>
          </p:cNvGraphicFramePr>
          <p:nvPr/>
        </p:nvGraphicFramePr>
        <p:xfrm>
          <a:off x="14748000" y="8634753"/>
          <a:ext cx="13308000" cy="2448000"/>
        </p:xfrm>
        <a:graphic>
          <a:graphicData uri="http://schemas.openxmlformats.org/drawingml/2006/table">
            <a:tbl>
              <a:tblPr firstRow="1" bandRow="0">
                <a:tableStyleId>{5C22544A-7EE6-4342-B048-85BDC9FD1C3A}</a:tableStyleId>
              </a:tblPr>
              <a:tblGrid>
                <a:gridCol w="3460080"/>
                <a:gridCol w="1596960"/>
                <a:gridCol w="8250960"/>
              </a:tblGrid>
              <a:tr h="612000">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群</a:t>
                      </a:r>
                    </a:p>
                  </a:txBody>
                  <a:tcPr anchor="ctr" marL="73440" marR="73440" marT="0" marB="0">
                    <a:solidFill>
                      <a:srgbClr val="70AD47"/>
                    </a:solidFill>
                  </a:tcPr>
                </a:tc>
                <a:tc>
                  <a:txBody>
                    <a:bodyPr wrap="square"/>
                    <a:lstStyle/>
                    <a:p>
                      <a:pPr algn="ctr" marL="0" indent="0">
                        <a:lnSpc>
                          <a:spcPts val="3294"/>
                        </a:lnSpc>
                        <a:spcAft>
                          <a:spcPts val="0"/>
                        </a:spcAft>
                        <a:buNone/>
                      </a:pPr>
                      <a:r>
                        <a:rPr sz="2700" b="1" i="0" lang="ja-JP">
                          <a:solidFill>
                            <a:srgbClr val="FFFFFF"/>
                          </a:solidFill>
                          <a:latin typeface="Cambria Math"/>
                          <a:ea typeface="Cambria Math"/>
                          <a:cs typeface="Cambria Math"/>
                        </a:rPr>
                        <a:t>𝜆</a:t>
                      </a:r>
                    </a:p>
                  </a:txBody>
                  <a:tcPr anchor="ctr" marL="73440" marR="73440" marT="0" marB="0">
                    <a:solidFill>
                      <a:srgbClr val="70AD47"/>
                    </a:solidFill>
                  </a:tcPr>
                </a:tc>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ラベル</a:t>
                      </a:r>
                    </a:p>
                  </a:txBody>
                  <a:tcPr anchor="ctr" marL="73440" marR="73440" marT="0" marB="0">
                    <a:solidFill>
                      <a:srgbClr val="70AD47"/>
                    </a:solidFill>
                  </a:tcPr>
                </a:tc>
              </a:tr>
              <a:tr h="612000">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baseline</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0</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（なし）</a:t>
                      </a:r>
                    </a:p>
                  </a:txBody>
                  <a:tcPr anchor="ctr" marL="73440" marR="73440" marT="0" marB="0">
                    <a:solidFill>
                      <a:srgbClr val="EBF1E9"/>
                    </a:solidFill>
                  </a:tcPr>
                </a:tc>
              </a:tr>
              <a:tr h="612000">
                <a:tc>
                  <a:txBody>
                    <a:bodyPr wrap="square"/>
                    <a:lstStyle/>
                    <a:p>
                      <a:pPr algn="ctr" marL="0" indent="0">
                        <a:lnSpc>
                          <a:spcPts val="3294"/>
                        </a:lnSpc>
                        <a:spcAft>
                          <a:spcPts val="0"/>
                        </a:spcAft>
                        <a:buNone/>
                      </a:pPr>
                      <a:r>
                        <a:rPr sz="2700" b="1" i="0" lang="ja-JP">
                          <a:solidFill>
                            <a:srgbClr val="000000"/>
                          </a:solidFill>
                          <a:latin typeface="游ゴシック"/>
                          <a:ea typeface="游ゴシック"/>
                          <a:cs typeface="游ゴシック"/>
                        </a:rPr>
                        <a:t>proposal</a:t>
                      </a:r>
                    </a:p>
                  </a:txBody>
                  <a:tcPr anchor="ctr" marL="73440" marR="73440" marT="0" marB="0">
                    <a:solidFill>
                      <a:srgbClr val="D5E3CF"/>
                    </a:solidFill>
                  </a:tcPr>
                </a:tc>
                <a:tc>
                  <a:txBody>
                    <a:bodyPr wrap="square"/>
                    <a:lstStyle/>
                    <a:p>
                      <a:pPr algn="ctr" marL="0" indent="0">
                        <a:lnSpc>
                          <a:spcPts val="3294"/>
                        </a:lnSpc>
                        <a:spcAft>
                          <a:spcPts val="0"/>
                        </a:spcAft>
                        <a:buNone/>
                      </a:pPr>
                      <a:r>
                        <a:rPr sz="2700" b="1" i="0" lang="ja-JP">
                          <a:solidFill>
                            <a:srgbClr val="000000"/>
                          </a:solidFill>
                          <a:latin typeface="游ゴシック"/>
                          <a:ea typeface="游ゴシック"/>
                          <a:cs typeface="游ゴシック"/>
                        </a:rPr>
                        <a:t>0.1</a:t>
                      </a:r>
                    </a:p>
                  </a:txBody>
                  <a:tcPr anchor="ctr" marL="73440" marR="73440" marT="0" marB="0">
                    <a:solidFill>
                      <a:srgbClr val="D5E3CF"/>
                    </a:solidFill>
                  </a:tcPr>
                </a:tc>
                <a:tc>
                  <a:txBody>
                    <a:bodyPr wrap="square"/>
                    <a:lstStyle/>
                    <a:p>
                      <a:pPr algn="ctr" marL="0" indent="0">
                        <a:lnSpc>
                          <a:spcPts val="3294"/>
                        </a:lnSpc>
                        <a:spcAft>
                          <a:spcPts val="0"/>
                        </a:spcAft>
                        <a:buNone/>
                      </a:pPr>
                      <a:r>
                        <a:rPr sz="2700" b="1" i="0" lang="ja-JP">
                          <a:solidFill>
                            <a:srgbClr val="000000"/>
                          </a:solidFill>
                          <a:latin typeface="游ゴシック"/>
                          <a:ea typeface="游ゴシック"/>
                          <a:cs typeface="游ゴシック"/>
                        </a:rPr>
                        <a:t>タスク署名</a:t>
                      </a:r>
                    </a:p>
                  </a:txBody>
                  <a:tcPr anchor="ctr" marL="73440" marR="73440" marT="0" marB="0">
                    <a:solidFill>
                      <a:srgbClr val="D5E3CF"/>
                    </a:solidFill>
                  </a:tcPr>
                </a:tc>
              </a:tr>
              <a:tr h="612000">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ablation</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0.1</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署名をバッチ内で並べ替え</a:t>
                      </a:r>
                    </a:p>
                  </a:txBody>
                  <a:tcPr anchor="ctr" marL="73440" marR="73440" marT="0" marB="0">
                    <a:solidFill>
                      <a:srgbClr val="EBF1E9"/>
                    </a:solidFill>
                  </a:tcPr>
                </a:tc>
              </a:tr>
            </a:tbl>
          </a:graphicData>
        </a:graphic>
      </p:graphicFrame>
      <p:sp>
        <p:nvSpPr>
          <p:cNvPr id="32" name="TextBox 31"/>
          <p:cNvSpPr txBox="1"/>
          <p:nvPr/>
        </p:nvSpPr>
        <p:spPr>
          <a:xfrm>
            <a:off x="14748000" y="11262753"/>
            <a:ext cx="13308000" cy="887532"/>
          </a:xfrm>
          <a:prstGeom prst="rect">
            <a:avLst/>
          </a:prstGeom>
          <a:noFill/>
        </p:spPr>
        <p:txBody>
          <a:bodyPr wrap="square" lIns="0" tIns="0" rIns="0" bIns="0" anchor="t"/>
          <a:lstStyle/>
          <a:p>
            <a:pPr marL="0" indent="0">
              <a:lnSpc>
                <a:spcPts val="3294"/>
              </a:lnSpc>
              <a:spcAft>
                <a:spcPts val="400"/>
              </a:spcAft>
              <a:buNone/>
            </a:pPr>
            <a:r>
              <a:rPr sz="2700" b="0" i="0" lang="ja-JP">
                <a:solidFill>
                  <a:srgbClr val="404040"/>
                </a:solidFill>
                <a:latin typeface="游ゴシック"/>
                <a:ea typeface="游ゴシック"/>
                <a:cs typeface="游ゴシック"/>
              </a:rPr>
              <a:t>3群 × 3乱数種 ＝ 9回学習し，3乱数種の平均を示す．ablation は「意味のあるラベル」が要るかを確かめる対照</a:t>
            </a:r>
          </a:p>
        </p:txBody>
      </p:sp>
      <p:sp>
        <p:nvSpPr>
          <p:cNvPr id="33" name="Rectangle 32"/>
          <p:cNvSpPr/>
          <p:nvPr/>
        </p:nvSpPr>
        <p:spPr>
          <a:xfrm>
            <a:off x="14748000" y="12366285"/>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964000" y="12366285"/>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4．結果</a:t>
            </a:r>
          </a:p>
        </p:txBody>
      </p:sp>
      <p:sp>
        <p:nvSpPr>
          <p:cNvPr id="35" name="TextBox 34"/>
          <p:cNvSpPr txBox="1"/>
          <p:nvPr/>
        </p:nvSpPr>
        <p:spPr>
          <a:xfrm>
            <a:off x="14748000" y="13266285"/>
            <a:ext cx="13308000" cy="577632"/>
          </a:xfrm>
          <a:prstGeom prst="rect">
            <a:avLst/>
          </a:prstGeom>
          <a:noFill/>
        </p:spPr>
        <p:txBody>
          <a:bodyPr wrap="square" lIns="0" tIns="0" rIns="0" bIns="0" anchor="t"/>
          <a:lstStyle/>
          <a:p>
            <a:pPr marL="0" indent="0">
              <a:lnSpc>
                <a:spcPts val="4148"/>
              </a:lnSpc>
              <a:spcAft>
                <a:spcPts val="400"/>
              </a:spcAft>
              <a:buNone/>
            </a:pPr>
            <a:r>
              <a:rPr sz="3400" b="1" i="0" lang="ja-JP">
                <a:solidFill>
                  <a:srgbClr val="70AD47"/>
                </a:solidFill>
                <a:latin typeface="游ゴシック"/>
                <a:ea typeface="游ゴシック"/>
                <a:cs typeface="游ゴシック"/>
              </a:rPr>
              <a:t>4.1　署名の読み取り精度</a:t>
            </a:r>
          </a:p>
        </p:txBody>
      </p:sp>
      <p:sp>
        <p:nvSpPr>
          <p:cNvPr id="36" name="TextBox 35"/>
          <p:cNvSpPr txBox="1"/>
          <p:nvPr/>
        </p:nvSpPr>
        <p:spPr>
          <a:xfrm>
            <a:off x="14748000" y="13879917"/>
            <a:ext cx="13308000" cy="887532"/>
          </a:xfrm>
          <a:prstGeom prst="rect">
            <a:avLst/>
          </a:prstGeom>
          <a:noFill/>
        </p:spPr>
        <p:txBody>
          <a:bodyPr wrap="square" lIns="0" tIns="0" rIns="0" bIns="0" anchor="t"/>
          <a:lstStyle/>
          <a:p>
            <a:pPr marL="0" indent="0">
              <a:lnSpc>
                <a:spcPts val="3294"/>
              </a:lnSpc>
              <a:spcAft>
                <a:spcPts val="400"/>
              </a:spcAft>
              <a:buNone/>
            </a:pPr>
            <a:r>
              <a:rPr sz="2700" b="0" i="0" lang="ja-JP">
                <a:solidFill>
                  <a:srgbClr val="000000"/>
                </a:solidFill>
                <a:latin typeface="Cambria Math"/>
                <a:ea typeface="Cambria Math"/>
                <a:cs typeface="Cambria Math"/>
              </a:rPr>
              <a:t>𝒉</a:t>
            </a:r>
            <a:r>
              <a:rPr sz="2700" b="0" i="0" lang="ja-JP">
                <a:solidFill>
                  <a:srgbClr val="000000"/>
                </a:solidFill>
                <a:latin typeface="游ゴシック"/>
                <a:ea typeface="游ゴシック"/>
                <a:cs typeface="游ゴシック"/>
              </a:rPr>
              <a:t>から線形分類器で署名を当てた正解率（145署名，10,990問を半々に分けて学習と評価）</a:t>
            </a:r>
          </a:p>
        </p:txBody>
      </p:sp>
      <p:graphicFrame>
        <p:nvGraphicFramePr>
          <p:cNvPr id="37" name="Chart 36"/>
          <p:cNvGraphicFramePr>
            <a:graphicFrameLocks noGrp="1"/>
          </p:cNvGraphicFramePr>
          <p:nvPr/>
        </p:nvGraphicFramePr>
        <p:xfrm>
          <a:off x="14748000" y="14839449"/>
          <a:ext cx="8517120" cy="3312000"/>
        </p:xfrm>
        <a:graphic>
          <a:graphicData uri="http://schemas.openxmlformats.org/drawingml/2006/chart">
            <c:chart xmlns:c="http://schemas.openxmlformats.org/drawingml/2006/chart" r:id="rId3"/>
          </a:graphicData>
        </a:graphic>
      </p:graphicFrame>
      <p:sp>
        <p:nvSpPr>
          <p:cNvPr id="38" name="TextBox 37"/>
          <p:cNvSpPr txBox="1"/>
          <p:nvPr/>
        </p:nvSpPr>
        <p:spPr>
          <a:xfrm>
            <a:off x="23373120" y="15127449"/>
            <a:ext cx="4682880" cy="2520000"/>
          </a:xfrm>
          <a:prstGeom prst="rect">
            <a:avLst/>
          </a:prstGeom>
          <a:noFill/>
        </p:spPr>
        <p:txBody>
          <a:bodyPr wrap="square" lIns="0" tIns="0" rIns="0" bIns="0" anchor="t"/>
          <a:lstStyle/>
          <a:p>
            <a:pPr marL="0" indent="0">
              <a:lnSpc>
                <a:spcPts val="5368"/>
              </a:lnSpc>
              <a:spcAft>
                <a:spcPts val="600"/>
              </a:spcAft>
              <a:buNone/>
            </a:pPr>
            <a:r>
              <a:rPr sz="4400" b="1" i="0" lang="ja-JP">
                <a:solidFill>
                  <a:srgbClr val="C00000"/>
                </a:solidFill>
                <a:latin typeface="游ゴシック"/>
                <a:ea typeface="游ゴシック"/>
                <a:cs typeface="游ゴシック"/>
              </a:rPr>
              <a:t>+13.0pt</a:t>
            </a:r>
          </a:p>
          <a:p>
            <a:pPr marL="0" indent="0">
              <a:lnSpc>
                <a:spcPts val="3294"/>
              </a:lnSpc>
              <a:spcAft>
                <a:spcPts val="0"/>
              </a:spcAft>
              <a:buNone/>
            </a:pPr>
            <a:r>
              <a:rPr sz="2700" b="0" i="0" lang="ja-JP">
                <a:solidFill>
                  <a:srgbClr val="000000"/>
                </a:solidFill>
                <a:latin typeface="游ゴシック"/>
                <a:ea typeface="游ゴシック"/>
                <a:cs typeface="游ゴシック"/>
              </a:rPr>
              <a:t>署名を並べ替えると消え，質問文の語では説明できない</a:t>
            </a:r>
          </a:p>
        </p:txBody>
      </p:sp>
      <p:sp>
        <p:nvSpPr>
          <p:cNvPr id="39" name="TextBox 38"/>
          <p:cNvSpPr txBox="1"/>
          <p:nvPr/>
        </p:nvSpPr>
        <p:spPr>
          <a:xfrm>
            <a:off x="14748000" y="18223449"/>
            <a:ext cx="13308000" cy="577632"/>
          </a:xfrm>
          <a:prstGeom prst="rect">
            <a:avLst/>
          </a:prstGeom>
          <a:noFill/>
        </p:spPr>
        <p:txBody>
          <a:bodyPr wrap="square" lIns="0" tIns="0" rIns="0" bIns="0" anchor="t"/>
          <a:lstStyle/>
          <a:p>
            <a:pPr marL="0" indent="0">
              <a:lnSpc>
                <a:spcPts val="4148"/>
              </a:lnSpc>
              <a:spcAft>
                <a:spcPts val="400"/>
              </a:spcAft>
              <a:buNone/>
            </a:pPr>
            <a:r>
              <a:rPr sz="3400" b="1" i="0" lang="ja-JP">
                <a:solidFill>
                  <a:srgbClr val="70AD47"/>
                </a:solidFill>
                <a:latin typeface="游ゴシック"/>
                <a:ea typeface="游ゴシック"/>
                <a:cs typeface="游ゴシック"/>
              </a:rPr>
              <a:t>4.2　正解率（GQA公式の評価）</a:t>
            </a:r>
          </a:p>
        </p:txBody>
      </p:sp>
      <p:graphicFrame>
        <p:nvGraphicFramePr>
          <p:cNvPr id="40" name="Table 39"/>
          <p:cNvGraphicFramePr>
            <a:graphicFrameLocks noGrp="1"/>
          </p:cNvGraphicFramePr>
          <p:nvPr/>
        </p:nvGraphicFramePr>
        <p:xfrm>
          <a:off x="14748000" y="18837081"/>
          <a:ext cx="13308000" cy="1224000"/>
        </p:xfrm>
        <a:graphic>
          <a:graphicData uri="http://schemas.openxmlformats.org/drawingml/2006/table">
            <a:tbl>
              <a:tblPr firstRow="1" bandRow="0">
                <a:tableStyleId>{5C22544A-7EE6-4342-B048-85BDC9FD1C3A}</a:tableStyleId>
              </a:tblPr>
              <a:tblGrid>
                <a:gridCol w="3726240"/>
                <a:gridCol w="3193920"/>
                <a:gridCol w="3193920"/>
                <a:gridCol w="3193920"/>
              </a:tblGrid>
              <a:tr h="612000">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
                      </a:r>
                    </a:p>
                  </a:txBody>
                  <a:tcPr anchor="ctr" marL="73440" marR="73440" marT="0" marB="0">
                    <a:solidFill>
                      <a:srgbClr val="70AD47"/>
                    </a:solidFill>
                  </a:tcPr>
                </a:tc>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baseline</a:t>
                      </a:r>
                    </a:p>
                  </a:txBody>
                  <a:tcPr anchor="ctr" marL="73440" marR="73440" marT="0" marB="0">
                    <a:solidFill>
                      <a:srgbClr val="70AD47"/>
                    </a:solidFill>
                  </a:tcPr>
                </a:tc>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proposal</a:t>
                      </a:r>
                    </a:p>
                  </a:txBody>
                  <a:tcPr anchor="ctr" marL="73440" marR="73440" marT="0" marB="0">
                    <a:solidFill>
                      <a:srgbClr val="70AD47"/>
                    </a:solidFill>
                  </a:tcPr>
                </a:tc>
                <a:tc>
                  <a:txBody>
                    <a:bodyPr wrap="square"/>
                    <a:lstStyle/>
                    <a:p>
                      <a:pPr algn="ctr" marL="0" indent="0">
                        <a:lnSpc>
                          <a:spcPts val="3294"/>
                        </a:lnSpc>
                        <a:spcAft>
                          <a:spcPts val="0"/>
                        </a:spcAft>
                        <a:buNone/>
                      </a:pPr>
                      <a:r>
                        <a:rPr sz="2700" b="1" i="0" lang="ja-JP">
                          <a:solidFill>
                            <a:srgbClr val="FFFFFF"/>
                          </a:solidFill>
                          <a:latin typeface="游ゴシック"/>
                          <a:ea typeface="游ゴシック"/>
                          <a:cs typeface="游ゴシック"/>
                        </a:rPr>
                        <a:t>ablation</a:t>
                      </a:r>
                    </a:p>
                  </a:txBody>
                  <a:tcPr anchor="ctr" marL="73440" marR="73440" marT="0" marB="0">
                    <a:solidFill>
                      <a:srgbClr val="70AD47"/>
                    </a:solidFill>
                  </a:tcPr>
                </a:tc>
              </a:tr>
              <a:tr h="612000">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正解率（%）</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53.54±0.57</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53.49±0.31</a:t>
                      </a:r>
                    </a:p>
                  </a:txBody>
                  <a:tcPr anchor="ctr" marL="73440" marR="73440" marT="0" marB="0">
                    <a:solidFill>
                      <a:srgbClr val="EBF1E9"/>
                    </a:solidFill>
                  </a:tcPr>
                </a:tc>
                <a:tc>
                  <a:txBody>
                    <a:bodyPr wrap="square"/>
                    <a:lstStyle/>
                    <a:p>
                      <a:pPr algn="ctr" marL="0" indent="0">
                        <a:lnSpc>
                          <a:spcPts val="3294"/>
                        </a:lnSpc>
                        <a:spcAft>
                          <a:spcPts val="0"/>
                        </a:spcAft>
                        <a:buNone/>
                      </a:pPr>
                      <a:r>
                        <a:rPr sz="2700" b="0" i="0" lang="ja-JP">
                          <a:solidFill>
                            <a:srgbClr val="000000"/>
                          </a:solidFill>
                          <a:latin typeface="游ゴシック"/>
                          <a:ea typeface="游ゴシック"/>
                          <a:cs typeface="游ゴシック"/>
                        </a:rPr>
                        <a:t>53.57±0.25</a:t>
                      </a:r>
                    </a:p>
                  </a:txBody>
                  <a:tcPr anchor="ctr" marL="73440" marR="73440" marT="0" marB="0">
                    <a:solidFill>
                      <a:srgbClr val="EBF1E9"/>
                    </a:solidFill>
                  </a:tcPr>
                </a:tc>
              </a:tr>
            </a:tbl>
          </a:graphicData>
        </a:graphic>
      </p:graphicFrame>
      <p:sp>
        <p:nvSpPr>
          <p:cNvPr id="41" name="TextBox 40"/>
          <p:cNvSpPr txBox="1"/>
          <p:nvPr/>
        </p:nvSpPr>
        <p:spPr>
          <a:xfrm>
            <a:off x="14748000" y="20205081"/>
            <a:ext cx="13308000" cy="1749662"/>
          </a:xfrm>
          <a:prstGeom prst="rect">
            <a:avLst/>
          </a:prstGeom>
          <a:noFill/>
        </p:spPr>
        <p:txBody>
          <a:bodyPr wrap="square" lIns="0" tIns="0" rIns="0" bIns="0" anchor="t"/>
          <a:lstStyle/>
          <a:p>
            <a:pPr marL="342900" indent="-342900">
              <a:lnSpc>
                <a:spcPts val="3294"/>
              </a:lnSpc>
              <a:spcAft>
                <a:spcPts val="300"/>
              </a:spcAft>
              <a:buFont typeface="Arial"/>
              <a:buChar char="•"/>
            </a:pPr>
            <a:r>
              <a:rPr sz="2700" b="0" i="0" lang="ja-JP">
                <a:solidFill>
                  <a:srgbClr val="000000"/>
                </a:solidFill>
                <a:latin typeface="游ゴシック"/>
                <a:ea typeface="游ゴシック"/>
                <a:cs typeface="游ゴシック"/>
              </a:rPr>
              <a:t>proposal − baseline は -0.06pt，95%信頼区間 [-1.81, +1.70]．0を含み，低下は最大でも1.81pt</a:t>
            </a:r>
          </a:p>
          <a:p>
            <a:pPr marL="342900" indent="-342900">
              <a:lnSpc>
                <a:spcPts val="3294"/>
              </a:lnSpc>
              <a:spcAft>
                <a:spcPts val="300"/>
              </a:spcAft>
              <a:buFont typeface="Arial"/>
              <a:buChar char="•"/>
            </a:pPr>
            <a:r>
              <a:rPr sz="2700" b="0" i="0" lang="ja-JP">
                <a:solidFill>
                  <a:srgbClr val="000000"/>
                </a:solidFill>
                <a:latin typeface="游ゴシック"/>
                <a:ea typeface="游ゴシック"/>
                <a:cs typeface="游ゴシック"/>
              </a:rPr>
              <a:t>誤答した問でも，proposal では署名を96.4%読み取れる．誤りは署名の取り違えではない</a:t>
            </a:r>
          </a:p>
        </p:txBody>
      </p:sp>
      <p:sp>
        <p:nvSpPr>
          <p:cNvPr id="42" name="TextBox 41"/>
          <p:cNvSpPr txBox="1"/>
          <p:nvPr/>
        </p:nvSpPr>
        <p:spPr>
          <a:xfrm>
            <a:off x="14748000" y="22242743"/>
            <a:ext cx="13308000" cy="577632"/>
          </a:xfrm>
          <a:prstGeom prst="rect">
            <a:avLst/>
          </a:prstGeom>
          <a:noFill/>
        </p:spPr>
        <p:txBody>
          <a:bodyPr wrap="square" lIns="0" tIns="0" rIns="0" bIns="0" anchor="t"/>
          <a:lstStyle/>
          <a:p>
            <a:pPr marL="0" indent="0">
              <a:lnSpc>
                <a:spcPts val="4148"/>
              </a:lnSpc>
              <a:spcAft>
                <a:spcPts val="400"/>
              </a:spcAft>
              <a:buNone/>
            </a:pPr>
            <a:r>
              <a:rPr sz="3400" b="1" i="0" lang="ja-JP">
                <a:solidFill>
                  <a:srgbClr val="70AD47"/>
                </a:solidFill>
                <a:latin typeface="游ゴシック"/>
                <a:ea typeface="游ゴシック"/>
                <a:cs typeface="游ゴシック"/>
              </a:rPr>
              <a:t>4.3　回答が内部表現に頼る度合い</a:t>
            </a:r>
          </a:p>
        </p:txBody>
      </p:sp>
      <p:sp>
        <p:nvSpPr>
          <p:cNvPr id="43" name="TextBox 42"/>
          <p:cNvSpPr txBox="1"/>
          <p:nvPr/>
        </p:nvSpPr>
        <p:spPr>
          <a:xfrm>
            <a:off x="14748000" y="22856376"/>
            <a:ext cx="13308000" cy="1352381"/>
          </a:xfrm>
          <a:prstGeom prst="rect">
            <a:avLst/>
          </a:prstGeom>
          <a:noFill/>
        </p:spPr>
        <p:txBody>
          <a:bodyPr wrap="square" lIns="0" tIns="0" rIns="0" bIns="0" anchor="t"/>
          <a:lstStyle/>
          <a:p>
            <a:pPr marL="0" indent="0">
              <a:lnSpc>
                <a:spcPts val="3660"/>
              </a:lnSpc>
              <a:spcAft>
                <a:spcPts val="200"/>
              </a:spcAft>
              <a:buNone/>
            </a:pPr>
            <a:r>
              <a:rPr sz="3000" b="1" i="0" lang="ja-JP">
                <a:solidFill>
                  <a:srgbClr val="000000"/>
                </a:solidFill>
                <a:latin typeface="游ゴシック"/>
                <a:ea typeface="游ゴシック"/>
                <a:cs typeface="游ゴシック"/>
              </a:rPr>
              <a:t>相対感度　</a:t>
            </a:r>
            <a:r>
              <a:rPr sz="3000" b="0" i="0" lang="ja-JP">
                <a:solidFill>
                  <a:srgbClr val="000000"/>
                </a:solidFill>
                <a:latin typeface="Cambria Math"/>
                <a:ea typeface="Cambria Math"/>
                <a:cs typeface="Cambria Math"/>
              </a:rPr>
              <a:t>𝑒 = ‖𝑱</a:t>
            </a:r>
            <a:r>
              <a:rPr sz="3000" b="0" i="0" lang="ja-JP" baseline="30000">
                <a:solidFill>
                  <a:srgbClr val="000000"/>
                </a:solidFill>
                <a:latin typeface="Cambria Math"/>
                <a:ea typeface="Cambria Math"/>
                <a:cs typeface="Cambria Math"/>
              </a:rPr>
              <a:t>⊤</a:t>
            </a:r>
            <a:r>
              <a:rPr sz="3000" b="0" i="0" lang="ja-JP">
                <a:solidFill>
                  <a:srgbClr val="000000"/>
                </a:solidFill>
                <a:latin typeface="Cambria Math"/>
                <a:ea typeface="Cambria Math"/>
                <a:cs typeface="Cambria Math"/>
              </a:rPr>
              <a:t>𝒖‖‖𝒉‖ ∕ ‖𝒓‖</a:t>
            </a:r>
          </a:p>
          <a:p>
            <a:pPr marL="0" indent="0">
              <a:lnSpc>
                <a:spcPts val="3294"/>
              </a:lnSpc>
              <a:spcAft>
                <a:spcPts val="200"/>
              </a:spcAft>
              <a:buNone/>
            </a:pPr>
            <a:r>
              <a:rPr sz="2700" b="0" i="0" lang="ja-JP">
                <a:solidFill>
                  <a:srgbClr val="404040"/>
                </a:solidFill>
                <a:latin typeface="Cambria Math"/>
                <a:ea typeface="Cambria Math"/>
                <a:cs typeface="Cambria Math"/>
              </a:rPr>
              <a:t>𝒉</a:t>
            </a:r>
            <a:r>
              <a:rPr sz="2700" b="0" i="0" lang="ja-JP">
                <a:solidFill>
                  <a:srgbClr val="404040"/>
                </a:solidFill>
                <a:latin typeface="游ゴシック"/>
                <a:ea typeface="游ゴシック"/>
                <a:cs typeface="游ゴシック"/>
              </a:rPr>
              <a:t>を1%動かしたとき，正規化した出力</a:t>
            </a:r>
            <a:r>
              <a:rPr sz="2700" b="0" i="0" lang="ja-JP">
                <a:solidFill>
                  <a:srgbClr val="404040"/>
                </a:solidFill>
                <a:latin typeface="Cambria Math"/>
                <a:ea typeface="Cambria Math"/>
                <a:cs typeface="Cambria Math"/>
              </a:rPr>
              <a:t>𝒓</a:t>
            </a:r>
            <a:r>
              <a:rPr sz="2700" b="0" i="0" lang="ja-JP">
                <a:solidFill>
                  <a:srgbClr val="404040"/>
                </a:solidFill>
                <a:latin typeface="游ゴシック"/>
                <a:ea typeface="游ゴシック"/>
                <a:cs typeface="游ゴシック"/>
              </a:rPr>
              <a:t>が回答を決める方向</a:t>
            </a:r>
            <a:r>
              <a:rPr sz="2700" b="0" i="0" lang="ja-JP">
                <a:solidFill>
                  <a:srgbClr val="404040"/>
                </a:solidFill>
                <a:latin typeface="Cambria Math"/>
                <a:ea typeface="Cambria Math"/>
                <a:cs typeface="Cambria Math"/>
              </a:rPr>
              <a:t>𝒖</a:t>
            </a:r>
            <a:r>
              <a:rPr sz="2700" b="0" i="0" lang="ja-JP">
                <a:solidFill>
                  <a:srgbClr val="404040"/>
                </a:solidFill>
                <a:latin typeface="游ゴシック"/>
                <a:ea typeface="游ゴシック"/>
                <a:cs typeface="游ゴシック"/>
              </a:rPr>
              <a:t>へ最大で何%動くか．</a:t>
            </a:r>
            <a:r>
              <a:rPr sz="2700" b="0" i="0" lang="ja-JP">
                <a:solidFill>
                  <a:srgbClr val="404040"/>
                </a:solidFill>
                <a:latin typeface="Cambria Math"/>
                <a:ea typeface="Cambria Math"/>
                <a:cs typeface="Cambria Math"/>
              </a:rPr>
              <a:t>𝒖</a:t>
            </a:r>
            <a:r>
              <a:rPr sz="2700" b="0" i="0" lang="ja-JP">
                <a:solidFill>
                  <a:srgbClr val="404040"/>
                </a:solidFill>
                <a:latin typeface="游ゴシック"/>
                <a:ea typeface="游ゴシック"/>
                <a:cs typeface="游ゴシック"/>
              </a:rPr>
              <a:t>は回答の候補の出力層の行の主成分（上位</a:t>
            </a:r>
            <a:r>
              <a:rPr sz="2700" b="0" i="0" lang="ja-JP">
                <a:solidFill>
                  <a:srgbClr val="404040"/>
                </a:solidFill>
                <a:latin typeface="Cambria Math"/>
                <a:ea typeface="Cambria Math"/>
                <a:cs typeface="Cambria Math"/>
              </a:rPr>
              <a:t>𝑚</a:t>
            </a:r>
            <a:r>
              <a:rPr sz="2700" b="0" i="0" lang="ja-JP">
                <a:solidFill>
                  <a:srgbClr val="404040"/>
                </a:solidFill>
                <a:latin typeface="游ゴシック"/>
                <a:ea typeface="游ゴシック"/>
                <a:cs typeface="游ゴシック"/>
              </a:rPr>
              <a:t>本），</a:t>
            </a:r>
            <a:r>
              <a:rPr sz="2700" b="0" i="0" lang="ja-JP">
                <a:solidFill>
                  <a:srgbClr val="404040"/>
                </a:solidFill>
                <a:latin typeface="Cambria Math"/>
                <a:ea typeface="Cambria Math"/>
                <a:cs typeface="Cambria Math"/>
              </a:rPr>
              <a:t>𝑱</a:t>
            </a:r>
            <a:r>
              <a:rPr sz="2700" b="0" i="0" lang="ja-JP">
                <a:solidFill>
                  <a:srgbClr val="404040"/>
                </a:solidFill>
                <a:latin typeface="游ゴシック"/>
                <a:ea typeface="游ゴシック"/>
                <a:cs typeface="游ゴシック"/>
              </a:rPr>
              <a:t>はヤコビ行列による一次近似</a:t>
            </a:r>
          </a:p>
        </p:txBody>
      </p:sp>
      <p:graphicFrame>
        <p:nvGraphicFramePr>
          <p:cNvPr id="44" name="Chart 43"/>
          <p:cNvGraphicFramePr>
            <a:graphicFrameLocks noGrp="1"/>
          </p:cNvGraphicFramePr>
          <p:nvPr/>
        </p:nvGraphicFramePr>
        <p:xfrm>
          <a:off x="14748000" y="24208757"/>
          <a:ext cx="13308000" cy="3456000"/>
        </p:xfrm>
        <a:graphic>
          <a:graphicData uri="http://schemas.openxmlformats.org/drawingml/2006/chart">
            <c:chart xmlns:c="http://schemas.openxmlformats.org/drawingml/2006/chart" r:id="rId4"/>
          </a:graphicData>
        </a:graphic>
      </p:graphicFrame>
      <p:sp>
        <p:nvSpPr>
          <p:cNvPr id="45" name="TextBox 44"/>
          <p:cNvSpPr txBox="1"/>
          <p:nvPr/>
        </p:nvSpPr>
        <p:spPr>
          <a:xfrm>
            <a:off x="14748000" y="27700757"/>
            <a:ext cx="13308000" cy="887532"/>
          </a:xfrm>
          <a:prstGeom prst="rect">
            <a:avLst/>
          </a:prstGeom>
          <a:noFill/>
        </p:spPr>
        <p:txBody>
          <a:bodyPr wrap="square" lIns="0" tIns="0" rIns="0" bIns="0" anchor="t"/>
          <a:lstStyle/>
          <a:p>
            <a:pPr marL="0" indent="0">
              <a:lnSpc>
                <a:spcPts val="3294"/>
              </a:lnSpc>
              <a:spcAft>
                <a:spcPts val="400"/>
              </a:spcAft>
              <a:buNone/>
            </a:pPr>
            <a:r>
              <a:rPr sz="2700" b="1" i="0" lang="ja-JP">
                <a:solidFill>
                  <a:srgbClr val="C00000"/>
                </a:solidFill>
                <a:latin typeface="游ゴシック"/>
                <a:ea typeface="游ゴシック"/>
                <a:cs typeface="游ゴシック"/>
              </a:rPr>
              <a:t>proposal は baseline より18–28%低い</a:t>
            </a:r>
            <a:r>
              <a:rPr sz="2700" b="0" i="0" lang="ja-JP">
                <a:solidFill>
                  <a:srgbClr val="000000"/>
                </a:solidFill>
                <a:latin typeface="游ゴシック"/>
                <a:ea typeface="游ゴシック"/>
                <a:cs typeface="游ゴシック"/>
              </a:rPr>
              <a:t>（3乱数種すべて）．ablation はほぼ同じ</a:t>
            </a:r>
          </a:p>
        </p:txBody>
      </p:sp>
      <p:sp>
        <p:nvSpPr>
          <p:cNvPr id="46" name="Rectangle 45"/>
          <p:cNvSpPr/>
          <p:nvPr/>
        </p:nvSpPr>
        <p:spPr>
          <a:xfrm>
            <a:off x="28704000" y="6084000"/>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28920000" y="6084000"/>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5．追加の検証　画像の加工と内部表現</a:t>
            </a:r>
          </a:p>
        </p:txBody>
      </p:sp>
      <p:sp>
        <p:nvSpPr>
          <p:cNvPr id="48" name="TextBox 47"/>
          <p:cNvSpPr txBox="1"/>
          <p:nvPr/>
        </p:nvSpPr>
        <p:spPr>
          <a:xfrm>
            <a:off x="28704000" y="6984000"/>
            <a:ext cx="13308000" cy="887532"/>
          </a:xfrm>
          <a:prstGeom prst="rect">
            <a:avLst/>
          </a:prstGeom>
          <a:noFill/>
        </p:spPr>
        <p:txBody>
          <a:bodyPr wrap="square" lIns="0" tIns="0" rIns="0" bIns="0" anchor="t"/>
          <a:lstStyle/>
          <a:p>
            <a:pPr marL="0" indent="0">
              <a:lnSpc>
                <a:spcPts val="3294"/>
              </a:lnSpc>
              <a:spcAft>
                <a:spcPts val="400"/>
              </a:spcAft>
              <a:buNone/>
            </a:pPr>
            <a:r>
              <a:rPr sz="2700" b="0" i="0" lang="ja-JP">
                <a:solidFill>
                  <a:srgbClr val="000000"/>
                </a:solidFill>
                <a:latin typeface="游ゴシック"/>
                <a:ea typeface="游ゴシック"/>
                <a:cs typeface="游ゴシック"/>
              </a:rPr>
              <a:t>予稿以降に測定．Waniら[1]の加工8族23通りを評価データの全問に施し，第16層の</a:t>
            </a:r>
            <a:r>
              <a:rPr sz="2700" b="0" i="0" lang="ja-JP">
                <a:solidFill>
                  <a:srgbClr val="000000"/>
                </a:solidFill>
                <a:latin typeface="Cambria Math"/>
                <a:ea typeface="Cambria Math"/>
                <a:cs typeface="Cambria Math"/>
              </a:rPr>
              <a:t>𝒉</a:t>
            </a:r>
            <a:r>
              <a:rPr sz="2700" b="0" i="0" lang="ja-JP">
                <a:solidFill>
                  <a:srgbClr val="000000"/>
                </a:solidFill>
                <a:latin typeface="游ゴシック"/>
                <a:ea typeface="游ゴシック"/>
                <a:cs typeface="游ゴシック"/>
              </a:rPr>
              <a:t>の動き（コサイン距離）を3群で比べた</a:t>
            </a:r>
          </a:p>
        </p:txBody>
      </p:sp>
      <p:pic>
        <p:nvPicPr>
          <p:cNvPr id="49" name="Picture 48" descr="base.png"/>
          <p:cNvPicPr>
            <a:picLocks noChangeAspect="1"/>
          </p:cNvPicPr>
          <p:nvPr/>
        </p:nvPicPr>
        <p:blipFill>
          <a:blip r:embed="rId5"/>
          <a:stretch>
            <a:fillRect/>
          </a:stretch>
        </p:blipFill>
        <p:spPr>
          <a:xfrm>
            <a:off x="28704000" y="8015532"/>
            <a:ext cx="2575200" cy="1931400"/>
          </a:xfrm>
          <a:prstGeom prst="rect">
            <a:avLst/>
          </a:prstGeom>
        </p:spPr>
      </p:pic>
      <p:sp>
        <p:nvSpPr>
          <p:cNvPr id="50" name="TextBox 49"/>
          <p:cNvSpPr txBox="1"/>
          <p:nvPr/>
        </p:nvSpPr>
        <p:spPr>
          <a:xfrm>
            <a:off x="28596000" y="9982932"/>
            <a:ext cx="2791200" cy="324000"/>
          </a:xfrm>
          <a:prstGeom prst="rect">
            <a:avLst/>
          </a:prstGeom>
          <a:noFill/>
        </p:spPr>
        <p:txBody>
          <a:bodyPr wrap="square" lIns="0" tIns="0" rIns="0" bIns="0" anchor="t"/>
          <a:lstStyle/>
          <a:p>
            <a:pPr algn="ctr" marL="0" indent="0">
              <a:lnSpc>
                <a:spcPts val="2196"/>
              </a:lnSpc>
              <a:spcAft>
                <a:spcPts val="0"/>
              </a:spcAft>
              <a:buNone/>
            </a:pPr>
            <a:r>
              <a:rPr sz="1800" b="0" i="0" lang="ja-JP">
                <a:solidFill>
                  <a:srgbClr val="000000"/>
                </a:solidFill>
                <a:latin typeface="游ゴシック"/>
                <a:ea typeface="游ゴシック"/>
                <a:cs typeface="游ゴシック"/>
              </a:rPr>
              <a:t>元画像</a:t>
            </a:r>
          </a:p>
        </p:txBody>
      </p:sp>
      <p:pic>
        <p:nvPicPr>
          <p:cNvPr id="51" name="Picture 50" descr="translation+16.png"/>
          <p:cNvPicPr>
            <a:picLocks noChangeAspect="1"/>
          </p:cNvPicPr>
          <p:nvPr/>
        </p:nvPicPr>
        <p:blipFill>
          <a:blip r:embed="rId6"/>
          <a:stretch>
            <a:fillRect/>
          </a:stretch>
        </p:blipFill>
        <p:spPr>
          <a:xfrm>
            <a:off x="31387200" y="8015532"/>
            <a:ext cx="2575200" cy="1931400"/>
          </a:xfrm>
          <a:prstGeom prst="rect">
            <a:avLst/>
          </a:prstGeom>
        </p:spPr>
      </p:pic>
      <p:sp>
        <p:nvSpPr>
          <p:cNvPr id="52" name="TextBox 51"/>
          <p:cNvSpPr txBox="1"/>
          <p:nvPr/>
        </p:nvSpPr>
        <p:spPr>
          <a:xfrm>
            <a:off x="31279200" y="9982932"/>
            <a:ext cx="2791200" cy="324000"/>
          </a:xfrm>
          <a:prstGeom prst="rect">
            <a:avLst/>
          </a:prstGeom>
          <a:noFill/>
        </p:spPr>
        <p:txBody>
          <a:bodyPr wrap="square" lIns="0" tIns="0" rIns="0" bIns="0" anchor="t"/>
          <a:lstStyle/>
          <a:p>
            <a:pPr algn="ctr" marL="0" indent="0">
              <a:lnSpc>
                <a:spcPts val="2196"/>
              </a:lnSpc>
              <a:spcAft>
                <a:spcPts val="0"/>
              </a:spcAft>
              <a:buNone/>
            </a:pPr>
            <a:r>
              <a:rPr sz="1800" b="0" i="0" lang="ja-JP">
                <a:solidFill>
                  <a:srgbClr val="000000"/>
                </a:solidFill>
                <a:latin typeface="游ゴシック"/>
                <a:ea typeface="游ゴシック"/>
                <a:cs typeface="游ゴシック"/>
              </a:rPr>
              <a:t>平行移動</a:t>
            </a:r>
          </a:p>
        </p:txBody>
      </p:sp>
      <p:pic>
        <p:nvPicPr>
          <p:cNvPr id="53" name="Picture 52" descr="rotation+30.png"/>
          <p:cNvPicPr>
            <a:picLocks noChangeAspect="1"/>
          </p:cNvPicPr>
          <p:nvPr/>
        </p:nvPicPr>
        <p:blipFill>
          <a:blip r:embed="rId7"/>
          <a:stretch>
            <a:fillRect/>
          </a:stretch>
        </p:blipFill>
        <p:spPr>
          <a:xfrm>
            <a:off x="34070400" y="8015532"/>
            <a:ext cx="2575200" cy="1931400"/>
          </a:xfrm>
          <a:prstGeom prst="rect">
            <a:avLst/>
          </a:prstGeom>
        </p:spPr>
      </p:pic>
      <p:sp>
        <p:nvSpPr>
          <p:cNvPr id="54" name="TextBox 53"/>
          <p:cNvSpPr txBox="1"/>
          <p:nvPr/>
        </p:nvSpPr>
        <p:spPr>
          <a:xfrm>
            <a:off x="33962400" y="9982932"/>
            <a:ext cx="2791200" cy="324000"/>
          </a:xfrm>
          <a:prstGeom prst="rect">
            <a:avLst/>
          </a:prstGeom>
          <a:noFill/>
        </p:spPr>
        <p:txBody>
          <a:bodyPr wrap="square" lIns="0" tIns="0" rIns="0" bIns="0" anchor="t"/>
          <a:lstStyle/>
          <a:p>
            <a:pPr algn="ctr" marL="0" indent="0">
              <a:lnSpc>
                <a:spcPts val="2196"/>
              </a:lnSpc>
              <a:spcAft>
                <a:spcPts val="0"/>
              </a:spcAft>
              <a:buNone/>
            </a:pPr>
            <a:r>
              <a:rPr sz="1800" b="0" i="0" lang="ja-JP">
                <a:solidFill>
                  <a:srgbClr val="000000"/>
                </a:solidFill>
                <a:latin typeface="游ゴシック"/>
                <a:ea typeface="游ゴシック"/>
                <a:cs typeface="游ゴシック"/>
              </a:rPr>
              <a:t>回転</a:t>
            </a:r>
          </a:p>
        </p:txBody>
      </p:sp>
      <p:pic>
        <p:nvPicPr>
          <p:cNvPr id="55" name="Picture 54" descr="text_overlay.png"/>
          <p:cNvPicPr>
            <a:picLocks noChangeAspect="1"/>
          </p:cNvPicPr>
          <p:nvPr/>
        </p:nvPicPr>
        <p:blipFill>
          <a:blip r:embed="rId8"/>
          <a:stretch>
            <a:fillRect/>
          </a:stretch>
        </p:blipFill>
        <p:spPr>
          <a:xfrm>
            <a:off x="36753600" y="8015532"/>
            <a:ext cx="2575200" cy="1931400"/>
          </a:xfrm>
          <a:prstGeom prst="rect">
            <a:avLst/>
          </a:prstGeom>
        </p:spPr>
      </p:pic>
      <p:sp>
        <p:nvSpPr>
          <p:cNvPr id="56" name="TextBox 55"/>
          <p:cNvSpPr txBox="1"/>
          <p:nvPr/>
        </p:nvSpPr>
        <p:spPr>
          <a:xfrm>
            <a:off x="36645600" y="9982932"/>
            <a:ext cx="2791200" cy="324000"/>
          </a:xfrm>
          <a:prstGeom prst="rect">
            <a:avLst/>
          </a:prstGeom>
          <a:noFill/>
        </p:spPr>
        <p:txBody>
          <a:bodyPr wrap="square" lIns="0" tIns="0" rIns="0" bIns="0" anchor="t"/>
          <a:lstStyle/>
          <a:p>
            <a:pPr algn="ctr" marL="0" indent="0">
              <a:lnSpc>
                <a:spcPts val="2196"/>
              </a:lnSpc>
              <a:spcAft>
                <a:spcPts val="0"/>
              </a:spcAft>
              <a:buNone/>
            </a:pPr>
            <a:r>
              <a:rPr sz="1800" b="0" i="0" lang="ja-JP">
                <a:solidFill>
                  <a:srgbClr val="000000"/>
                </a:solidFill>
                <a:latin typeface="游ゴシック"/>
                <a:ea typeface="游ゴシック"/>
                <a:cs typeface="游ゴシック"/>
              </a:rPr>
              <a:t>文字の重ね書き</a:t>
            </a:r>
          </a:p>
        </p:txBody>
      </p:sp>
      <p:pic>
        <p:nvPicPr>
          <p:cNvPr id="57" name="Picture 56" descr="other_image.png"/>
          <p:cNvPicPr>
            <a:picLocks noChangeAspect="1"/>
          </p:cNvPicPr>
          <p:nvPr/>
        </p:nvPicPr>
        <p:blipFill>
          <a:blip r:embed="rId9"/>
          <a:stretch>
            <a:fillRect/>
          </a:stretch>
        </p:blipFill>
        <p:spPr>
          <a:xfrm>
            <a:off x="39436800" y="8015532"/>
            <a:ext cx="2575200" cy="1931400"/>
          </a:xfrm>
          <a:prstGeom prst="rect">
            <a:avLst/>
          </a:prstGeom>
        </p:spPr>
      </p:pic>
      <p:sp>
        <p:nvSpPr>
          <p:cNvPr id="58" name="TextBox 57"/>
          <p:cNvSpPr txBox="1"/>
          <p:nvPr/>
        </p:nvSpPr>
        <p:spPr>
          <a:xfrm>
            <a:off x="39328800" y="9982932"/>
            <a:ext cx="2791200" cy="324000"/>
          </a:xfrm>
          <a:prstGeom prst="rect">
            <a:avLst/>
          </a:prstGeom>
          <a:noFill/>
        </p:spPr>
        <p:txBody>
          <a:bodyPr wrap="square" lIns="0" tIns="0" rIns="0" bIns="0" anchor="t"/>
          <a:lstStyle/>
          <a:p>
            <a:pPr algn="ctr" marL="0" indent="0">
              <a:lnSpc>
                <a:spcPts val="2196"/>
              </a:lnSpc>
              <a:spcAft>
                <a:spcPts val="0"/>
              </a:spcAft>
              <a:buNone/>
            </a:pPr>
            <a:r>
              <a:rPr sz="1800" b="0" i="0" lang="ja-JP">
                <a:solidFill>
                  <a:srgbClr val="000000"/>
                </a:solidFill>
                <a:latin typeface="游ゴシック"/>
                <a:ea typeface="游ゴシック"/>
                <a:cs typeface="游ゴシック"/>
              </a:rPr>
              <a:t>別の画像（対照）</a:t>
            </a:r>
          </a:p>
        </p:txBody>
      </p:sp>
      <p:sp>
        <p:nvSpPr>
          <p:cNvPr id="59" name="TextBox 58"/>
          <p:cNvSpPr txBox="1"/>
          <p:nvPr/>
        </p:nvSpPr>
        <p:spPr>
          <a:xfrm>
            <a:off x="28704000" y="10342932"/>
            <a:ext cx="13308000" cy="329713"/>
          </a:xfrm>
          <a:prstGeom prst="rect">
            <a:avLst/>
          </a:prstGeom>
          <a:noFill/>
        </p:spPr>
        <p:txBody>
          <a:bodyPr wrap="square" lIns="0" tIns="0" rIns="0" bIns="0" anchor="t"/>
          <a:lstStyle/>
          <a:p>
            <a:pPr algn="ctr" marL="0" indent="0">
              <a:lnSpc>
                <a:spcPts val="2196"/>
              </a:lnSpc>
              <a:spcAft>
                <a:spcPts val="400"/>
              </a:spcAft>
              <a:buNone/>
            </a:pPr>
            <a:r>
              <a:rPr sz="1800" b="0" i="0" lang="ja-JP">
                <a:solidFill>
                  <a:srgbClr val="595959"/>
                </a:solidFill>
                <a:latin typeface="游ゴシック"/>
                <a:ea typeface="游ゴシック"/>
                <a:cs typeface="游ゴシック"/>
              </a:rPr>
              <a:t>評価データの問「Who is wearing the dress?」に，測定で施した加工（画像：GQA）</a:t>
            </a:r>
          </a:p>
        </p:txBody>
      </p:sp>
      <p:sp>
        <p:nvSpPr>
          <p:cNvPr id="60" name="TextBox 59"/>
          <p:cNvSpPr txBox="1"/>
          <p:nvPr/>
        </p:nvSpPr>
        <p:spPr>
          <a:xfrm>
            <a:off x="28704000" y="10816645"/>
            <a:ext cx="13308000" cy="887532"/>
          </a:xfrm>
          <a:prstGeom prst="rect">
            <a:avLst/>
          </a:prstGeom>
          <a:noFill/>
        </p:spPr>
        <p:txBody>
          <a:bodyPr wrap="square" lIns="0" tIns="0" rIns="0" bIns="0" anchor="t"/>
          <a:lstStyle/>
          <a:p>
            <a:pPr marL="0" indent="0">
              <a:lnSpc>
                <a:spcPts val="3294"/>
              </a:lnSpc>
              <a:spcAft>
                <a:spcPts val="400"/>
              </a:spcAft>
              <a:buNone/>
            </a:pPr>
            <a:r>
              <a:rPr sz="2700" b="1" i="0" lang="ja-JP">
                <a:solidFill>
                  <a:srgbClr val="000000"/>
                </a:solidFill>
                <a:latin typeface="游ゴシック"/>
                <a:ea typeface="游ゴシック"/>
                <a:cs typeface="游ゴシック"/>
              </a:rPr>
              <a:t>比</a:t>
            </a:r>
            <a:r>
              <a:rPr sz="2700" b="0" i="0" lang="ja-JP">
                <a:solidFill>
                  <a:srgbClr val="000000"/>
                </a:solidFill>
                <a:latin typeface="游ゴシック"/>
                <a:ea typeface="游ゴシック"/>
                <a:cs typeface="游ゴシック"/>
              </a:rPr>
              <a:t>　加工前後の距離の平均 ÷ 同じ質問に別の画像を与えたときの距離の平均</a:t>
            </a:r>
          </a:p>
        </p:txBody>
      </p:sp>
      <p:graphicFrame>
        <p:nvGraphicFramePr>
          <p:cNvPr id="61" name="Chart 60"/>
          <p:cNvGraphicFramePr>
            <a:graphicFrameLocks noGrp="1"/>
          </p:cNvGraphicFramePr>
          <p:nvPr/>
        </p:nvGraphicFramePr>
        <p:xfrm>
          <a:off x="28704000" y="11848177"/>
          <a:ext cx="13308000" cy="3600000"/>
        </p:xfrm>
        <a:graphic>
          <a:graphicData uri="http://schemas.openxmlformats.org/drawingml/2006/chart">
            <c:chart xmlns:c="http://schemas.openxmlformats.org/drawingml/2006/chart" r:id="rId10"/>
          </a:graphicData>
        </a:graphic>
      </p:graphicFrame>
      <p:sp>
        <p:nvSpPr>
          <p:cNvPr id="62" name="TextBox 61"/>
          <p:cNvSpPr txBox="1"/>
          <p:nvPr/>
        </p:nvSpPr>
        <p:spPr>
          <a:xfrm>
            <a:off x="28704000" y="15484177"/>
            <a:ext cx="13308000" cy="391693"/>
          </a:xfrm>
          <a:prstGeom prst="rect">
            <a:avLst/>
          </a:prstGeom>
          <a:noFill/>
        </p:spPr>
        <p:txBody>
          <a:bodyPr wrap="square" lIns="0" tIns="0" rIns="0" bIns="0" anchor="t"/>
          <a:lstStyle/>
          <a:p>
            <a:pPr marL="0" indent="0">
              <a:lnSpc>
                <a:spcPts val="2684"/>
              </a:lnSpc>
              <a:spcAft>
                <a:spcPts val="400"/>
              </a:spcAft>
              <a:buNone/>
            </a:pPr>
            <a:r>
              <a:rPr sz="2200" b="0" i="0" lang="ja-JP">
                <a:solidFill>
                  <a:srgbClr val="595959"/>
                </a:solidFill>
                <a:latin typeface="游ゴシック"/>
                <a:ea typeface="游ゴシック"/>
                <a:cs typeface="游ゴシック"/>
              </a:rPr>
              <a:t>族ごとの比較は探索的（8族を3乱数種で比べている）．判定は「23通り」で行う</a:t>
            </a:r>
          </a:p>
        </p:txBody>
      </p:sp>
      <p:sp>
        <p:nvSpPr>
          <p:cNvPr id="63" name="TextBox 62"/>
          <p:cNvSpPr txBox="1"/>
          <p:nvPr/>
        </p:nvSpPr>
        <p:spPr>
          <a:xfrm>
            <a:off x="28704000" y="16019869"/>
            <a:ext cx="13308000" cy="3108231"/>
          </a:xfrm>
          <a:prstGeom prst="rect">
            <a:avLst/>
          </a:prstGeom>
          <a:noFill/>
        </p:spPr>
        <p:txBody>
          <a:bodyPr wrap="square" lIns="0" tIns="0" rIns="0" bIns="0" anchor="t"/>
          <a:lstStyle/>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23通りすべて　</a:t>
            </a:r>
            <a:r>
              <a:rPr sz="2700" b="0" i="0" lang="ja-JP">
                <a:solidFill>
                  <a:srgbClr val="000000"/>
                </a:solidFill>
                <a:latin typeface="游ゴシック"/>
                <a:ea typeface="游ゴシック"/>
                <a:cs typeface="游ゴシック"/>
              </a:rPr>
              <a:t>baseline 15.6% ／ proposal 10.0% ／ ablation 19.9%</a:t>
            </a:r>
          </a:p>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ablation より小さい　</a:t>
            </a:r>
            <a:r>
              <a:rPr sz="2700" b="0" i="0" lang="ja-JP">
                <a:solidFill>
                  <a:srgbClr val="000000"/>
                </a:solidFill>
                <a:latin typeface="游ゴシック"/>
                <a:ea typeface="游ゴシック"/>
                <a:cs typeface="游ゴシック"/>
              </a:rPr>
              <a:t>-9.9pt [-13.8, -6.1]</a:t>
            </a:r>
          </a:p>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baseline との差は向きが未決　</a:t>
            </a:r>
            <a:r>
              <a:rPr sz="2700" b="0" i="0" lang="ja-JP">
                <a:solidFill>
                  <a:srgbClr val="000000"/>
                </a:solidFill>
                <a:latin typeface="游ゴシック"/>
                <a:ea typeface="游ゴシック"/>
                <a:cs typeface="游ゴシック"/>
              </a:rPr>
              <a:t>-5.7pt [-13.0, +1.7]．3乱数種すべて負だが，区間が0を含む</a:t>
            </a:r>
          </a:p>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距離そのものでは逆向き　</a:t>
            </a:r>
            <a:r>
              <a:rPr sz="2700" b="0" i="0" lang="ja-JP">
                <a:solidFill>
                  <a:srgbClr val="000000"/>
                </a:solidFill>
                <a:latin typeface="游ゴシック"/>
                <a:ea typeface="游ゴシック"/>
                <a:cs typeface="游ゴシック"/>
              </a:rPr>
              <a:t>proposal のほうがよく動き（区間は0を含まない），対照の距離も約5倍</a:t>
            </a:r>
          </a:p>
          <a:p>
            <a:pPr marL="342900" indent="-342900">
              <a:lnSpc>
                <a:spcPts val="3294"/>
              </a:lnSpc>
              <a:spcAft>
                <a:spcPts val="300"/>
              </a:spcAft>
              <a:buFont typeface="Arial"/>
              <a:buChar char="•"/>
            </a:pPr>
            <a:r>
              <a:rPr sz="2700" b="0" i="0" lang="ja-JP">
                <a:solidFill>
                  <a:srgbClr val="000000"/>
                </a:solidFill>
                <a:latin typeface="游ゴシック"/>
                <a:ea typeface="游ゴシック"/>
                <a:cs typeface="游ゴシック"/>
              </a:rPr>
              <a:t>最終層と回答では，幾何的な加工について3群の差は見られない</a:t>
            </a:r>
          </a:p>
        </p:txBody>
      </p:sp>
      <p:sp>
        <p:nvSpPr>
          <p:cNvPr id="64" name="Rectangle 63"/>
          <p:cNvSpPr/>
          <p:nvPr/>
        </p:nvSpPr>
        <p:spPr>
          <a:xfrm>
            <a:off x="28704000" y="19344101"/>
            <a:ext cx="13308000" cy="684000"/>
          </a:xfrm>
          <a:prstGeom prst="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28920000" y="19344101"/>
            <a:ext cx="12876000" cy="684000"/>
          </a:xfrm>
          <a:prstGeom prst="rect">
            <a:avLst/>
          </a:prstGeom>
          <a:noFill/>
        </p:spPr>
        <p:txBody>
          <a:bodyPr wrap="square" lIns="0" tIns="0" rIns="0" bIns="0" anchor="ctr"/>
          <a:lstStyle/>
          <a:p>
            <a:pPr marL="0" indent="0">
              <a:lnSpc>
                <a:spcPts val="4880"/>
              </a:lnSpc>
              <a:spcAft>
                <a:spcPts val="0"/>
              </a:spcAft>
              <a:buNone/>
            </a:pPr>
            <a:r>
              <a:rPr sz="4000" b="1" i="0" lang="ja-JP">
                <a:solidFill>
                  <a:srgbClr val="FFFFFF"/>
                </a:solidFill>
                <a:latin typeface="游ゴシック"/>
                <a:ea typeface="游ゴシック"/>
                <a:cs typeface="游ゴシック"/>
              </a:rPr>
              <a:t>6．まとめ</a:t>
            </a:r>
          </a:p>
        </p:txBody>
      </p:sp>
      <p:sp>
        <p:nvSpPr>
          <p:cNvPr id="66" name="Rounded Rectangle 65"/>
          <p:cNvSpPr/>
          <p:nvPr/>
        </p:nvSpPr>
        <p:spPr>
          <a:xfrm>
            <a:off x="28704000" y="20244101"/>
            <a:ext cx="13308000" cy="1485658"/>
          </a:xfrm>
          <a:prstGeom prst="roundRect">
            <a:avLst>
              <a:gd name="adj" fmla="val 10000"/>
            </a:avLst>
          </a:prstGeom>
          <a:solidFill>
            <a:srgbClr val="E2F0D9"/>
          </a:solidFill>
          <a:ln w="216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28920000" y="20460101"/>
            <a:ext cx="12876000" cy="1053658"/>
          </a:xfrm>
          <a:prstGeom prst="rect">
            <a:avLst/>
          </a:prstGeom>
          <a:noFill/>
        </p:spPr>
        <p:txBody>
          <a:bodyPr wrap="square" lIns="0" tIns="0" rIns="0" bIns="0" anchor="ctr"/>
          <a:lstStyle/>
          <a:p>
            <a:pPr marL="0" indent="0">
              <a:lnSpc>
                <a:spcPts val="4148"/>
              </a:lnSpc>
              <a:spcAft>
                <a:spcPts val="0"/>
              </a:spcAft>
              <a:buNone/>
            </a:pPr>
            <a:r>
              <a:rPr sz="3400" b="1" i="0" lang="ja-JP">
                <a:solidFill>
                  <a:srgbClr val="000000"/>
                </a:solidFill>
                <a:latin typeface="游ゴシック"/>
                <a:ea typeface="游ゴシック"/>
                <a:cs typeface="游ゴシック"/>
              </a:rPr>
              <a:t>内部表現に表れた手続きの特徴は，</a:t>
            </a:r>
            <a:br>
              <a:rPr sz="3400" b="1" i="0" lang="ja-JP">
                <a:solidFill>
                  <a:srgbClr val="000000"/>
                </a:solidFill>
                <a:latin typeface="游ゴシック"/>
                <a:ea typeface="游ゴシック"/>
                <a:cs typeface="游ゴシック"/>
              </a:rPr>
            </a:br>
            <a:r>
              <a:rPr sz="3400" b="1" i="0" lang="ja-JP">
                <a:solidFill>
                  <a:srgbClr val="000000"/>
                </a:solidFill>
                <a:latin typeface="游ゴシック"/>
                <a:ea typeface="游ゴシック"/>
                <a:cs typeface="游ゴシック"/>
              </a:rPr>
              <a:t>回答の生成に十分用いられていないことが示唆される</a:t>
            </a:r>
          </a:p>
        </p:txBody>
      </p:sp>
      <p:sp>
        <p:nvSpPr>
          <p:cNvPr id="68" name="TextBox 67"/>
          <p:cNvSpPr txBox="1"/>
          <p:nvPr/>
        </p:nvSpPr>
        <p:spPr>
          <a:xfrm>
            <a:off x="28704000" y="21981759"/>
            <a:ext cx="13308000" cy="2206129"/>
          </a:xfrm>
          <a:prstGeom prst="rect">
            <a:avLst/>
          </a:prstGeom>
          <a:noFill/>
        </p:spPr>
        <p:txBody>
          <a:bodyPr wrap="square" lIns="0" tIns="0" rIns="0" bIns="0" anchor="t"/>
          <a:lstStyle/>
          <a:p>
            <a:pPr marL="342900" indent="-342900">
              <a:lnSpc>
                <a:spcPts val="3294"/>
              </a:lnSpc>
              <a:spcAft>
                <a:spcPts val="300"/>
              </a:spcAft>
              <a:buFont typeface="Arial"/>
              <a:buChar char="•"/>
            </a:pPr>
            <a:r>
              <a:rPr sz="2700" b="0" i="0" lang="ja-JP">
                <a:solidFill>
                  <a:srgbClr val="000000"/>
                </a:solidFill>
                <a:latin typeface="游ゴシック"/>
                <a:ea typeface="游ゴシック"/>
                <a:cs typeface="游ゴシック"/>
              </a:rPr>
              <a:t>正解率を高めるには，手続きの特徴を回答の生成に用いる工夫が要る</a:t>
            </a:r>
          </a:p>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今後　</a:t>
            </a:r>
            <a:r>
              <a:rPr sz="2700" b="0" i="0" lang="ja-JP">
                <a:solidFill>
                  <a:srgbClr val="000000"/>
                </a:solidFill>
                <a:latin typeface="游ゴシック"/>
                <a:ea typeface="游ゴシック"/>
                <a:cs typeface="游ゴシック"/>
              </a:rPr>
              <a:t>乱数種を足して安定性の向きを決める．回答の型で整合する群を足し，効果が署名に固有かを確かめる</a:t>
            </a:r>
          </a:p>
          <a:p>
            <a:pPr marL="342900" indent="-342900">
              <a:lnSpc>
                <a:spcPts val="3294"/>
              </a:lnSpc>
              <a:spcAft>
                <a:spcPts val="300"/>
              </a:spcAft>
              <a:buFont typeface="Arial"/>
              <a:buChar char="•"/>
            </a:pPr>
            <a:r>
              <a:rPr sz="2700" b="1" i="0" lang="ja-JP">
                <a:solidFill>
                  <a:srgbClr val="000000"/>
                </a:solidFill>
                <a:latin typeface="游ゴシック"/>
                <a:ea typeface="游ゴシック"/>
                <a:cs typeface="游ゴシック"/>
              </a:rPr>
              <a:t>限界　</a:t>
            </a:r>
            <a:r>
              <a:rPr sz="2700" b="0" i="0" lang="ja-JP">
                <a:solidFill>
                  <a:srgbClr val="000000"/>
                </a:solidFill>
                <a:latin typeface="游ゴシック"/>
                <a:ea typeface="游ゴシック"/>
                <a:cs typeface="游ゴシック"/>
              </a:rPr>
              <a:t>1モデル・1データセット・第16層・</a:t>
            </a:r>
            <a:r>
              <a:rPr sz="2700" b="0" i="0" lang="ja-JP">
                <a:solidFill>
                  <a:srgbClr val="000000"/>
                </a:solidFill>
                <a:latin typeface="Cambria Math"/>
                <a:ea typeface="Cambria Math"/>
                <a:cs typeface="Cambria Math"/>
              </a:rPr>
              <a:t>𝜆 = 0.1</a:t>
            </a:r>
            <a:r>
              <a:rPr sz="2700" b="0" i="0" lang="ja-JP">
                <a:solidFill>
                  <a:srgbClr val="000000"/>
                </a:solidFill>
                <a:latin typeface="游ゴシック"/>
                <a:ea typeface="游ゴシック"/>
                <a:cs typeface="游ゴシック"/>
              </a:rPr>
              <a:t>．相対感度は一次近似</a:t>
            </a:r>
          </a:p>
        </p:txBody>
      </p:sp>
      <p:sp>
        <p:nvSpPr>
          <p:cNvPr id="69" name="Rounded Rectangle 68"/>
          <p:cNvSpPr/>
          <p:nvPr/>
        </p:nvSpPr>
        <p:spPr>
          <a:xfrm>
            <a:off x="28704000" y="24403888"/>
            <a:ext cx="13308000" cy="2574625"/>
          </a:xfrm>
          <a:prstGeom prst="roundRect">
            <a:avLst>
              <a:gd name="adj" fmla="val 10000"/>
            </a:avLst>
          </a:prstGeom>
          <a:solidFill>
            <a:srgbClr val="E2F0D9"/>
          </a:solidFill>
          <a:ln w="21600">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28920000" y="24619888"/>
            <a:ext cx="12876000" cy="2142625"/>
          </a:xfrm>
          <a:prstGeom prst="rect">
            <a:avLst/>
          </a:prstGeom>
          <a:noFill/>
        </p:spPr>
        <p:txBody>
          <a:bodyPr wrap="square" lIns="0" tIns="0" rIns="0" bIns="0" anchor="ctr"/>
          <a:lstStyle/>
          <a:p>
            <a:pPr marL="0" indent="0">
              <a:lnSpc>
                <a:spcPts val="3294"/>
              </a:lnSpc>
              <a:spcAft>
                <a:spcPts val="400"/>
              </a:spcAft>
              <a:buNone/>
            </a:pPr>
            <a:r>
              <a:rPr sz="2700" b="1" i="0" lang="ja-JP">
                <a:solidFill>
                  <a:srgbClr val="70AD47"/>
                </a:solidFill>
                <a:latin typeface="游ゴシック"/>
                <a:ea typeface="游ゴシック"/>
                <a:cs typeface="游ゴシック"/>
              </a:rPr>
              <a:t>研究の意義　</a:t>
            </a:r>
            <a:r>
              <a:rPr sz="2700" b="0" i="0" lang="ja-JP">
                <a:solidFill>
                  <a:srgbClr val="000000"/>
                </a:solidFill>
                <a:latin typeface="游ゴシック"/>
                <a:ea typeface="游ゴシック"/>
                <a:cs typeface="游ゴシック"/>
              </a:rPr>
              <a:t>Elazarら[5]は既にある性質を表現から除き，語予測への影響を見た．本研究は逆に，手続きの特徴を損失で内部表現に作り込み，回答の生成に使われるかを見た．</a:t>
            </a:r>
          </a:p>
          <a:p>
            <a:pPr marL="0" indent="0">
              <a:lnSpc>
                <a:spcPts val="3294"/>
              </a:lnSpc>
              <a:spcAft>
                <a:spcPts val="0"/>
              </a:spcAft>
              <a:buNone/>
            </a:pPr>
            <a:r>
              <a:rPr sz="2700" b="1" i="0" lang="ja-JP">
                <a:solidFill>
                  <a:srgbClr val="000000"/>
                </a:solidFill>
                <a:latin typeface="游ゴシック"/>
                <a:ea typeface="游ゴシック"/>
                <a:cs typeface="游ゴシック"/>
              </a:rPr>
              <a:t>読み取り精度が上がっても，モデルが手続きを使うようになったとはみなせない</a:t>
            </a:r>
          </a:p>
        </p:txBody>
      </p:sp>
      <p:sp>
        <p:nvSpPr>
          <p:cNvPr id="71" name="TextBox 70"/>
          <p:cNvSpPr txBox="1"/>
          <p:nvPr/>
        </p:nvSpPr>
        <p:spPr>
          <a:xfrm>
            <a:off x="28704000" y="28089452"/>
            <a:ext cx="13308000" cy="1394548"/>
          </a:xfrm>
          <a:prstGeom prst="rect">
            <a:avLst/>
          </a:prstGeom>
          <a:noFill/>
        </p:spPr>
        <p:txBody>
          <a:bodyPr wrap="square" lIns="0" tIns="0" rIns="0" bIns="0" anchor="t"/>
          <a:lstStyle/>
          <a:p>
            <a:pPr marL="0" indent="0">
              <a:lnSpc>
                <a:spcPts val="1830"/>
              </a:lnSpc>
              <a:spcAft>
                <a:spcPts val="0"/>
              </a:spcAft>
              <a:buNone/>
            </a:pPr>
            <a:r>
              <a:rPr sz="1500" b="0" i="0" lang="ja-JP">
                <a:solidFill>
                  <a:srgbClr val="404040"/>
                </a:solidFill>
                <a:latin typeface="游ゴシック"/>
                <a:ea typeface="游ゴシック"/>
                <a:cs typeface="游ゴシック"/>
              </a:rPr>
              <a:t>[1] F. A. Wani et al., “Same Answer, Different Representations: Hidden Instability in VLMs,” arXiv:2602.06652, 2026.</a:t>
            </a:r>
          </a:p>
          <a:p>
            <a:pPr marL="0" indent="0">
              <a:lnSpc>
                <a:spcPts val="1830"/>
              </a:lnSpc>
              <a:spcAft>
                <a:spcPts val="0"/>
              </a:spcAft>
              <a:buNone/>
            </a:pPr>
            <a:r>
              <a:rPr sz="1500" b="0" i="0" lang="ja-JP">
                <a:solidFill>
                  <a:srgbClr val="404040"/>
                </a:solidFill>
                <a:latin typeface="游ゴシック"/>
                <a:ea typeface="游ゴシック"/>
                <a:cs typeface="游ゴシック"/>
              </a:rPr>
              <a:t>[2] A. Marafioti et al., “SmolVLM: Redefining Small and Efficient Multimodal Models,” arXiv:2504.05299, 2025.</a:t>
            </a:r>
          </a:p>
          <a:p>
            <a:pPr marL="0" indent="0">
              <a:lnSpc>
                <a:spcPts val="1830"/>
              </a:lnSpc>
              <a:spcAft>
                <a:spcPts val="0"/>
              </a:spcAft>
              <a:buNone/>
            </a:pPr>
            <a:r>
              <a:rPr sz="1500" b="0" i="0" lang="ja-JP">
                <a:solidFill>
                  <a:srgbClr val="404040"/>
                </a:solidFill>
                <a:latin typeface="游ゴシック"/>
                <a:ea typeface="游ゴシック"/>
                <a:cs typeface="游ゴシック"/>
              </a:rPr>
              <a:t>[3] D. A. Hudson and C. D. Manning, “GQA: A New Dataset for Real-World Visual Reasoning and Compositional Question Answering,” in Proc. IEEE/CVF CVPR, 2019.</a:t>
            </a:r>
          </a:p>
          <a:p>
            <a:pPr marL="0" indent="0">
              <a:lnSpc>
                <a:spcPts val="1830"/>
              </a:lnSpc>
              <a:spcAft>
                <a:spcPts val="0"/>
              </a:spcAft>
              <a:buNone/>
            </a:pPr>
            <a:r>
              <a:rPr sz="1500" b="0" i="0" lang="ja-JP">
                <a:solidFill>
                  <a:srgbClr val="404040"/>
                </a:solidFill>
                <a:latin typeface="游ゴシック"/>
                <a:ea typeface="游ゴシック"/>
                <a:cs typeface="游ゴシック"/>
              </a:rPr>
              <a:t>[4] P. Khosla et al., “Supervised Contrastive Learning,” in Proc. NeurIPS, 2020.</a:t>
            </a:r>
          </a:p>
          <a:p>
            <a:pPr marL="0" indent="0">
              <a:lnSpc>
                <a:spcPts val="1830"/>
              </a:lnSpc>
              <a:spcAft>
                <a:spcPts val="0"/>
              </a:spcAft>
              <a:buNone/>
            </a:pPr>
            <a:r>
              <a:rPr sz="1500" b="0" i="0" lang="ja-JP">
                <a:solidFill>
                  <a:srgbClr val="404040"/>
                </a:solidFill>
                <a:latin typeface="游ゴシック"/>
                <a:ea typeface="游ゴシック"/>
                <a:cs typeface="游ゴシック"/>
              </a:rPr>
              <a:t>[5] Y. Elazar et al., “Amnesic Probing: Behavioral Explanation with Amnesic Counterfactuals,” TACL,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游ゴシック"/>
        <a:ea typeface="游ゴシック"/>
        <a:cs typeface=""/>
        <a:font script="Jpan" typeface="游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游ゴシック"/>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Application>Microsoft Office PowerPoint</Application>
  <PresentationFormat>ユーザー設定</PresentationFormat>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Arial</vt:lpstr>
      <vt:lpstr>Cambria Math</vt:lpstr>
      <vt:lpstr>Office Theme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友晴 中野</cp:lastModifiedBy>
  <cp:revision>1</cp:revision>
  <dcterms:created xsi:type="dcterms:W3CDTF">2026-10-29T09:21:56Z</dcterms:created>
  <dcterms:modified xsi:type="dcterms:W3CDTF">2026-10-29T09:21:56Z</dcterms:modified>
  <dc:creator>友晴 中野</dc:creator>
</cp:coreProperties>
</file>