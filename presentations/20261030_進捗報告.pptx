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6" r:id="rId11"/>
    <p:sldId id="277" r:id="rId12"/>
    <p:sldId id="278" r:id="rId13"/>
    <p:sldId id="279" r:id="rId14"/>
    <p:sldId id="280" r:id="rId15"/>
    <p:sldId id="281" r:id="rId16"/>
    <p:sldId id="282" r:id="rId17"/>
    <p:sldId id="283" r:id="rId18"/>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xml"/><Relationship Id="rId10" Type="http://schemas.openxmlformats.org/officeDocument/2006/relationships/slide" Target="slides/slide1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8"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余白付加と切り出し</c:v>
                </c:pt>
                <c:pt idx="2">
                  <c:v>縮小</c:v>
                </c:pt>
                <c:pt idx="3">
                  <c:v>縮小と余白</c:v>
                </c:pt>
                <c:pt idx="4">
                  <c:v>回転</c:v>
                </c:pt>
                <c:pt idx="5">
                  <c:v>指示文の重ね書き</c:v>
                </c:pt>
                <c:pt idx="6">
                  <c:v>無作為な文字列の重ね書き</c:v>
                </c:pt>
                <c:pt idx="7">
                  <c:v>文字なしの重ね書き</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余白付加と切り出し</c:v>
                </c:pt>
                <c:pt idx="2">
                  <c:v>縮小</c:v>
                </c:pt>
                <c:pt idx="3">
                  <c:v>縮小と余白</c:v>
                </c:pt>
                <c:pt idx="4">
                  <c:v>回転</c:v>
                </c:pt>
                <c:pt idx="5">
                  <c:v>指示文の重ね書き</c:v>
                </c:pt>
                <c:pt idx="6">
                  <c:v>無作為な文字列の重ね書き</c:v>
                </c:pt>
                <c:pt idx="7">
                  <c:v>文字なしの重ね書き</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余白付加と切り出し</c:v>
                </c:pt>
                <c:pt idx="2">
                  <c:v>縮小</c:v>
                </c:pt>
                <c:pt idx="3">
                  <c:v>縮小と余白</c:v>
                </c:pt>
                <c:pt idx="4">
                  <c:v>回転</c:v>
                </c:pt>
                <c:pt idx="5">
                  <c:v>指示文の重ね書き</c:v>
                </c:pt>
                <c:pt idx="6">
                  <c:v>無作為な文字列の重ね書き</c:v>
                </c:pt>
                <c:pt idx="7">
                  <c:v>文字なしの重ね書き</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1400" lang="ja-JP"/>
                  <a:t>比（%）</a:t>
                </a:r>
              </a:p>
            </c:rich>
          </c:tx>
          <c:layout/>
          <c:overlay val="0"/>
        </c:title>
        <c:majorTickMark val="out"/>
        <c:minorTickMark val="none"/>
        <c:tickLblPos val="nextTo"/>
        <c:spPr>
          <a:ln>
            <a:noFill/>
          </a:ln>
        </c:spPr>
        <c:txPr>
          <a:bodyPr/>
          <a:lstStyle/>
          <a:p>
            <a:pPr>
              <a:defRPr sz="1400" lang="ja-JP">
                <a:solidFill>
                  <a:srgbClr val="595959"/>
                </a:solidFill>
              </a:defRPr>
            </a:pPr>
          </a:p>
        </c:txPr>
        <c:crossAx val="2068027336"/>
        <c:crosses val="autoZero"/>
        <c:majorUnit val="10.0"/>
      </c:valAx>
    </c:plotArea>
    <c:legend>
      <c:legendPos val="t"/>
      <c:overlay val="0"/>
      <c:txPr>
        <a:bodyPr/>
        <a:lstStyle/>
        <a:p>
          <a:pPr>
            <a:defRPr sz="1400" lang="ja-JP">
              <a:latin typeface="游明朝"/>
            </a:defRPr>
          </a:pPr>
        </a:p>
      </c:txPr>
    </c:legend>
    <c:dispBlanksAs val="gap"/>
  </c:chart>
  <c:txPr>
    <a:bodyPr/>
    <a:lstStyle/>
    <a:p>
      <a:pPr>
        <a:defRPr sz="1400" lang="ja-JP">
          <a:latin typeface="游明朝"/>
          <a:ea typeface="游明朝"/>
        </a:defRPr>
      </a:pPr>
      <a:endParaRPr lang="ja-JP"/>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lang="ja-JP"/>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lang="ja-JP"/>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lang="ja-JP"/>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lang="ja-JP"/>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lang="ja-JP">
        <a:solidFill>
          <a:schemeClr val="tx1"/>
        </a:solidFill>
        <a:latin typeface="+mn-lt"/>
        <a:ea typeface="+mn-ea"/>
        <a:cs typeface="+mn-cs"/>
      </a:defRPr>
    </a:lvl1pPr>
    <a:lvl2pPr marL="457200" algn="l" defTabSz="914400" rtl="0" eaLnBrk="1" latinLnBrk="0" hangingPunct="1">
      <a:defRPr kumimoji="1" sz="1200" kern="1200" lang="ja-JP">
        <a:solidFill>
          <a:schemeClr val="tx1"/>
        </a:solidFill>
        <a:latin typeface="+mn-lt"/>
        <a:ea typeface="+mn-ea"/>
        <a:cs typeface="+mn-cs"/>
      </a:defRPr>
    </a:lvl2pPr>
    <a:lvl3pPr marL="914400" algn="l" defTabSz="914400" rtl="0" eaLnBrk="1" latinLnBrk="0" hangingPunct="1">
      <a:defRPr kumimoji="1" sz="1200" kern="1200" lang="ja-JP">
        <a:solidFill>
          <a:schemeClr val="tx1"/>
        </a:solidFill>
        <a:latin typeface="+mn-lt"/>
        <a:ea typeface="+mn-ea"/>
        <a:cs typeface="+mn-cs"/>
      </a:defRPr>
    </a:lvl3pPr>
    <a:lvl4pPr marL="1371600" algn="l" defTabSz="914400" rtl="0" eaLnBrk="1" latinLnBrk="0" hangingPunct="1">
      <a:defRPr kumimoji="1" sz="1200" kern="1200" lang="ja-JP">
        <a:solidFill>
          <a:schemeClr val="tx1"/>
        </a:solidFill>
        <a:latin typeface="+mn-lt"/>
        <a:ea typeface="+mn-ea"/>
        <a:cs typeface="+mn-cs"/>
      </a:defRPr>
    </a:lvl4pPr>
    <a:lvl5pPr marL="1828800" algn="l" defTabSz="914400" rtl="0" eaLnBrk="1" latinLnBrk="0" hangingPunct="1">
      <a:defRPr kumimoji="1" sz="1200" kern="1200" lang="ja-JP">
        <a:solidFill>
          <a:schemeClr val="tx1"/>
        </a:solidFill>
        <a:latin typeface="+mn-lt"/>
        <a:ea typeface="+mn-ea"/>
        <a:cs typeface="+mn-cs"/>
      </a:defRPr>
    </a:lvl5pPr>
    <a:lvl6pPr marL="2286000" algn="l" defTabSz="914400" rtl="0" eaLnBrk="1" latinLnBrk="0" hangingPunct="1">
      <a:defRPr kumimoji="1" sz="1200" kern="1200" lang="ja-JP">
        <a:solidFill>
          <a:schemeClr val="tx1"/>
        </a:solidFill>
        <a:latin typeface="+mn-lt"/>
        <a:ea typeface="+mn-ea"/>
        <a:cs typeface="+mn-cs"/>
      </a:defRPr>
    </a:lvl6pPr>
    <a:lvl7pPr marL="2743200" algn="l" defTabSz="914400" rtl="0" eaLnBrk="1" latinLnBrk="0" hangingPunct="1">
      <a:defRPr kumimoji="1" sz="1200" kern="1200" lang="ja-JP">
        <a:solidFill>
          <a:schemeClr val="tx1"/>
        </a:solidFill>
        <a:latin typeface="+mn-lt"/>
        <a:ea typeface="+mn-ea"/>
        <a:cs typeface="+mn-cs"/>
      </a:defRPr>
    </a:lvl7pPr>
    <a:lvl8pPr marL="3200400" algn="l" defTabSz="914400" rtl="0" eaLnBrk="1" latinLnBrk="0" hangingPunct="1">
      <a:defRPr kumimoji="1" sz="1200" kern="1200" lang="ja-JP">
        <a:solidFill>
          <a:schemeClr val="tx1"/>
        </a:solidFill>
        <a:latin typeface="+mn-lt"/>
        <a:ea typeface="+mn-ea"/>
        <a:cs typeface="+mn-cs"/>
      </a:defRPr>
    </a:lvl8pPr>
    <a:lvl9pPr marL="3657600" algn="l" defTabSz="914400" rtl="0" eaLnBrk="1" latinLnBrk="0" hangingPunct="1">
      <a:defRPr kumimoji="1" sz="1200" kern="1200" lang="ja-JP">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前回（10月23日）の報告の続きです．前回の「今後の目標」で最優先とした，画像を加工したときに第16層の内部表現がどれだけ動くかを測ったので，その結果を報告します．あわせて，PCSJ/IMPS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からの1週間で済んだことは3つです．1つ目は，前回の「今後の目標」で最優先とした，画像を加工したときに内部表現がどれだけ動くかの測定です．学習済みの9回分の重みを使い，追加の学習なしで測りました．2つ目は，その結果を，比の物差しを変えて読み直したことです．3つ目は，11月の学会のポスターの初案です．背景と手法は前回説明したので，必要なところだけ振り返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前回までの結果を振り返ります．タスク署名が同じ質問どうしの第16層の内部表現を整合損失で近づけると，署名の読み取り精度は 82.9% から 95.9% に上がり，正解率は 53.5% 前後でほとんど動かず，回答が第16層に頼る度合いを表す相対感度は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proposal（署名で内部表現を整合した群）では，この加工による内部表現の動きが小さくなるか，です．Wani らにならった加工と指標で，baseline，proposal，ablation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加工は，Wani らが付録で定めた8つの族を使いました．値も原典のとおりですが，縮小と余白の倍率は原典に無いので，縮小と同じ0.9倍にしました．平行移動と余白付加・切り出しはそれぞれ±4–16画素の8通り，縮小と縮小・余白は0.9倍の1通りずつ，回転は±30°の2通り，文字の重ね書きは，左上の同じ白い箱に，指示文を書くもの，同じ長さの無作為な文字列を書くもの，何も書かないもの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 ID 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加工の例です．評価データの問「Who is wearing the dress?」（答えは women）の画像に，測定でこの問が受けた加工を，同じコードで施しました．指示文の文言と無作為な文字列は質問 ID から決まるので，測定のときと同じものです．右下の「別の画像」は，次のスライドで説明する対照で，これも測定と同じ抽選で選ばれた画像です．どの画像も縦横比を保ったまま白地に収めて表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測る量は，同じ質問について，元の画像で得た内部表現 h と，加工した画像で得た h′ がどれだけ離れているかです．h は，整合を掛けた第16層の，質問を読み終えた位置のベクトルです．距離は1から h と h′ のコサイン類似度を引いたものです．判定に使うのは第16層だけです．Wani らが測った最終層にあたる第32層でも，同じ順伝播から同じ距離を取り，回答の変化と並べて後で示します．距離そのものは群の間で比べられません．proposal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 h″ と，h との距離です．比は群ごとに，その群自身の対照で割って出します．Wani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結果の読み方は，測る前の10月23日に決めて，研究文書に書いておきました．proposal の比が baseline より小さく，並べ替えたラベルの ablation では小さくならなければ，整合は内部表現の安定性を高めると読みます．proposal と baseline に差が無ければ，整合が変えるのは表現の形式だけです．proposal の比が baseline より大きければ，分離を強めた副作用で脆くなったことになります．群の比較は前回と同じく，乱数種を対にした差の95%信頼区間で行います．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判定に使う比は，baseline が 15.65%，proposal が 9.99%，ablation が 19.93% でした．proposal と ablation の差は −9.95 ポイントで，区間 [−13.82, −6.07] は0を含みません．ablation は baseline より大きく（+4.29 ポイント，区間 [+0.80, +7.77]），これも0を含みません．一方，proposal と baseline の差は −5.66 ポイントで，乱数種ごとには −4.30，−9.06，−3.62 とすべて負ですが，区間 [−13.01, +1.69] は0を含みます．したがって，baseline との差の向きは決められません．判定の表の1行目は「proposal の比が baseline より小さく，ablation では小さくならない」ことを求めます．後半は満たしますが，前半が決まりません．区間が0を含むことは差が無いことを意味しないので，2行目にも当たりません．脆くなったとしても，その幅は区間の上端の +1.69 ポイント以内です．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族ごとに分けた比です．灰色が baseline，赤が proposal，水色が ablation です．文字の重ね書きの2族では proposal の比が大きく下がって見えますが，乱数種の間の揺れが大きく，区間は0を含みます．proposal と baseline の差の区間が0を外れるのは，余白付加と切り出し，回転の2族だけです．ただし8つの族それぞれに区間を作ると，本当は差が無くても，どれかが偶然0を外れることがあります．乱数種が3つなので，区間そのものも粗いです．そこで族ごとの結果は確定として扱わず，判定は測る前に決めた23通りすべての比だけ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では加工による距離が約3倍に，対照が約5倍になったので，比が下がりました．距離そのものの proposal − baseline は +1.95×10⁻³（区間 [+0.86, +3.04]）で，区間は0を含みません．比で見れば proposal のほうが動かず，距離そのもので見れば proposal のほうがよく動きます．距離そのものは群の間で比べられないので，これを脆くなった証拠とは読みません．同じ理由で，比が小さいことも，加工で動きにくくなったことまでは意味しません．そこで，物差しを変えても向きが残るかを確かめました．これらは測った後に足した読みで，判定量を置き換えません．どの物差しでも proposal，baseline，ablation の順に並び，proposal と baseline の差は3つの乱数種すべてで負ですが，区間はどれも0を含みます．差の大きさは物差しで約2倍変わり，中央値どうしの比などでは判定量の半分ほどになります．なお，Wani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回答が変わった割合は，問と加工の組のうち，加工の前後でそれぞれ生成した回答が一致しなかったものの割合です．第32層の比と回答の変化では，幾何的な5つの族について3群の差は見られませんでした．第32層の比の proposal と baseline の差は 1.1 ポイント以内で，回答が変わった割合と正解率も，どの差も区間が0を含みます．文字のある重ね書きの2つでは，proposal と ablation 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まとめます．proposal（署名で整合した群）の第16層の比は，ラベルを並べ替えた群より小さくなりました．しかし整合前の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第32層の比と回答の変化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から比の物差しをどう変えても区間は0を含むので，乱数種を足して学習し直すほかありません．また，距離そのものでは proposal のほうがよく動くので，比が下がったことだけでは，安定性を高めたとは書けません．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判定には，比に加えて距離そのものの向きも並べます．比が下がっても距離そのものが逆を向くなら，安定性は物差しに依ると書きま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次に，学習にほとんど現れない署名で正解率が下がる傾向が出力の側に見えているので，同じ層別を読み取り精度でも行います．保存済みの表現で足ります．回答の型で整合する群と，整合の強さと層を変える学習は，その後に行いま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ポスターの初案です．会場のボードは横180cm，縦90cmなので，縦向きの A0（高さ118.9cm）は収まりません．横向きの A0 にし，3段組で，予稿と同じ章立てに，上部の要点の帯と，予稿以降に測った5章を加えました．5章は予稿に無い結果ですが，先生のご指示どおり載せました．向きが決まっていないことをこの強さで書いて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lang="ja-JP"/>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lang="ja-JP"/>
            </a:lvl1pPr>
            <a:lvl2pPr marL="457200" indent="0" algn="ctr">
              <a:buNone/>
              <a:defRPr sz="2000" lang="ja-JP"/>
            </a:lvl2pPr>
            <a:lvl3pPr marL="914400" indent="0" algn="ctr">
              <a:buNone/>
              <a:defRPr sz="1800" lang="ja-JP"/>
            </a:lvl3pPr>
            <a:lvl4pPr marL="1371600" indent="0" algn="ctr">
              <a:buNone/>
              <a:defRPr sz="1600" lang="ja-JP"/>
            </a:lvl4pPr>
            <a:lvl5pPr marL="1828800" indent="0" algn="ctr">
              <a:buNone/>
              <a:defRPr sz="1600" lang="ja-JP"/>
            </a:lvl5pPr>
            <a:lvl6pPr marL="2286000" indent="0" algn="ctr">
              <a:buNone/>
              <a:defRPr sz="1600" lang="ja-JP"/>
            </a:lvl6pPr>
            <a:lvl7pPr marL="2743200" indent="0" algn="ctr">
              <a:buNone/>
              <a:defRPr sz="1600" lang="ja-JP"/>
            </a:lvl7pPr>
            <a:lvl8pPr marL="3200400" indent="0" algn="ctr">
              <a:buNone/>
              <a:defRPr sz="1600" lang="ja-JP"/>
            </a:lvl8pPr>
            <a:lvl9pPr marL="3657600" indent="0" algn="ctr">
              <a:buNone/>
              <a:defRPr sz="1600" lang="ja-JP"/>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lang="ja-JP"/>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lang="ja-JP">
                <a:solidFill>
                  <a:schemeClr val="tx1">
                    <a:tint val="82000"/>
                  </a:schemeClr>
                </a:solidFill>
              </a:defRPr>
            </a:lvl1pPr>
            <a:lvl2pPr marL="457200" indent="0">
              <a:buNone/>
              <a:defRPr sz="2000" lang="ja-JP">
                <a:solidFill>
                  <a:schemeClr val="tx1">
                    <a:tint val="82000"/>
                  </a:schemeClr>
                </a:solidFill>
              </a:defRPr>
            </a:lvl2pPr>
            <a:lvl3pPr marL="914400" indent="0">
              <a:buNone/>
              <a:defRPr sz="1800" lang="ja-JP">
                <a:solidFill>
                  <a:schemeClr val="tx1">
                    <a:tint val="82000"/>
                  </a:schemeClr>
                </a:solidFill>
              </a:defRPr>
            </a:lvl3pPr>
            <a:lvl4pPr marL="1371600" indent="0">
              <a:buNone/>
              <a:defRPr sz="1600" lang="ja-JP">
                <a:solidFill>
                  <a:schemeClr val="tx1">
                    <a:tint val="82000"/>
                  </a:schemeClr>
                </a:solidFill>
              </a:defRPr>
            </a:lvl4pPr>
            <a:lvl5pPr marL="1828800" indent="0">
              <a:buNone/>
              <a:defRPr sz="1600" lang="ja-JP">
                <a:solidFill>
                  <a:schemeClr val="tx1">
                    <a:tint val="82000"/>
                  </a:schemeClr>
                </a:solidFill>
              </a:defRPr>
            </a:lvl5pPr>
            <a:lvl6pPr marL="2286000" indent="0">
              <a:buNone/>
              <a:defRPr sz="1600" lang="ja-JP">
                <a:solidFill>
                  <a:schemeClr val="tx1">
                    <a:tint val="82000"/>
                  </a:schemeClr>
                </a:solidFill>
              </a:defRPr>
            </a:lvl6pPr>
            <a:lvl7pPr marL="2743200" indent="0">
              <a:buNone/>
              <a:defRPr sz="1600" lang="ja-JP">
                <a:solidFill>
                  <a:schemeClr val="tx1">
                    <a:tint val="82000"/>
                  </a:schemeClr>
                </a:solidFill>
              </a:defRPr>
            </a:lvl7pPr>
            <a:lvl8pPr marL="3200400" indent="0">
              <a:buNone/>
              <a:defRPr sz="1600" lang="ja-JP">
                <a:solidFill>
                  <a:schemeClr val="tx1">
                    <a:tint val="82000"/>
                  </a:schemeClr>
                </a:solidFill>
              </a:defRPr>
            </a:lvl8pPr>
            <a:lvl9pPr marL="3657600" indent="0">
              <a:buNone/>
              <a:defRPr sz="1600" lang="ja-JP">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lang="ja-JP">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lang="ja-JP">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lang="ja-JP">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lang="ja-JP">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lang="ja-JP">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lang="ja-JP">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lang="ja-JP">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9pPr>
    </p:bodyStyle>
    <p:other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今回の進捗</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画像を加工したとき，第16層の内部表現がどれだけ動くかを測った</a:t>
            </a:r>
          </a:p>
          <a:p>
            <a:pPr lvl="1" marL="685800" indent="-228600">
              <a:buFont typeface="Arial"/>
              <a:buChar char="•"/>
            </a:pPr>
            <a:r>
              <a:rPr lang="ja-JP" sz="2400">
                <a:latin typeface="游明朝"/>
                <a:ea typeface="游明朝"/>
              </a:rPr>
              <a:t>前回の「今後の目標」で最優先としたもの</a:t>
            </a:r>
          </a:p>
          <a:p>
            <a:pPr marL="228600" indent="-228600">
              <a:buFont typeface="Arial"/>
              <a:buChar char="•"/>
            </a:pPr>
            <a:r>
              <a:rPr lang="ja-JP" sz="2800">
                <a:latin typeface="游明朝"/>
                <a:ea typeface="游明朝"/>
              </a:rPr>
              <a:t>物差しを変えて，結果の読み方を確かめた</a:t>
            </a:r>
          </a:p>
          <a:p>
            <a:pPr marL="228600" indent="-228600">
              <a:buFont typeface="Arial"/>
              <a:buChar char="•"/>
            </a:pPr>
            <a:r>
              <a:rPr lang="ja-JP" sz="2800">
                <a:latin typeface="游明朝"/>
                <a:ea typeface="游明朝"/>
              </a:rPr>
              <a:t>PCSJ/IMPS 2026 のポスターの初案を作った</a:t>
            </a:r>
          </a:p>
          <a:p>
            <a:pPr marL="0" indent="0">
              <a:buNone/>
            </a:pPr>
            <a:r>
              <a:rPr lang="ja-JP" sz="2800">
                <a:latin typeface="游明朝"/>
                <a:ea typeface="游明朝"/>
              </a:rPr>
              <a:t/>
            </a:r>
          </a:p>
          <a:p>
            <a:pPr marL="0" indent="0">
              <a:buNone/>
            </a:pPr>
            <a:r>
              <a:rPr lang="ja-JP" sz="2800">
                <a:latin typeface="游明朝"/>
                <a:ea typeface="游明朝"/>
              </a:rPr>
              <a:t>背景と手法は，前回の内容を簡単に振り返る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proposal の内部表現は，加工で動きにくくなるか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proposal（署名で整合した群）では，</a:t>
            </a:r>
          </a:p>
          <a:p>
            <a:pPr marL="0" indent="0">
              <a:buNone/>
            </a:pPr>
            <a:r>
              <a:rPr lang="ja-JP" sz="2800">
                <a:solidFill>
                  <a:srgbClr val="FF0000"/>
                </a:solidFill>
                <a:latin typeface="游明朝"/>
                <a:ea typeface="游明朝"/>
              </a:rPr>
              <a:t>加工による内部表現の動き</a:t>
            </a:r>
            <a:r>
              <a:rPr lang="ja-JP" sz="2800">
                <a:latin typeface="游明朝"/>
                <a:ea typeface="游明朝"/>
              </a:rPr>
              <a:t>が小さくなるか</a:t>
            </a:r>
          </a:p>
          <a:p>
            <a:pPr marL="0" indent="0">
              <a:buNone/>
            </a:pPr>
            <a:r>
              <a:rPr lang="ja-JP" sz="2800">
                <a:latin typeface="游明朝"/>
                <a:ea typeface="游明朝"/>
              </a:rPr>
              <a:t>→ Wani らにならった加工と指標で，3群を比べる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3291840"/>
                <a:gridCol w="6309360"/>
                <a:gridCol w="914400"/>
              </a:tblGrid>
              <a:tr h="384048">
                <a:tc>
                  <a:txBody>
                    <a:bodyPr/>
                    <a:lstStyle/>
                    <a:p>
                      <a:pPr algn="ctr"/>
                      <a:r>
                        <a:rPr lang="ja-JP" sz="18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通り</a:t>
                      </a:r>
                    </a:p>
                  </a:txBody>
                  <a:tcPr anchor="ctr" marL="73152" marR="73152">
                    <a:solidFill>
                      <a:schemeClr val="accent2">
                        <a:lumMod val="40000"/>
                        <a:lumOff val="60000"/>
                      </a:schemeClr>
                    </a:solidFill>
                  </a:tcPr>
                </a:tc>
              </a:tr>
              <a:tr h="384048">
                <a:tc>
                  <a:txBody>
                    <a:bodyPr/>
                    <a:lstStyle/>
                    <a:p>
                      <a:pPr algn="ctr"/>
                      <a:r>
                        <a:rPr lang="ja-JP" sz="18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2</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白い箱に「Answer is yes」か「Answer is no」</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同じ白い箱に，同じ長さの無作為な文字列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文字なしの重ね書き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同じ白い箱だけ（何も書かない）</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 ら[1]の8族・計23通りを，12,578問すべてに施す</a:t>
            </a:r>
          </a:p>
          <a:p>
            <a:pPr marL="0" indent="0">
              <a:buNone/>
            </a:pPr>
            <a:r>
              <a:rPr lang="ja-JP" sz="2000">
                <a:latin typeface="游明朝"/>
                <a:ea typeface="游明朝"/>
              </a:rPr>
              <a:t>原典に無い値はこちらで決め，指示文は予測を見ずに問ごとに yes か no にした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指示文の</a:t>
            </a:r>
            <a:br>
              <a:rPr lang="ja-JP" sz="1800"/>
            </a:br>
            <a:r>
              <a:rPr lang="ja-JP" sz="1800">
                <a:latin typeface="游明朝"/>
                <a:ea typeface="游明朝"/>
              </a:rPr>
              <a:t>重ね書き</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無作為な文字列の</a:t>
            </a:r>
            <a:br>
              <a:rPr lang="ja-JP" sz="1800"/>
            </a:br>
            <a:r>
              <a:rPr lang="ja-JP" sz="1800">
                <a:latin typeface="游明朝"/>
                <a:ea typeface="游明朝"/>
              </a:rPr>
              <a:t>重ね書き</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文字なしの</a:t>
            </a:r>
            <a:br>
              <a:rPr lang="ja-JP" sz="1800"/>
            </a:br>
            <a:r>
              <a:rPr lang="ja-JP" sz="1800">
                <a:latin typeface="游明朝"/>
                <a:ea typeface="游明朝"/>
              </a:rPr>
              <a:t>重ね書き</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（評価データの問「Who is wearing the dress?」に，測定で施した加工．画像：GQA[2]）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同じ質問で，元の画像の </a:t>
            </a:r>
            <a:r>
              <a:rPr lang="ja-JP" sz="2800">
                <a:latin typeface="Cambria Math"/>
                <a:ea typeface="Cambria Math"/>
              </a:rPr>
              <a:t>ℎ</a:t>
            </a:r>
            <a:r>
              <a:rPr lang="ja-JP" sz="2800">
                <a:latin typeface="游明朝"/>
                <a:ea typeface="游明朝"/>
              </a:rPr>
              <a:t> と加工した画像の ℎ′ の距離を測る</a:t>
            </a:r>
          </a:p>
          <a:p>
            <a:pPr lvl="1" marL="685800" indent="-228600">
              <a:buFont typeface="Arial"/>
              <a:buChar char="•"/>
            </a:pPr>
            <a:r>
              <a:rPr lang="ja-JP" sz="2400">
                <a:latin typeface="游明朝"/>
                <a:ea typeface="游明朝"/>
              </a:rPr>
              <a:t>ℎ：第16層の，質問を読み終えた位置．距離 = 1 − cos(ℎ, ℎ′)</a:t>
            </a:r>
          </a:p>
          <a:p>
            <a:pPr lvl="1" marL="685800" indent="-228600">
              <a:buFont typeface="Arial"/>
              <a:buChar char="•"/>
            </a:pPr>
            <a:r>
              <a:rPr lang="ja-JP" sz="2400">
                <a:latin typeface="游明朝"/>
                <a:ea typeface="游明朝"/>
              </a:rPr>
              <a:t>第32層（最終層）でも同じ距離を取る．判定には使わない</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ℎ″：同じ質問・別の画像（対照）</a:t>
            </a:r>
          </a:p>
          <a:p>
            <a:pPr marL="0" indent="0">
              <a:buNone/>
            </a:pPr>
            <a:r>
              <a:rPr lang="ja-JP" sz="2000">
                <a:solidFill>
                  <a:srgbClr val="FF0000"/>
                </a:solidFill>
                <a:latin typeface="游明朝"/>
                <a:ea typeface="游明朝"/>
              </a:rPr>
              <a:t>判定に使うのは，第16層の</a:t>
            </a:r>
            <a:br>
              <a:rPr lang="ja-JP" sz="2000">
                <a:solidFill>
                  <a:srgbClr val="FF0000"/>
                </a:solidFill>
                <a:latin typeface="游明朝"/>
                <a:ea typeface="游明朝"/>
              </a:rPr>
            </a:br>
            <a:r>
              <a:rPr lang="ja-JP" sz="2000">
                <a:solidFill>
                  <a:srgbClr val="FF0000"/>
                </a:solidFill>
                <a:latin typeface="游明朝"/>
                <a:ea typeface="游明朝"/>
              </a:rPr>
              <a:t>23通りすべての比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判定の表（測る前に決めた）</a:t>
            </a:r>
          </a:p>
        </p:txBody>
      </p:sp>
      <p:graphicFrame>
        <p:nvGraphicFramePr>
          <p:cNvPr id="3" name="Table 2"/>
          <p:cNvGraphicFramePr>
            <a:graphicFrameLocks noGrp="1"/>
          </p:cNvGraphicFramePr>
          <p:nvPr/>
        </p:nvGraphicFramePr>
        <p:xfrm>
          <a:off x="841248" y="1737360"/>
          <a:ext cx="10515600" cy="2560320"/>
        </p:xfrm>
        <a:graphic>
          <a:graphicData uri="http://schemas.openxmlformats.org/drawingml/2006/table">
            <a:tbl>
              <a:tblPr firstRow="1" bandRow="0">
                <a:tableStyleId>{5C22544A-7EE6-4342-B048-85BDC9FD1C3A}</a:tableStyleId>
              </a:tblPr>
              <a:tblGrid>
                <a:gridCol w="5852160"/>
                <a:gridCol w="4663440"/>
              </a:tblGrid>
              <a:tr h="640080">
                <a:tc>
                  <a:txBody>
                    <a:bodyPr/>
                    <a:lstStyle/>
                    <a:p>
                      <a:pPr algn="ctr"/>
                      <a:r>
                        <a:rPr lang="ja-JP" sz="2200" b="0">
                          <a:solidFill>
                            <a:srgbClr val="000000"/>
                          </a:solidFill>
                          <a:latin typeface="游明朝"/>
                          <a:ea typeface="游明朝"/>
                        </a:rPr>
                        <a:t>結果</a:t>
                      </a:r>
                    </a:p>
                  </a:txBody>
                  <a:tcPr anchor="ctr" marL="73152" marR="73152">
                    <a:solidFill>
                      <a:schemeClr val="accent6">
                        <a:lumMod val="40000"/>
                        <a:lumOff val="60000"/>
                      </a:schemeClr>
                    </a:solidFill>
                  </a:tcPr>
                </a:tc>
                <a:tc>
                  <a:txBody>
                    <a:bodyPr/>
                    <a:lstStyle/>
                    <a:p>
                      <a:pPr algn="ctr"/>
                      <a:r>
                        <a:rPr lang="ja-JP" sz="2200" b="0">
                          <a:solidFill>
                            <a:srgbClr val="000000"/>
                          </a:solidFill>
                          <a:latin typeface="游明朝"/>
                          <a:ea typeface="游明朝"/>
                        </a:rPr>
                        <a:t>意味</a:t>
                      </a:r>
                    </a:p>
                  </a:txBody>
                  <a:tcPr anchor="ctr" marL="73152" marR="73152">
                    <a:solidFill>
                      <a:schemeClr val="accent6">
                        <a:lumMod val="40000"/>
                        <a:lumOff val="60000"/>
                      </a:schemeClr>
                    </a:solidFill>
                  </a:tcPr>
                </a:tc>
              </a:tr>
              <a:tr h="640080">
                <a:tc>
                  <a:txBody>
                    <a:bodyPr/>
                    <a:lstStyle/>
                    <a:p>
                      <a:pPr algn="ctr"/>
                      <a:r>
                        <a:rPr lang="ja-JP" sz="2200" b="0">
                          <a:solidFill>
                            <a:srgbClr val="000000"/>
                          </a:solidFill>
                          <a:latin typeface="游明朝"/>
                          <a:ea typeface="游明朝"/>
                        </a:rPr>
                        <a:t>proposal の比が baseline より小さい</a:t>
                      </a:r>
                      <a:br>
                        <a:rPr lang="ja-JP" sz="2200" b="0">
                          <a:solidFill>
                            <a:srgbClr val="000000"/>
                          </a:solidFill>
                          <a:latin typeface="游明朝"/>
                          <a:ea typeface="游明朝"/>
                        </a:rPr>
                      </a:br>
                      <a:r>
                        <a:rPr lang="ja-JP" sz="2200" b="0">
                          <a:solidFill>
                            <a:srgbClr val="000000"/>
                          </a:solidFill>
                          <a:latin typeface="游明朝"/>
                          <a:ea typeface="游明朝"/>
                        </a:rPr>
                        <a:t>（ablation では小さくならない）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整合は，比で見た内部表現の安定性を高める</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proposal と baseline に差が無い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整合が変えるのは，表現の形式だけ</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proposal の比が baseline より大きい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分離を強めた副作用で，脆くなる</a:t>
                      </a:r>
                    </a:p>
                  </a:txBody>
                  <a:tcPr anchor="ctr" marL="73152" marR="73152">
                    <a:solidFill>
                      <a:schemeClr val="accent6">
                        <a:lumMod val="20000"/>
                        <a:lumOff val="80000"/>
                      </a:schemeClr>
                    </a:solidFill>
                  </a:tcPr>
                </a:tc>
              </a:tr>
            </a:tbl>
          </a:graphicData>
        </a:graphic>
      </p:graphicFrame>
      <p:sp>
        <p:nvSpPr>
          <p:cNvPr id="4" name="TextBox 3"/>
          <p:cNvSpPr txBox="1"/>
          <p:nvPr/>
        </p:nvSpPr>
        <p:spPr>
          <a:xfrm>
            <a:off x="841248" y="4709160"/>
            <a:ext cx="10515600" cy="1828800"/>
          </a:xfrm>
          <a:prstGeom prst="rect">
            <a:avLst/>
          </a:prstGeom>
          <a:noFill/>
        </p:spPr>
        <p:txBody>
          <a:bodyPr wrap="square" anchor="t">
            <a:spAutoFit/>
          </a:bodyPr>
          <a:lstStyle/>
          <a:p>
            <a:pPr marL="228600" indent="-228600">
              <a:buFont typeface="Arial"/>
              <a:buChar char="•"/>
            </a:pPr>
            <a:r>
              <a:rPr lang="ja-JP" sz="2400">
                <a:latin typeface="游明朝"/>
                <a:ea typeface="游明朝"/>
              </a:rPr>
              <a:t>群の比較は，乱数種を対にした差の95%信頼区間</a:t>
            </a:r>
          </a:p>
          <a:p>
            <a:pPr marL="228600" indent="-228600">
              <a:buFont typeface="Arial"/>
              <a:buChar char="•"/>
            </a:pPr>
            <a:r>
              <a:rPr lang="ja-JP" sz="2400">
                <a:latin typeface="游明朝"/>
                <a:ea typeface="游明朝"/>
              </a:rPr>
              <a:t>区間が0を含むなら，「差が無い」ではなく「向きを決められない」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結果（第16層，23通りすべて）</a:t>
            </a:r>
          </a:p>
        </p:txBody>
      </p:sp>
      <p:graphicFrame>
        <p:nvGraphicFramePr>
          <p:cNvPr id="3" name="Table 2"/>
          <p:cNvGraphicFramePr>
            <a:graphicFrameLocks noGrp="1"/>
          </p:cNvGraphicFramePr>
          <p:nvPr/>
        </p:nvGraphicFramePr>
        <p:xfrm>
          <a:off x="1527048" y="1645920"/>
          <a:ext cx="9144000" cy="1097280"/>
        </p:xfrm>
        <a:graphic>
          <a:graphicData uri="http://schemas.openxmlformats.org/drawingml/2006/table">
            <a:tbl>
              <a:tblPr firstRow="1" bandRow="0">
                <a:tableStyleId>{5C22544A-7EE6-4342-B048-85BDC9FD1C3A}</a:tableStyleId>
              </a:tblPr>
              <a:tblGrid>
                <a:gridCol w="2286000"/>
                <a:gridCol w="2286000"/>
                <a:gridCol w="2286000"/>
                <a:gridCol w="2286000"/>
              </a:tblGrid>
              <a:tr h="548640">
                <a:tc>
                  <a:txBody>
                    <a:bodyPr/>
                    <a:lstStyle/>
                    <a:p>
                      <a:pPr algn="ctr"/>
                      <a:r>
                        <a:rPr lang="ja-JP" sz="2400" b="0">
                          <a:solidFill>
                            <a:srgbClr val="000000"/>
                          </a:solidFill>
                          <a:latin typeface="游明朝"/>
                          <a:ea typeface="游明朝"/>
                        </a:rPr>
                        <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ablation</a:t>
                      </a:r>
                    </a:p>
                  </a:txBody>
                  <a:tcPr anchor="ctr" marL="73152" marR="73152">
                    <a:solidFill>
                      <a:schemeClr val="accent1">
                        <a:lumMod val="40000"/>
                        <a:lumOff val="60000"/>
                      </a:schemeClr>
                    </a:solidFill>
                  </a:tcPr>
                </a:tc>
              </a:tr>
              <a:tr h="548640">
                <a:tc>
                  <a:txBody>
                    <a:bodyPr/>
                    <a:lstStyle/>
                    <a:p>
                      <a:pPr algn="ctr"/>
                      <a:r>
                        <a:rPr lang="ja-JP" sz="2400" b="0">
                          <a:solidFill>
                            <a:srgbClr val="000000"/>
                          </a:solidFill>
                          <a:latin typeface="游明朝"/>
                          <a:ea typeface="游明朝"/>
                        </a:rPr>
                        <a:t>比（%）</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15.65</a:t>
                      </a:r>
                    </a:p>
                  </a:txBody>
                  <a:tcPr anchor="ctr" marL="73152" marR="73152">
                    <a:solidFill>
                      <a:schemeClr val="accent1">
                        <a:lumMod val="20000"/>
                        <a:lumOff val="80000"/>
                      </a:schemeClr>
                    </a:solidFill>
                  </a:tcPr>
                </a:tc>
                <a:tc>
                  <a:txBody>
                    <a:bodyPr/>
                    <a:lstStyle/>
                    <a:p>
                      <a:pPr algn="ctr"/>
                      <a:r>
                        <a:rPr lang="ja-JP" sz="2400" b="0">
                          <a:solidFill>
                            <a:srgbClr val="FF0000"/>
                          </a:solidFill>
                          <a:latin typeface="游明朝"/>
                          <a:ea typeface="游明朝"/>
                        </a:rPr>
                        <a:t>9.99</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19.93</a:t>
                      </a:r>
                    </a:p>
                  </a:txBody>
                  <a:tcPr anchor="ctr" marL="73152" marR="73152">
                    <a:solidFill>
                      <a:schemeClr val="accent1">
                        <a:lumMod val="20000"/>
                        <a:lumOff val="80000"/>
                      </a:schemeClr>
                    </a:solidFill>
                  </a:tcPr>
                </a:tc>
              </a:tr>
            </a:tbl>
          </a:graphicData>
        </a:graphic>
      </p:graphicFrame>
      <p:sp>
        <p:nvSpPr>
          <p:cNvPr id="4" name="TextBox 3"/>
          <p:cNvSpPr txBox="1"/>
          <p:nvPr/>
        </p:nvSpPr>
        <p:spPr>
          <a:xfrm>
            <a:off x="841248" y="2926080"/>
            <a:ext cx="10515600" cy="356616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 ablation：</a:t>
            </a:r>
            <a:r>
              <a:rPr lang="ja-JP" sz="2800">
                <a:latin typeface="游明朝"/>
                <a:ea typeface="游明朝"/>
              </a:rPr>
              <a:t>−9.95pt [−13.82, −6.07]</a:t>
            </a:r>
          </a:p>
          <a:p>
            <a:pPr lvl="1" marL="685800" indent="-228600">
              <a:buFont typeface="Arial"/>
              <a:buChar char="•"/>
            </a:pPr>
            <a:r>
              <a:rPr lang="ja-JP" sz="2400">
                <a:latin typeface="游明朝"/>
                <a:ea typeface="游明朝"/>
              </a:rPr>
              <a:t>区間が0を含まない → proposal は ablation より小さい</a:t>
            </a:r>
          </a:p>
          <a:p>
            <a:pPr marL="228600" indent="-228600">
              <a:buFont typeface="Arial"/>
              <a:buChar char="•"/>
            </a:pPr>
            <a:r>
              <a:rPr lang="ja-JP" sz="2800">
                <a:latin typeface="游明朝"/>
                <a:ea typeface="游明朝"/>
              </a:rPr>
              <a:t>proposal − baseline：−5.66pt [−13.01, +1.69]</a:t>
            </a:r>
          </a:p>
          <a:p>
            <a:pPr lvl="1" marL="685800" indent="-228600">
              <a:buFont typeface="Arial"/>
              <a:buChar char="•"/>
            </a:pPr>
            <a:r>
              <a:rPr lang="ja-JP" sz="2400">
                <a:latin typeface="游明朝"/>
                <a:ea typeface="游明朝"/>
              </a:rPr>
              <a:t>乱数種ごとに −4.30／−9.06／−3.62（すべて負）</a:t>
            </a:r>
          </a:p>
          <a:p>
            <a:pPr lvl="1" marL="685800" indent="-228600">
              <a:buFont typeface="Arial"/>
              <a:buChar char="•"/>
            </a:pPr>
            <a:r>
              <a:rPr lang="ja-JP" sz="2400">
                <a:latin typeface="游明朝"/>
                <a:ea typeface="游明朝"/>
              </a:rPr>
              <a:t>区間が0を含む → baseline との差の向きは決められない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判定の表の，どの行にも当たらない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族ごとの比（第16層）</a:t>
            </a:r>
          </a:p>
        </p:txBody>
      </p:sp>
      <p:graphicFrame>
        <p:nvGraphicFramePr>
          <p:cNvPr id="3" name="Chart 2"/>
          <p:cNvGraphicFramePr>
            <a:graphicFrameLocks noGrp="1"/>
          </p:cNvGraphicFramePr>
          <p:nvPr/>
        </p:nvGraphicFramePr>
        <p:xfrm>
          <a:off x="841248" y="1508760"/>
          <a:ext cx="10515600" cy="3886200"/>
        </p:xfrm>
        <a:graphic>
          <a:graphicData uri="http://schemas.openxmlformats.org/drawingml/2006/chart">
            <c:chart xmlns:c="http://schemas.openxmlformats.org/drawingml/2006/chart" r:id="rId2"/>
          </a:graphicData>
        </a:graphic>
      </p:graphicFrame>
      <p:sp>
        <p:nvSpPr>
          <p:cNvPr id="4" name="TextBox 3"/>
          <p:cNvSpPr txBox="1"/>
          <p:nvPr/>
        </p:nvSpPr>
        <p:spPr>
          <a:xfrm>
            <a:off x="841248" y="5486400"/>
            <a:ext cx="10515600" cy="109728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 baseline：余白付加と切り出し・回転だけ区間が0を外れる</a:t>
            </a:r>
          </a:p>
          <a:p>
            <a:pPr marL="228600" indent="-228600">
              <a:buFont typeface="Arial"/>
              <a:buChar char="•"/>
            </a:pPr>
            <a:r>
              <a:rPr lang="ja-JP" sz="2400">
                <a:latin typeface="游明朝"/>
                <a:ea typeface="游明朝"/>
              </a:rPr>
              <a:t>族ごとの区間は8つあり，偶然0を外れうる → 判定は事前に決めた23通りで行う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物差しを変えた比（第16層）</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 baseline より，加工による距離が約3倍，対照が約5倍</a:t>
            </a:r>
          </a:p>
          <a:p>
            <a:pPr marL="0" indent="0">
              <a:buNone/>
            </a:pPr>
            <a:r>
              <a:rPr lang="ja-JP" sz="2400">
                <a:latin typeface="游明朝"/>
                <a:ea typeface="游明朝"/>
              </a:rPr>
              <a:t>→ 比の物差しを変えて，向きが残るかを確かめた</a:t>
            </a:r>
          </a:p>
        </p:txBody>
      </p:sp>
      <p:graphicFrame>
        <p:nvGraphicFramePr>
          <p:cNvPr id="4" name="Table 3"/>
          <p:cNvGraphicFramePr>
            <a:graphicFrameLocks noGrp="1"/>
          </p:cNvGraphicFramePr>
          <p:nvPr/>
        </p:nvGraphicFramePr>
        <p:xfrm>
          <a:off x="841248" y="2697480"/>
          <a:ext cx="10515600" cy="2816352"/>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物差し（第16層，23通り）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proposal − baseline</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判定に使う比（平均どうし）</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中央値どうしの比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問ごとの比の幾何平均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上位1%を除いた比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別の問・別の画像の対照に対する比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−0.82pt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[−1.81, +0.17]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同署名の別の問どうしの距離に対する比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−0.62pt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[−2.24, +0.99]</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比ではどれも proposal &lt; baseline &lt; ablation，加工による距離では逆順</a:t>
            </a:r>
          </a:p>
          <a:p>
            <a:pPr marL="0" indent="0">
              <a:buNone/>
            </a:pPr>
            <a:r>
              <a:rPr lang="ja-JP" sz="2200">
                <a:solidFill>
                  <a:srgbClr val="FF0000"/>
                </a:solidFill>
                <a:latin typeface="游明朝"/>
                <a:ea typeface="游明朝"/>
              </a:rPr>
              <a:t>proposal − baseline の区間はどれも0を含み，大きさは物差しに依る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第32層の比と，回答の変化</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第32層の比も，回答が変わった割合も，区間はすべて0を含む</a:t>
            </a:r>
          </a:p>
          <a:p>
            <a:pPr marL="228600" indent="-228600">
              <a:buFont typeface="Arial"/>
              <a:buChar char="•"/>
            </a:pPr>
            <a:r>
              <a:rPr lang="ja-JP" sz="2800">
                <a:latin typeface="游明朝"/>
                <a:ea typeface="游明朝"/>
              </a:rPr>
              <a:t>文字の重ね書き：proposal も ablation も変わりにくい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加工で回答が変わった割合（%）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署名ラベルには帰せず，対照学習の項の効果と読める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まとめ</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proposal の第16層の比は，ablation より小さい</a:t>
            </a:r>
          </a:p>
          <a:p>
            <a:pPr marL="228600" indent="-228600">
              <a:buFont typeface="Arial"/>
              <a:buChar char="•"/>
            </a:pPr>
            <a:r>
              <a:rPr lang="ja-JP" sz="2800">
                <a:latin typeface="游明朝"/>
                <a:ea typeface="游明朝"/>
              </a:rPr>
              <a:t>baseline 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lvl="1" marL="685800" indent="-228600">
              <a:buFont typeface="Arial"/>
              <a:buChar char="•"/>
            </a:pPr>
            <a:r>
              <a:rPr lang="ja-JP" sz="2400">
                <a:latin typeface="游明朝"/>
                <a:ea typeface="游明朝"/>
              </a:rPr>
              <a:t>距離そのものでは，proposal がよく動く（区間は0を含まない）</a:t>
            </a:r>
          </a:p>
          <a:p>
            <a:pPr marL="228600" indent="-228600">
              <a:buFont typeface="Arial"/>
              <a:buChar char="•"/>
            </a:pPr>
            <a:r>
              <a:rPr lang="ja-JP" sz="2800">
                <a:latin typeface="游明朝"/>
                <a:ea typeface="游明朝"/>
              </a:rPr>
              <a:t>第32層の比と回答では，幾何的な加工に差は見られない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本数は結果を見る前に決め，判定には距離そのものの向きも加える</a:t>
            </a:r>
          </a:p>
          <a:p>
            <a:pPr marL="228600" indent="-228600">
              <a:buFont typeface="Arial"/>
              <a:buChar char="•"/>
            </a:pPr>
            <a:r>
              <a:rPr lang="ja-JP" sz="2800">
                <a:latin typeface="游明朝"/>
                <a:ea typeface="游明朝"/>
              </a:rPr>
              <a:t>学習に稀な署名で，読み取り精度を層別に測る</a:t>
            </a:r>
          </a:p>
          <a:p>
            <a:pPr marL="228600" indent="-228600">
              <a:buFont typeface="Arial"/>
              <a:buChar char="•"/>
            </a:pPr>
            <a:r>
              <a:rPr lang="ja-JP" sz="2800">
                <a:latin typeface="游明朝"/>
                <a:ea typeface="游明朝"/>
              </a:rPr>
              <a:t>回答の型（yes/no か自由回答か）で整合する群を足し，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整合の強さ </a:t>
            </a:r>
            <a:r>
              <a:rPr lang="ja-JP" sz="2800">
                <a:latin typeface="Cambria Math"/>
                <a:ea typeface="Cambria Math"/>
              </a:rPr>
              <a:t>𝜆</a:t>
            </a:r>
            <a:r>
              <a:rPr lang="ja-JP" sz="2800">
                <a:latin typeface="游明朝"/>
                <a:ea typeface="游明朝"/>
              </a:rPr>
              <a:t> と，整合を掛ける層を変える</a:t>
            </a:r>
          </a:p>
          <a:p>
            <a:pPr marL="228600" indent="-228600">
              <a:buFont typeface="Arial"/>
              <a:buChar char="•"/>
            </a:pPr>
            <a:r>
              <a:rPr lang="ja-JP" sz="2800">
                <a:latin typeface="游明朝"/>
                <a:ea typeface="游明朝"/>
              </a:rPr>
              <a:t>PCSJ/IMPS 2026 でポスター発表（P3-15，11月17日）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 横（118.9 × 84.1cm）</a:t>
            </a:r>
          </a:p>
          <a:p>
            <a:pPr lvl="1" marL="685800" indent="-228600">
              <a:buFont typeface="Arial"/>
              <a:buChar char="•"/>
            </a:pPr>
            <a:r>
              <a:rPr lang="ja-JP" sz="1800">
                <a:latin typeface="游明朝"/>
                <a:ea typeface="游明朝"/>
              </a:rPr>
              <a:t>ボード（180 × 90cm）に収まる</a:t>
            </a:r>
          </a:p>
          <a:p>
            <a:pPr marL="228600" indent="-228600">
              <a:buFont typeface="Arial"/>
              <a:buChar char="•"/>
            </a:pPr>
            <a:r>
              <a:rPr lang="ja-JP" sz="2200">
                <a:latin typeface="游明朝"/>
                <a:ea typeface="游明朝"/>
              </a:rPr>
              <a:t>予稿の章立てと要点の帯</a:t>
            </a:r>
          </a:p>
          <a:p>
            <a:pPr marL="228600" indent="-228600">
              <a:buFont typeface="Arial"/>
              <a:buChar char="•"/>
            </a:pPr>
            <a:r>
              <a:rPr lang="ja-JP" sz="2200">
                <a:latin typeface="游明朝"/>
                <a:ea typeface="游明朝"/>
              </a:rPr>
              <a:t>5章は予稿以降の結果</a:t>
            </a:r>
          </a:p>
          <a:p>
            <a:pPr marL="228600" indent="-228600">
              <a:buFont typeface="Arial"/>
              <a:buChar char="•"/>
            </a:pPr>
            <a:r>
              <a:rPr lang="ja-JP" sz="2200">
                <a:latin typeface="游明朝"/>
                <a:ea typeface="游明朝"/>
              </a:rPr>
              <a:t>配色は前期のポスターを踏襲</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a:t>
            </a:r>
            <a:r>
              <a:rPr lang="ja-JP" sz="2000" i="1">
                <a:latin typeface="游明朝"/>
                <a:ea typeface="游明朝"/>
              </a:rPr>
              <a:t>et al.</a:t>
            </a:r>
            <a:r>
              <a:rPr lang="ja-JP" sz="2000">
                <a:latin typeface="游明朝"/>
                <a:ea typeface="游明朝"/>
              </a:rPr>
              <a:t>,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in Proc. </a:t>
            </a:r>
            <a:r>
              <a:rPr lang="ja-JP" sz="2000" i="1">
                <a:latin typeface="游明朝"/>
                <a:ea typeface="游明朝"/>
              </a:rPr>
              <a:t>IEEE/CVF CVPR</a:t>
            </a:r>
            <a:r>
              <a:rPr lang="ja-JP" sz="2000">
                <a:latin typeface="游明朝"/>
                <a:ea typeface="游明朝"/>
              </a:rPr>
              <a:t>, 2019.</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Application>Microsoft Office PowerPoint</Application>
  <PresentationFormat>ワイド画面</PresentationFormat>
  <Slides>16</Slides>
  <Notes>16</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Arial</vt:lpstr>
      <vt:lpstr>游ゴシック Light</vt:lpstr>
      <vt:lpstr>游ゴシック</vt:lpstr>
      <vt:lpstr>游明朝</vt:lpstr>
      <vt:lpstr>Cambria Math</vt:lpstr>
      <vt:lpstr>Office テーマ</vt:lpstr>
      <vt:lpstr>進捗報告</vt:lpstr>
      <vt:lpstr>今回の進捗</vt:lpstr>
      <vt:lpstr>前回までの結果</vt:lpstr>
      <vt:lpstr>今回の問い</vt:lpstr>
      <vt:lpstr>加工の種類</vt:lpstr>
      <vt:lpstr>加工の例</vt:lpstr>
      <vt:lpstr>測る量</vt:lpstr>
      <vt:lpstr>判定の表（測る前に決めた）</vt:lpstr>
      <vt:lpstr>結果（第16層，23通りすべて）</vt:lpstr>
      <vt:lpstr>族ごとの比（第16層）</vt:lpstr>
      <vt:lpstr>比の分母は，群ごとに違う</vt:lpstr>
      <vt:lpstr>最終層と回答</vt:lpstr>
      <vt:lpstr>結果/考察</vt:lpstr>
      <vt:lpstr>今後の目標</vt:lpstr>
      <vt:lpstr>ポスターの初案</vt:lpstr>
      <vt:lpstr>参考文献</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2026-10-29T09:22:03Z</dcterms:modified>
</cp:coreProperties>
</file>