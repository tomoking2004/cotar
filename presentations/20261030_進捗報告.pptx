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01"/>
    <p:sldId id="257" r:id="rId202"/>
    <p:sldId id="258" r:id="rId203"/>
    <p:sldId id="259" r:id="rId204"/>
    <p:sldId id="260" r:id="rId205"/>
    <p:sldId id="261" r:id="rId206"/>
    <p:sldId id="262" r:id="rId207"/>
    <p:sldId id="263" r:id="rId208"/>
    <p:sldId id="264" r:id="rId209"/>
    <p:sldId id="265" r:id="rId210"/>
    <p:sldId id="266" r:id="rId211"/>
    <p:sldId id="267" r:id="rId212"/>
    <p:sldId id="268" r:id="rId213"/>
    <p:sldId id="269" r:id="rId214"/>
    <p:sldId id="270" r:id="rId215"/>
    <p:sldId id="271" r:id="rId216"/>
    <p:sldId id="272" r:id="rId217"/>
    <p:sldId id="273" r:id="rId218"/>
    <p:sldId id="274" r:id="rId219"/>
    <p:sldId id="275" r:id="rId220"/>
    <p:sldId id="276" r:id="rId221"/>
    <p:sldId id="277" r:id="rId22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 lang="ja-JP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 lang="ja-JP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 lang="ja-JP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 lang="ja-JP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 lang="ja-JP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 lang="ja-JP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 lang="ja-JP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 lang="ja-JP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 lang="ja-JP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3377" autoAdjust="0"/>
  </p:normalViewPr>
  <p:slideViewPr>
    <p:cSldViewPr snapToGrid="0">
      <p:cViewPr varScale="1">
        <p:scale>
          <a:sx n="68" d="100"/>
          <a:sy n="68" d="100"/>
        </p:scale>
        <p:origin x="250" y="67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01" Type="http://schemas.openxmlformats.org/officeDocument/2006/relationships/slide" Target="slides/slide1.xml"/><Relationship Id="rId202" Type="http://schemas.openxmlformats.org/officeDocument/2006/relationships/slide" Target="slides/slide2.xml"/><Relationship Id="rId203" Type="http://schemas.openxmlformats.org/officeDocument/2006/relationships/slide" Target="slides/slide3.xml"/><Relationship Id="rId204" Type="http://schemas.openxmlformats.org/officeDocument/2006/relationships/slide" Target="slides/slide4.xml"/><Relationship Id="rId205" Type="http://schemas.openxmlformats.org/officeDocument/2006/relationships/slide" Target="slides/slide5.xml"/><Relationship Id="rId206" Type="http://schemas.openxmlformats.org/officeDocument/2006/relationships/slide" Target="slides/slide6.xml"/><Relationship Id="rId207" Type="http://schemas.openxmlformats.org/officeDocument/2006/relationships/slide" Target="slides/slide7.xml"/><Relationship Id="rId208" Type="http://schemas.openxmlformats.org/officeDocument/2006/relationships/slide" Target="slides/slide8.xml"/><Relationship Id="rId209" Type="http://schemas.openxmlformats.org/officeDocument/2006/relationships/slide" Target="slides/slide9.xml"/><Relationship Id="rId210" Type="http://schemas.openxmlformats.org/officeDocument/2006/relationships/slide" Target="slides/slide10.xml"/><Relationship Id="rId211" Type="http://schemas.openxmlformats.org/officeDocument/2006/relationships/slide" Target="slides/slide11.xml"/><Relationship Id="rId212" Type="http://schemas.openxmlformats.org/officeDocument/2006/relationships/slide" Target="slides/slide12.xml"/><Relationship Id="rId213" Type="http://schemas.openxmlformats.org/officeDocument/2006/relationships/slide" Target="slides/slide13.xml"/><Relationship Id="rId214" Type="http://schemas.openxmlformats.org/officeDocument/2006/relationships/slide" Target="slides/slide14.xml"/><Relationship Id="rId215" Type="http://schemas.openxmlformats.org/officeDocument/2006/relationships/slide" Target="slides/slide15.xml"/><Relationship Id="rId216" Type="http://schemas.openxmlformats.org/officeDocument/2006/relationships/slide" Target="slides/slide16.xml"/><Relationship Id="rId217" Type="http://schemas.openxmlformats.org/officeDocument/2006/relationships/slide" Target="slides/slide17.xml"/><Relationship Id="rId218" Type="http://schemas.openxmlformats.org/officeDocument/2006/relationships/slide" Target="slides/slide18.xml"/><Relationship Id="rId219" Type="http://schemas.openxmlformats.org/officeDocument/2006/relationships/slide" Target="slides/slide19.xml"/><Relationship Id="rId220" Type="http://schemas.openxmlformats.org/officeDocument/2006/relationships/slide" Target="slides/slide20.xml"/><Relationship Id="rId221" Type="http://schemas.openxmlformats.org/officeDocument/2006/relationships/slide" Target="slides/slide21.xml"/><Relationship Id="rId222" Type="http://schemas.openxmlformats.org/officeDocument/2006/relationships/slide" Target="slides/slide2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rgbClr val="A6A6A6"/>
            </a:solidFill>
          </c:spPr>
          <c:invertIfNegative val="0"/>
          <c:cat>
            <c:strRef>
              <c:f>Sheet1!$A$2:$A$10</c:f>
              <c:strCache>
                <c:ptCount val="9"/>
                <c:pt idx="0">
                  <c:v>平行移動</c:v>
                </c:pt>
                <c:pt idx="1">
                  <c:v>余白付加と
切り出し</c:v>
                </c:pt>
                <c:pt idx="2">
                  <c:v>縮小</c:v>
                </c:pt>
                <c:pt idx="3">
                  <c:v>縮小と余白</c:v>
                </c:pt>
                <c:pt idx="4">
                  <c:v>回転</c:v>
                </c:pt>
                <c:pt idx="5">
                  <c:v>指示文の
重ね書き</c:v>
                </c:pt>
                <c:pt idx="6">
                  <c:v>無作為な
文字列の
重ね書き</c:v>
                </c:pt>
                <c:pt idx="7">
                  <c:v>文字なしの
重ね書き</c:v>
                </c:pt>
                <c:pt idx="8">
                  <c:v>23通り
すべて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10.02900800074681</c:v>
                </c:pt>
                <c:pt idx="1">
                  <c:v>13.548702123328344</c:v>
                </c:pt>
                <c:pt idx="2">
                  <c:v>1.8523354302052129</c:v>
                </c:pt>
                <c:pt idx="3">
                  <c:v>24.684762937243026</c:v>
                </c:pt>
                <c:pt idx="4">
                  <c:v>32.95338937878566</c:v>
                </c:pt>
                <c:pt idx="5">
                  <c:v>40.835668062655316</c:v>
                </c:pt>
                <c:pt idx="6">
                  <c:v>31.26825691037604</c:v>
                </c:pt>
                <c:pt idx="7">
                  <c:v>6.704250085282664</c:v>
                </c:pt>
                <c:pt idx="8">
                  <c:v>15.646683917607296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proposal</c:v>
                </c:pt>
              </c:strCache>
            </c:strRef>
          </c:tx>
          <c:spPr>
            <a:solidFill>
              <a:srgbClr val="FF0000"/>
            </a:solidFill>
          </c:spPr>
          <c:invertIfNegative val="0"/>
          <c:cat>
            <c:strRef>
              <c:f>Sheet1!$A$2:$A$10</c:f>
              <c:strCache>
                <c:ptCount val="9"/>
                <c:pt idx="0">
                  <c:v>平行移動</c:v>
                </c:pt>
                <c:pt idx="1">
                  <c:v>余白付加と
切り出し</c:v>
                </c:pt>
                <c:pt idx="2">
                  <c:v>縮小</c:v>
                </c:pt>
                <c:pt idx="3">
                  <c:v>縮小と余白</c:v>
                </c:pt>
                <c:pt idx="4">
                  <c:v>回転</c:v>
                </c:pt>
                <c:pt idx="5">
                  <c:v>指示文の
重ね書き</c:v>
                </c:pt>
                <c:pt idx="6">
                  <c:v>無作為な
文字列の
重ね書き</c:v>
                </c:pt>
                <c:pt idx="7">
                  <c:v>文字なしの
重ね書き</c:v>
                </c:pt>
                <c:pt idx="8">
                  <c:v>23通り
すべて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8.453832303205807</c:v>
                </c:pt>
                <c:pt idx="1">
                  <c:v>9.15780278890348</c:v>
                </c:pt>
                <c:pt idx="2">
                  <c:v>1.9544698645462728</c:v>
                </c:pt>
                <c:pt idx="3">
                  <c:v>13.750254144634487</c:v>
                </c:pt>
                <c:pt idx="4">
                  <c:v>23.422918438780584</c:v>
                </c:pt>
                <c:pt idx="5">
                  <c:v>11.265779945377707</c:v>
                </c:pt>
                <c:pt idx="6">
                  <c:v>9.175406355810663</c:v>
                </c:pt>
                <c:pt idx="7">
                  <c:v>5.774252125443189</c:v>
                </c:pt>
                <c:pt idx="8">
                  <c:v>9.985176697833298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ablation</c:v>
                </c:pt>
              </c:strCache>
            </c:strRef>
          </c:tx>
          <c:spPr>
            <a:solidFill>
              <a:srgbClr val="9DC3E6"/>
            </a:solidFill>
          </c:spPr>
          <c:invertIfNegative val="0"/>
          <c:cat>
            <c:strRef>
              <c:f>Sheet1!$A$2:$A$10</c:f>
              <c:strCache>
                <c:ptCount val="9"/>
                <c:pt idx="0">
                  <c:v>平行移動</c:v>
                </c:pt>
                <c:pt idx="1">
                  <c:v>余白付加と
切り出し</c:v>
                </c:pt>
                <c:pt idx="2">
                  <c:v>縮小</c:v>
                </c:pt>
                <c:pt idx="3">
                  <c:v>縮小と余白</c:v>
                </c:pt>
                <c:pt idx="4">
                  <c:v>回転</c:v>
                </c:pt>
                <c:pt idx="5">
                  <c:v>指示文の
重ね書き</c:v>
                </c:pt>
                <c:pt idx="6">
                  <c:v>無作為な
文字列の
重ね書き</c:v>
                </c:pt>
                <c:pt idx="7">
                  <c:v>文字なしの
重ね書き</c:v>
                </c:pt>
                <c:pt idx="8">
                  <c:v>23通り
すべて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13.826996578433445</c:v>
                </c:pt>
                <c:pt idx="1">
                  <c:v>18.061827341512743</c:v>
                </c:pt>
                <c:pt idx="2">
                  <c:v>2.844913814378999</c:v>
                </c:pt>
                <c:pt idx="3">
                  <c:v>31.092497478705205</c:v>
                </c:pt>
                <c:pt idx="4">
                  <c:v>41.101926295694355</c:v>
                </c:pt>
                <c:pt idx="5">
                  <c:v>47.79909959402181</c:v>
                </c:pt>
                <c:pt idx="6">
                  <c:v>29.682890443161483</c:v>
                </c:pt>
                <c:pt idx="7">
                  <c:v>9.702544803772088</c:v>
                </c:pt>
                <c:pt idx="8">
                  <c:v>19.93201814288131</c:v>
                </c:pt>
              </c:numCache>
            </c:numRef>
          </c:val>
        </c:ser>
        <c:gapWidth val="50"/>
        <c:overlap val="-5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 rot="0" vert="horz"/>
          <a:lstStyle/>
          <a:p>
            <a:pPr>
              <a:defRPr sz="1400" lang="ja-JP">
                <a:solidFill>
                  <a:srgbClr val="595959"/>
                </a:solidFill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max val="50.0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400" lang="ja-JP">
                    <a:solidFill>
                      <a:srgbClr val="595959"/>
                    </a:solidFill>
                  </a:rPr>
                  <a:t>比（%）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 lang="ja-JP">
                <a:solidFill>
                  <a:srgbClr val="595959"/>
                </a:solidFill>
              </a:defRPr>
            </a:pPr>
          </a:p>
        </c:txPr>
        <c:crossAx val="2068027336"/>
        <c:crosses val="autoZero"/>
        <c:majorUnit val="10.0"/>
      </c:valAx>
    </c:plotArea>
    <c:legend>
      <c:legendPos val="t"/>
      <c:overlay val="0"/>
      <c:txPr>
        <a:bodyPr/>
        <a:lstStyle/>
        <a:p>
          <a:pPr>
            <a:defRPr sz="1400" lang="ja-JP">
              <a:solidFill>
                <a:srgbClr val="595959"/>
              </a:solidFill>
              <a:latin typeface="游明朝"/>
            </a:defRPr>
          </a:pPr>
        </a:p>
      </c:txPr>
    </c:legend>
    <c:dispBlanksAs val="gap"/>
  </c:chart>
  <c:txPr>
    <a:bodyPr/>
    <a:lstStyle/>
    <a:p>
      <a:pPr>
        <a:defRPr sz="1400" lang="ja-JP">
          <a:latin typeface="游明朝"/>
          <a:ea typeface="游明朝"/>
        </a:defRPr>
      </a:pPr>
      <a:endParaRPr lang="ja-JP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lang="ja-JP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lang="ja-JP"/>
            </a:lvl1pPr>
          </a:lstStyle>
          <a:p>
            <a:fld id="{BA8EA2F7-F344-4634-8A1B-077389120022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ja-JP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ja-JP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ja-JP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ja-JP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lang="ja-JP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lang="ja-JP"/>
            </a:lvl1pPr>
          </a:lstStyle>
          <a:p>
            <a:fld id="{DCEBFA57-81A5-42EC-BCAD-61DD5FD6B98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660613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 lang="ja-JP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 lang="ja-JP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 lang="ja-JP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 lang="ja-JP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 lang="ja-JP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 lang="ja-JP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 lang="ja-JP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 lang="ja-JP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 lang="ja-JP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C794631-5AE1-63DE-E0BA-373751D569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 lang="ja-JP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83707F9-0FB7-8DC9-9781-EFF1E487D8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 lang="ja-JP"/>
            </a:lvl1pPr>
            <a:lvl2pPr marL="457200" indent="0" algn="ctr">
              <a:buNone/>
              <a:defRPr sz="2000" lang="ja-JP"/>
            </a:lvl2pPr>
            <a:lvl3pPr marL="914400" indent="0" algn="ctr">
              <a:buNone/>
              <a:defRPr sz="1800" lang="ja-JP"/>
            </a:lvl3pPr>
            <a:lvl4pPr marL="1371600" indent="0" algn="ctr">
              <a:buNone/>
              <a:defRPr sz="1600" lang="ja-JP"/>
            </a:lvl4pPr>
            <a:lvl5pPr marL="1828800" indent="0" algn="ctr">
              <a:buNone/>
              <a:defRPr sz="1600" lang="ja-JP"/>
            </a:lvl5pPr>
            <a:lvl6pPr marL="2286000" indent="0" algn="ctr">
              <a:buNone/>
              <a:defRPr sz="1600" lang="ja-JP"/>
            </a:lvl6pPr>
            <a:lvl7pPr marL="2743200" indent="0" algn="ctr">
              <a:buNone/>
              <a:defRPr sz="1600" lang="ja-JP"/>
            </a:lvl7pPr>
            <a:lvl8pPr marL="3200400" indent="0" algn="ctr">
              <a:buNone/>
              <a:defRPr sz="1600" lang="ja-JP"/>
            </a:lvl8pPr>
            <a:lvl9pPr marL="3657600" indent="0" algn="ctr">
              <a:buNone/>
              <a:defRPr sz="1600" lang="ja-JP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66F96EB-25F2-87AC-D67D-B0E43B1734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1E1EE7-404E-4ECC-9A60-3B377366333C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DFE6DF8-C141-7F84-49A8-32981CF90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919329D-C674-F92E-C8E3-80FF7FBDB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67D90C-C1C4-468F-A772-42E20EA21A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97809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EE7E0FF-80F4-9B6D-F67A-94D0753E7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496732D-7009-D9BE-0DAA-DB1DA39BAC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ja-JP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ja-JP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ja-JP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ja-JP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48CA5E8-349E-6F8C-FD08-540462F169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1E1EE7-404E-4ECC-9A60-3B377366333C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0C069AC-DD96-62FD-E033-C5BC02D4D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6F69D67-90BB-FEFC-A451-9C108F8BB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67D90C-C1C4-468F-A772-42E20EA21A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94630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A69C62D-470E-C8A8-3405-8547D58DA2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 lang="ja-JP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21FE730-849F-6C6C-DFED-1ED3770A39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 lang="ja-JP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 lang="ja-JP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 lang="ja-JP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 lang="ja-JP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 lang="ja-JP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 lang="ja-JP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 lang="ja-JP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 lang="ja-JP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 lang="ja-JP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B388FCE-5827-E8BF-19FF-BC3B922851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1E1EE7-404E-4ECC-9A60-3B377366333C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480FDC3-51B0-5EC3-D44A-573EA86F1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CFE76A6-03B8-FBAD-C739-FF1B91D71B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67D90C-C1C4-468F-A772-42E20EA21A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486504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1DDCFF-3C3E-CA9F-B821-4B0654532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5CACF8A-B71F-89A3-8AD7-3EF4B6E16E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ja-JP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ja-JP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ja-JP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ja-JP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A67B1DB-1790-6018-0483-61F12B90F5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ja-JP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ja-JP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ja-JP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ja-JP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AD12C2F-2839-6CAC-31BC-35E71C333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1E1EE7-404E-4ECC-9A60-3B377366333C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92F6ACC-FB60-A84B-7D9D-43C33F167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44F502E-99F2-5B22-AD1A-352612A6A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67D90C-C1C4-468F-A772-42E20EA21A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8851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1EE57C2-352F-B9A2-C17E-FD6E872E2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6412DE4-4234-28C2-1E26-8C1ACF46FC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 lang="ja-JP"/>
            </a:lvl1pPr>
            <a:lvl2pPr marL="457200" indent="0">
              <a:buNone/>
              <a:defRPr sz="2000" b="1" lang="ja-JP"/>
            </a:lvl2pPr>
            <a:lvl3pPr marL="914400" indent="0">
              <a:buNone/>
              <a:defRPr sz="1800" b="1" lang="ja-JP"/>
            </a:lvl3pPr>
            <a:lvl4pPr marL="1371600" indent="0">
              <a:buNone/>
              <a:defRPr sz="1600" b="1" lang="ja-JP"/>
            </a:lvl4pPr>
            <a:lvl5pPr marL="1828800" indent="0">
              <a:buNone/>
              <a:defRPr sz="1600" b="1" lang="ja-JP"/>
            </a:lvl5pPr>
            <a:lvl6pPr marL="2286000" indent="0">
              <a:buNone/>
              <a:defRPr sz="1600" b="1" lang="ja-JP"/>
            </a:lvl6pPr>
            <a:lvl7pPr marL="2743200" indent="0">
              <a:buNone/>
              <a:defRPr sz="1600" b="1" lang="ja-JP"/>
            </a:lvl7pPr>
            <a:lvl8pPr marL="3200400" indent="0">
              <a:buNone/>
              <a:defRPr sz="1600" b="1" lang="ja-JP"/>
            </a:lvl8pPr>
            <a:lvl9pPr marL="3657600" indent="0">
              <a:buNone/>
              <a:defRPr sz="1600" b="1" lang="ja-JP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B956583-4249-3EA0-81C0-56AD93A031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ja-JP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ja-JP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ja-JP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ja-JP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A5266DC-115D-8A8C-A22B-198361A410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 lang="ja-JP"/>
            </a:lvl1pPr>
            <a:lvl2pPr marL="457200" indent="0">
              <a:buNone/>
              <a:defRPr sz="2000" b="1" lang="ja-JP"/>
            </a:lvl2pPr>
            <a:lvl3pPr marL="914400" indent="0">
              <a:buNone/>
              <a:defRPr sz="1800" b="1" lang="ja-JP"/>
            </a:lvl3pPr>
            <a:lvl4pPr marL="1371600" indent="0">
              <a:buNone/>
              <a:defRPr sz="1600" b="1" lang="ja-JP"/>
            </a:lvl4pPr>
            <a:lvl5pPr marL="1828800" indent="0">
              <a:buNone/>
              <a:defRPr sz="1600" b="1" lang="ja-JP"/>
            </a:lvl5pPr>
            <a:lvl6pPr marL="2286000" indent="0">
              <a:buNone/>
              <a:defRPr sz="1600" b="1" lang="ja-JP"/>
            </a:lvl6pPr>
            <a:lvl7pPr marL="2743200" indent="0">
              <a:buNone/>
              <a:defRPr sz="1600" b="1" lang="ja-JP"/>
            </a:lvl7pPr>
            <a:lvl8pPr marL="3200400" indent="0">
              <a:buNone/>
              <a:defRPr sz="1600" b="1" lang="ja-JP"/>
            </a:lvl8pPr>
            <a:lvl9pPr marL="3657600" indent="0">
              <a:buNone/>
              <a:defRPr sz="1600" b="1" lang="ja-JP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A6FBAE73-20B1-EF8E-D67E-102D03B104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ja-JP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ja-JP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ja-JP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ja-JP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CF51E1EA-A746-7E87-68C9-7A9B7B1749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1E1EE7-404E-4ECC-9A60-3B377366333C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1C835453-2E92-60C3-FD74-F5AB81072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6D0817A-468D-51A7-25D6-17A94724B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67D90C-C1C4-468F-A772-42E20EA21A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59787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4E651D5-AED3-49CB-7CEF-C295AD475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EE3FFCB-EEB1-74B9-54E2-65D5C82C15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1E1EE7-404E-4ECC-9A60-3B377366333C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5F35C05-50F8-B94A-21A4-2B095A0E24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4A4A7D7-D905-C499-79FC-01A847CF3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67D90C-C1C4-468F-A772-42E20EA21A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61294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14C0C62A-B915-F83E-9BBE-2C251B21E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1E1EE7-404E-4ECC-9A60-3B377366333C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4ABE538-461B-9BFB-BD91-9AE706026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E66D4B3-9F09-40A9-E9A0-8AEAB51B9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67D90C-C1C4-468F-A772-42E20EA21A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7747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6CB99B3-AA10-2FE2-DA5E-52C4C63B9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lang="ja-JP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1C2AB79-D489-6AC7-C0BB-DD21DDE53A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 lang="ja-JP"/>
            </a:lvl1pPr>
            <a:lvl2pPr>
              <a:defRPr sz="2800" lang="ja-JP"/>
            </a:lvl2pPr>
            <a:lvl3pPr>
              <a:defRPr sz="2400" lang="ja-JP"/>
            </a:lvl3pPr>
            <a:lvl4pPr>
              <a:defRPr sz="2000" lang="ja-JP"/>
            </a:lvl4pPr>
            <a:lvl5pPr>
              <a:defRPr sz="2000" lang="ja-JP"/>
            </a:lvl5pPr>
            <a:lvl6pPr>
              <a:defRPr sz="2000" lang="ja-JP"/>
            </a:lvl6pPr>
            <a:lvl7pPr>
              <a:defRPr sz="2000" lang="ja-JP"/>
            </a:lvl7pPr>
            <a:lvl8pPr>
              <a:defRPr sz="2000" lang="ja-JP"/>
            </a:lvl8pPr>
            <a:lvl9pPr>
              <a:defRPr sz="2000" lang="ja-JP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ja-JP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ja-JP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ja-JP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ja-JP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FA42923-7753-6E1D-205C-551229C551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 lang="ja-JP"/>
            </a:lvl1pPr>
            <a:lvl2pPr marL="457200" indent="0">
              <a:buNone/>
              <a:defRPr sz="1400" lang="ja-JP"/>
            </a:lvl2pPr>
            <a:lvl3pPr marL="914400" indent="0">
              <a:buNone/>
              <a:defRPr sz="1200" lang="ja-JP"/>
            </a:lvl3pPr>
            <a:lvl4pPr marL="1371600" indent="0">
              <a:buNone/>
              <a:defRPr sz="1000" lang="ja-JP"/>
            </a:lvl4pPr>
            <a:lvl5pPr marL="1828800" indent="0">
              <a:buNone/>
              <a:defRPr sz="1000" lang="ja-JP"/>
            </a:lvl5pPr>
            <a:lvl6pPr marL="2286000" indent="0">
              <a:buNone/>
              <a:defRPr sz="1000" lang="ja-JP"/>
            </a:lvl6pPr>
            <a:lvl7pPr marL="2743200" indent="0">
              <a:buNone/>
              <a:defRPr sz="1000" lang="ja-JP"/>
            </a:lvl7pPr>
            <a:lvl8pPr marL="3200400" indent="0">
              <a:buNone/>
              <a:defRPr sz="1000" lang="ja-JP"/>
            </a:lvl8pPr>
            <a:lvl9pPr marL="3657600" indent="0">
              <a:buNone/>
              <a:defRPr sz="1000" lang="ja-JP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5DB37EC-ED89-81B3-A9A5-95DC794D0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1E1EE7-404E-4ECC-9A60-3B377366333C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BE24597-3E4F-EDEF-0269-F5C5AE636B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44A68DE-91CB-7515-ACE0-1EBCDDACD9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67D90C-C1C4-468F-A772-42E20EA21A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264700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11E8A1C-5E14-B5AA-0565-674C797080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lang="ja-JP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6CF2241-0C54-5FE1-2FC6-823C8EEC16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 lang="ja-JP"/>
            </a:lvl1pPr>
            <a:lvl2pPr marL="457200" indent="0">
              <a:buNone/>
              <a:defRPr sz="2800" lang="ja-JP"/>
            </a:lvl2pPr>
            <a:lvl3pPr marL="914400" indent="0">
              <a:buNone/>
              <a:defRPr sz="2400" lang="ja-JP"/>
            </a:lvl3pPr>
            <a:lvl4pPr marL="1371600" indent="0">
              <a:buNone/>
              <a:defRPr sz="2000" lang="ja-JP"/>
            </a:lvl4pPr>
            <a:lvl5pPr marL="1828800" indent="0">
              <a:buNone/>
              <a:defRPr sz="2000" lang="ja-JP"/>
            </a:lvl5pPr>
            <a:lvl6pPr marL="2286000" indent="0">
              <a:buNone/>
              <a:defRPr sz="2000" lang="ja-JP"/>
            </a:lvl6pPr>
            <a:lvl7pPr marL="2743200" indent="0">
              <a:buNone/>
              <a:defRPr sz="2000" lang="ja-JP"/>
            </a:lvl7pPr>
            <a:lvl8pPr marL="3200400" indent="0">
              <a:buNone/>
              <a:defRPr sz="2000" lang="ja-JP"/>
            </a:lvl8pPr>
            <a:lvl9pPr marL="3657600" indent="0">
              <a:buNone/>
              <a:defRPr sz="2000" lang="ja-JP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1699479-C701-6D69-C11E-5CF6E9E1E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 lang="ja-JP"/>
            </a:lvl1pPr>
            <a:lvl2pPr marL="457200" indent="0">
              <a:buNone/>
              <a:defRPr sz="1400" lang="ja-JP"/>
            </a:lvl2pPr>
            <a:lvl3pPr marL="914400" indent="0">
              <a:buNone/>
              <a:defRPr sz="1200" lang="ja-JP"/>
            </a:lvl3pPr>
            <a:lvl4pPr marL="1371600" indent="0">
              <a:buNone/>
              <a:defRPr sz="1000" lang="ja-JP"/>
            </a:lvl4pPr>
            <a:lvl5pPr marL="1828800" indent="0">
              <a:buNone/>
              <a:defRPr sz="1000" lang="ja-JP"/>
            </a:lvl5pPr>
            <a:lvl6pPr marL="2286000" indent="0">
              <a:buNone/>
              <a:defRPr sz="1000" lang="ja-JP"/>
            </a:lvl6pPr>
            <a:lvl7pPr marL="2743200" indent="0">
              <a:buNone/>
              <a:defRPr sz="1000" lang="ja-JP"/>
            </a:lvl7pPr>
            <a:lvl8pPr marL="3200400" indent="0">
              <a:buNone/>
              <a:defRPr sz="1000" lang="ja-JP"/>
            </a:lvl8pPr>
            <a:lvl9pPr marL="3657600" indent="0">
              <a:buNone/>
              <a:defRPr sz="1000" lang="ja-JP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8D6F468-011E-B40F-35B2-772B860614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1E1EE7-404E-4ECC-9A60-3B377366333C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F0337A4-6B45-CF93-8769-8C63587BA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1784FCB-6B5D-CA8C-73F1-FBF8E0604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67D90C-C1C4-468F-A772-42E20EA21A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26422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80EA25C-9C85-86F7-87AA-3AA6F0D37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9F9AA3D-B408-9115-37B8-AC73FB9CA4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ja-JP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ja-JP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ja-JP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ja-JP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680595-2016-CD1A-084C-BBAC94F63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1E1EE7-404E-4ECC-9A60-3B377366333C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CA06B58-AEAE-DCE2-2F11-E47A91A15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615937D-8EEF-801D-E012-379DC5E5E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67D90C-C1C4-468F-A772-42E20EA21A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3154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CA8E599-EA55-CE71-3510-F6DE39D7ABB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8D7B960-C9C4-815C-537F-B8EF13AB8B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ja-JP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ja-JP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ja-JP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ja-JP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8298C37-6A5A-A827-30CD-BD9301B9C5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1E1EE7-404E-4ECC-9A60-3B377366333C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78A2CCC-0DA7-9D49-7316-63F641E82C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20B2635-2A81-B880-79D0-EBC21D823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67D90C-C1C4-468F-A772-42E20EA21A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30332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E1AF73E-2895-8E10-AAC3-745847F25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EA62395-2DE3-041F-6FCE-932BCE4E04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ja-JP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ja-JP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ja-JP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ja-JP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232F1F8-705E-14C3-D983-1A8686995F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ja-JP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1E1EE7-404E-4ECC-9A60-3B377366333C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A9150E3-9540-BAFF-2B5A-97D564AE3A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ja-JP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AC7071D-3583-736C-4607-FEDFEE38B3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ja-JP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67D90C-C1C4-468F-A772-42E20EA21A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526656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 lang="ja-JP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 lang="ja-JP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 lang="ja-JP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 lang="ja-JP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 lang="ja-JP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 lang="ja-JP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 lang="ja-JP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 lang="ja-JP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 lang="ja-JP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 lang="ja-JP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 lang="ja-JP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 lang="ja-JP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 lang="ja-JP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 lang="ja-JP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 lang="ja-JP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 lang="ja-JP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 lang="ja-JP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 lang="ja-JP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 lang="ja-JP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>
                <a:latin typeface="游明朝"/>
                <a:ea typeface="游明朝"/>
              </a:rPr>
              <a:t>進捗報告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>
                <a:latin typeface="游明朝"/>
                <a:ea typeface="游明朝"/>
              </a:rPr>
              <a:t>杉村研究室</a:t>
            </a:r>
          </a:p>
          <a:p>
            <a:r>
              <a:rPr lang="ja-JP">
                <a:latin typeface="游明朝"/>
                <a:ea typeface="游明朝"/>
              </a:rPr>
              <a:t>26860646　中野 友晴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>
                <a:latin typeface="游明朝"/>
                <a:ea typeface="游明朝"/>
              </a:rPr>
              <a:t>前回までの結果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1645920"/>
            <a:ext cx="10515600" cy="18630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28600" indent="-228600">
              <a:spcBef>
                <a:spcPts val="0"/>
              </a:spcBef>
              <a:buFont typeface="Arial"/>
              <a:buChar char="•"/>
            </a:pPr>
            <a:r>
              <a:rPr lang="ja-JP" sz="2400" b="0">
                <a:latin typeface="游明朝"/>
                <a:ea typeface="游明朝"/>
              </a:rPr>
              <a:t>署名の読み取り精度：82.9% → 95.9%（上がる）</a:t>
            </a:r>
            <a:endParaRPr lang="ja-JP" sz="2400"/>
          </a:p>
          <a:p>
            <a:pPr marL="228600" indent="-228600">
              <a:spcBef>
                <a:spcPts val="900"/>
              </a:spcBef>
              <a:buFont typeface="Arial"/>
              <a:buChar char="•"/>
            </a:pPr>
            <a:r>
              <a:rPr lang="ja-JP" sz="2400" b="0">
                <a:latin typeface="游明朝"/>
                <a:ea typeface="游明朝"/>
              </a:rPr>
              <a:t>正解率：53.5% → 53.5%（ほとんど変わらない）</a:t>
            </a:r>
            <a:endParaRPr lang="ja-JP" sz="2400"/>
          </a:p>
          <a:p>
            <a:pPr marL="228600" indent="-228600">
              <a:spcBef>
                <a:spcPts val="900"/>
              </a:spcBef>
              <a:buFont typeface="Arial"/>
              <a:buChar char="•"/>
            </a:pPr>
            <a:r>
              <a:rPr lang="ja-JP" sz="2400" b="0">
                <a:latin typeface="游明朝"/>
                <a:ea typeface="游明朝"/>
              </a:rPr>
              <a:t>回答が第16層に頼る度合い：18–28%下がる</a:t>
            </a:r>
            <a:endParaRPr lang="ja-JP" sz="2400"/>
          </a:p>
          <a:p>
            <a:pPr marL="0" indent="0">
              <a:spcBef>
                <a:spcPts val="900"/>
              </a:spcBef>
              <a:buNone/>
            </a:pPr>
            <a:r>
              <a:rPr lang="ja-JP" sz="1800" b="0">
                <a:latin typeface="游明朝"/>
                <a:ea typeface="游明朝"/>
              </a:rPr>
              <a:t>数値は baseline → proposal（乱数種3つの平均）</a:t>
            </a:r>
            <a:endParaRPr lang="ja-JP" sz="1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>
                <a:latin typeface="游明朝"/>
                <a:ea typeface="游明朝"/>
              </a:rPr>
              <a:t>今回したこと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1645920"/>
            <a:ext cx="10515600" cy="2199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28600" indent="-228600">
              <a:spcBef>
                <a:spcPts val="0"/>
              </a:spcBef>
              <a:buFont typeface="Arial"/>
              <a:buChar char="•"/>
            </a:pPr>
            <a:r>
              <a:rPr lang="ja-JP" sz="2400" b="0">
                <a:latin typeface="游明朝"/>
                <a:ea typeface="游明朝"/>
              </a:rPr>
              <a:t>前回の最優先の目標：画像を加工したときの，第16層の内部表現の動きを測る</a:t>
            </a:r>
            <a:endParaRPr lang="ja-JP" sz="2400"/>
          </a:p>
          <a:p>
            <a:pPr lvl="1" marL="685800" indent="-228600">
              <a:spcBef>
                <a:spcPts val="300"/>
              </a:spcBef>
              <a:buFont typeface="Arial"/>
              <a:buChar char="•"/>
            </a:pPr>
            <a:r>
              <a:rPr lang="ja-JP" sz="2000" b="0">
                <a:latin typeface="游明朝"/>
                <a:ea typeface="游明朝"/>
              </a:rPr>
              <a:t>学習済みの9回分（3群 × 乱数種3つ）の重みで測定（追加の学習なし）</a:t>
            </a:r>
            <a:endParaRPr lang="ja-JP" sz="2000"/>
          </a:p>
          <a:p>
            <a:pPr marL="228600" indent="-228600">
              <a:spcBef>
                <a:spcPts val="900"/>
              </a:spcBef>
              <a:buFont typeface="Arial"/>
              <a:buChar char="•"/>
            </a:pPr>
            <a:r>
              <a:rPr lang="ja-JP" sz="2400" b="0">
                <a:latin typeface="游明朝"/>
                <a:ea typeface="游明朝"/>
              </a:rPr>
              <a:t>測る量の作り方を変えて，読みを確かめる</a:t>
            </a:r>
            <a:endParaRPr lang="ja-JP" sz="2400"/>
          </a:p>
          <a:p>
            <a:pPr marL="228600" indent="-228600">
              <a:spcBef>
                <a:spcPts val="900"/>
              </a:spcBef>
              <a:buFont typeface="Arial"/>
              <a:buChar char="•"/>
            </a:pPr>
            <a:r>
              <a:rPr lang="ja-JP" sz="2400" b="0">
                <a:latin typeface="游明朝"/>
                <a:ea typeface="游明朝"/>
              </a:rPr>
              <a:t>ポスター（PCSJ/IMPS 2026）の初案</a:t>
            </a:r>
            <a:endParaRPr lang="ja-JP" sz="24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>
                <a:latin typeface="游明朝"/>
                <a:ea typeface="游明朝"/>
              </a:rPr>
              <a:t>出発点：Wani らの指摘と今回の問い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1645920"/>
            <a:ext cx="10515600" cy="20345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28600" indent="-228600">
              <a:spcBef>
                <a:spcPts val="0"/>
              </a:spcBef>
              <a:buFont typeface="Arial"/>
              <a:buChar char="•"/>
            </a:pPr>
            <a:r>
              <a:rPr lang="ja-JP" sz="2400" b="0">
                <a:latin typeface="游明朝"/>
                <a:ea typeface="游明朝"/>
              </a:rPr>
              <a:t>Wani ら[1]：正解を変えないはずの加工を画像に施す</a:t>
            </a:r>
            <a:endParaRPr lang="ja-JP" sz="2400"/>
          </a:p>
          <a:p>
            <a:pPr lvl="1" marL="685800" indent="-228600">
              <a:spcBef>
                <a:spcPts val="300"/>
              </a:spcBef>
              <a:buFont typeface="Arial"/>
              <a:buChar char="•"/>
            </a:pPr>
            <a:r>
              <a:rPr lang="ja-JP" sz="2000" b="0">
                <a:latin typeface="游明朝"/>
                <a:ea typeface="游明朝"/>
              </a:rPr>
              <a:t>回答は同じでも，内部表現は変わる</a:t>
            </a:r>
            <a:endParaRPr lang="ja-JP" sz="2000"/>
          </a:p>
          <a:p>
            <a:pPr lvl="1" marL="685800" indent="-228600">
              <a:spcBef>
                <a:spcPts val="300"/>
              </a:spcBef>
              <a:buFont typeface="Arial"/>
              <a:buChar char="•"/>
            </a:pPr>
            <a:r>
              <a:rPr lang="ja-JP" sz="2000" b="0">
                <a:latin typeface="游明朝"/>
                <a:ea typeface="游明朝"/>
              </a:rPr>
              <a:t>平行移動・回転などの幾何的な加工：変化は小さい</a:t>
            </a:r>
            <a:endParaRPr lang="ja-JP" sz="2000"/>
          </a:p>
          <a:p>
            <a:pPr lvl="1" marL="685800" indent="-228600">
              <a:spcBef>
                <a:spcPts val="300"/>
              </a:spcBef>
              <a:buFont typeface="Arial"/>
              <a:buChar char="•"/>
            </a:pPr>
            <a:r>
              <a:rPr lang="ja-JP" sz="2000" b="0">
                <a:latin typeface="游明朝"/>
                <a:ea typeface="游明朝"/>
              </a:rPr>
              <a:t>文字の重ね書き：無関係な画像に替えたときの変化に迫ることがある</a:t>
            </a:r>
            <a:endParaRPr lang="ja-JP" sz="2000"/>
          </a:p>
          <a:p>
            <a:pPr marL="228600" indent="-228600">
              <a:spcBef>
                <a:spcPts val="900"/>
              </a:spcBef>
              <a:buFont typeface="Arial"/>
              <a:buChar char="•"/>
            </a:pPr>
            <a:r>
              <a:rPr lang="ja-JP" sz="2400" b="0">
                <a:latin typeface="游明朝"/>
                <a:ea typeface="游明朝"/>
              </a:rPr>
              <a:t>Wani らは対処法を示していない</a:t>
            </a:r>
            <a:endParaRPr lang="ja-JP" sz="2400"/>
          </a:p>
        </p:txBody>
      </p:sp>
      <p:sp>
        <p:nvSpPr>
          <p:cNvPr id="4" name="TextBox 4"/>
          <p:cNvSpPr txBox="1"/>
          <p:nvPr/>
        </p:nvSpPr>
        <p:spPr>
          <a:xfrm>
            <a:off x="841248" y="3671316"/>
            <a:ext cx="10515600" cy="85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ja-JP" sz="2400" b="0">
                <a:solidFill>
                  <a:srgbClr val="FF0000"/>
                </a:solidFill>
                <a:latin typeface="游明朝"/>
                <a:ea typeface="游明朝"/>
              </a:rPr>
              <a:t>今回の問い：proposal では，加工による第16層の内部表現の動きが小さくなるか</a:t>
            </a:r>
            <a:endParaRPr lang="ja-JP" sz="24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>
                <a:latin typeface="游明朝"/>
                <a:ea typeface="游明朝"/>
              </a:rPr>
              <a:t>加工の種類</a:t>
            </a:r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841248" y="1645920"/>
          <a:ext cx="10515600" cy="329184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554480"/>
                <a:gridCol w="2926080"/>
                <a:gridCol w="5394960"/>
                <a:gridCol w="6400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区分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族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通り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  <a:tr h="365760">
                <a:tc rowSpan="5"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幾何的な加工</a:t>
                      </a:r>
                    </a:p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5族</a:t>
                      </a:r>
                    </a:p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20通り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平行移動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左右に巡回シフト（±4–16画素，4画素刻み）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365760">
                <a:tc vMerge="1">
                  <a:txBody>
                    <a:bodyPr/>
                    <a:lstStyle/>
                    <a:p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余白付加と切り出し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四辺に余白を足す／削る（同じ8通り）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365760">
                <a:tc vMerge="1">
                  <a:txBody>
                    <a:bodyPr/>
                    <a:lstStyle/>
                    <a:p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縮小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0.9倍にして，元の解像度へ戻す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365760">
                <a:tc vMerge="1">
                  <a:txBody>
                    <a:bodyPr/>
                    <a:lstStyle/>
                    <a:p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縮小と余白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0.9倍にして，灰色の余白で元の寸法へ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365760">
                <a:tc vMerge="1">
                  <a:txBody>
                    <a:bodyPr/>
                    <a:lstStyle/>
                    <a:p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回転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±30°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365760">
                <a:tc rowSpan="3"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重ね書き</a:t>
                      </a:r>
                    </a:p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3族</a:t>
                      </a:r>
                    </a:p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3通り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指示文の重ね書き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白い箱に「Answer is yes」か「Answer is no」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365760">
                <a:tc vMerge="1">
                  <a:txBody>
                    <a:bodyPr/>
                    <a:lstStyle/>
                    <a:p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無作為な文字列の重ね書き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同じ白い箱に，同じ長さの無作為な文字列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365760">
                <a:tc vMerge="1">
                  <a:txBody>
                    <a:bodyPr/>
                    <a:lstStyle/>
                    <a:p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文字なしの重ね書き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同じ白い箱だけ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4" name="TextBox 4"/>
          <p:cNvSpPr txBox="1"/>
          <p:nvPr/>
        </p:nvSpPr>
        <p:spPr>
          <a:xfrm>
            <a:off x="841248" y="5074920"/>
            <a:ext cx="10515600" cy="12534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28600" indent="-228600">
              <a:spcBef>
                <a:spcPts val="0"/>
              </a:spcBef>
              <a:buFont typeface="Arial"/>
              <a:buChar char="•"/>
            </a:pPr>
            <a:r>
              <a:rPr lang="ja-JP" sz="2400" b="0">
                <a:latin typeface="游明朝"/>
                <a:ea typeface="游明朝"/>
              </a:rPr>
              <a:t>Wani ら[1]の8族・23通り → 報告用データ（学習に使っていない12,578問）すべてに施す</a:t>
            </a:r>
            <a:endParaRPr lang="ja-JP" sz="2400"/>
          </a:p>
          <a:p>
            <a:pPr marL="0" indent="0">
              <a:spcBef>
                <a:spcPts val="900"/>
              </a:spcBef>
              <a:buNone/>
            </a:pPr>
            <a:r>
              <a:rPr lang="ja-JP" sz="1800" b="0">
                <a:latin typeface="游明朝"/>
                <a:ea typeface="游明朝"/>
              </a:rPr>
              <a:t>原典に無い設定と，原典と変えた点：補足資料（参考文献の後）</a:t>
            </a:r>
            <a:endParaRPr lang="ja-JP" sz="18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>
                <a:latin typeface="游明朝"/>
                <a:ea typeface="游明朝"/>
              </a:rPr>
              <a:t>加工の例</a:t>
            </a:r>
          </a:p>
        </p:txBody>
      </p:sp>
      <p:pic>
        <p:nvPicPr>
          <p:cNvPr id="3" name="Picture 2" descr="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645920"/>
            <a:ext cx="1965960" cy="147447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" y="3138678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lang="ja-JP" sz="1800">
                <a:latin typeface="游明朝"/>
                <a:ea typeface="游明朝"/>
              </a:rPr>
              <a:t>元画像</a:t>
            </a:r>
          </a:p>
        </p:txBody>
      </p:sp>
      <p:pic>
        <p:nvPicPr>
          <p:cNvPr id="5" name="Picture 4" descr="translation+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0944" y="1645920"/>
            <a:ext cx="1965960" cy="14744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889503" y="3138678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lang="ja-JP" sz="1800">
                <a:latin typeface="游明朝"/>
                <a:ea typeface="游明朝"/>
              </a:rPr>
              <a:t>平行移動</a:t>
            </a:r>
          </a:p>
        </p:txBody>
      </p:sp>
      <p:pic>
        <p:nvPicPr>
          <p:cNvPr id="7" name="Picture 6" descr="pad_crop+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1645920"/>
            <a:ext cx="1965960" cy="150403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0" y="3138678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lang="ja-JP" sz="1800">
                <a:latin typeface="游明朝"/>
                <a:ea typeface="游明朝"/>
              </a:rPr>
              <a:t>余白付加</a:t>
            </a:r>
          </a:p>
        </p:txBody>
      </p:sp>
      <p:pic>
        <p:nvPicPr>
          <p:cNvPr id="9" name="Picture 8" descr="pad_crop-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0336" y="1645920"/>
            <a:ext cx="1965960" cy="1440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68896" y="3138678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lang="ja-JP" sz="1800">
                <a:latin typeface="游明朝"/>
                <a:ea typeface="游明朝"/>
              </a:rPr>
              <a:t>切り出し</a:t>
            </a:r>
          </a:p>
        </p:txBody>
      </p:sp>
      <p:pic>
        <p:nvPicPr>
          <p:cNvPr id="11" name="Picture 10" descr="scale_pad0.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0032" y="1645920"/>
            <a:ext cx="1965960" cy="147447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08592" y="3138678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lang="ja-JP" sz="1800">
                <a:latin typeface="游明朝"/>
                <a:ea typeface="游明朝"/>
              </a:rPr>
              <a:t>縮小と余白</a:t>
            </a:r>
          </a:p>
        </p:txBody>
      </p:sp>
      <p:pic>
        <p:nvPicPr>
          <p:cNvPr id="13" name="Picture 12" descr="rotation+3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1248" y="3657600"/>
            <a:ext cx="1965960" cy="147447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49808" y="5150357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lang="ja-JP" sz="1800">
                <a:latin typeface="游明朝"/>
                <a:ea typeface="游明朝"/>
              </a:rPr>
              <a:t>回転</a:t>
            </a:r>
          </a:p>
        </p:txBody>
      </p:sp>
      <p:pic>
        <p:nvPicPr>
          <p:cNvPr id="15" name="Picture 14" descr="text_overla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80944" y="3657600"/>
            <a:ext cx="1965960" cy="147447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889503" y="5150357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lang="ja-JP" sz="1800">
                <a:latin typeface="游明朝"/>
                <a:ea typeface="游明朝"/>
              </a:rPr>
              <a:t>指示文の</a:t>
            </a:r>
            <a:br>
              <a:rPr lang="ja-JP" sz="1800"/>
            </a:br>
            <a:r>
              <a:rPr lang="ja-JP" sz="1800">
                <a:latin typeface="游明朝"/>
                <a:ea typeface="游明朝"/>
              </a:rPr>
              <a:t>重ね書き</a:t>
            </a:r>
          </a:p>
        </p:txBody>
      </p:sp>
      <p:pic>
        <p:nvPicPr>
          <p:cNvPr id="17" name="Picture 16" descr="random_tex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20640" y="3657600"/>
            <a:ext cx="1965960" cy="147447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29200" y="5150357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lang="ja-JP" sz="1800">
                <a:latin typeface="游明朝"/>
                <a:ea typeface="游明朝"/>
              </a:rPr>
              <a:t>無作為な文字列の</a:t>
            </a:r>
            <a:br>
              <a:rPr lang="ja-JP" sz="1800"/>
            </a:br>
            <a:r>
              <a:rPr lang="ja-JP" sz="1800">
                <a:latin typeface="游明朝"/>
                <a:ea typeface="游明朝"/>
              </a:rPr>
              <a:t>重ね書き</a:t>
            </a:r>
          </a:p>
        </p:txBody>
      </p:sp>
      <p:pic>
        <p:nvPicPr>
          <p:cNvPr id="19" name="Picture 18" descr="box_overla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60336" y="3657600"/>
            <a:ext cx="1965960" cy="147447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168896" y="5150357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lang="ja-JP" sz="1800">
                <a:latin typeface="游明朝"/>
                <a:ea typeface="游明朝"/>
              </a:rPr>
              <a:t>文字なしの</a:t>
            </a:r>
            <a:br>
              <a:rPr lang="ja-JP" sz="1800"/>
            </a:br>
            <a:r>
              <a:rPr lang="ja-JP" sz="1800">
                <a:latin typeface="游明朝"/>
                <a:ea typeface="游明朝"/>
              </a:rPr>
              <a:t>重ね書き</a:t>
            </a:r>
          </a:p>
        </p:txBody>
      </p:sp>
      <p:pic>
        <p:nvPicPr>
          <p:cNvPr id="21" name="Picture 20" descr="other_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00032" y="3657600"/>
            <a:ext cx="1965960" cy="147447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308592" y="5150357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lang="ja-JP" sz="1800">
                <a:latin typeface="游明朝"/>
                <a:ea typeface="游明朝"/>
              </a:rPr>
              <a:t>別の画像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5879592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ja-JP" sz="1800" b="0">
                <a:latin typeface="游明朝"/>
                <a:ea typeface="游明朝"/>
              </a:rPr>
              <a:t>報告用データの問「Who is wearing the dress?」の画像（GQA[2]）に施した加工</a:t>
            </a:r>
            <a:endParaRPr lang="ja-JP" sz="18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>
                <a:latin typeface="游明朝"/>
                <a:ea typeface="游明朝"/>
              </a:rPr>
              <a:t>測る量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164592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28600" indent="-228600">
              <a:spcBef>
                <a:spcPts val="0"/>
              </a:spcBef>
              <a:buFont typeface="Arial"/>
              <a:buChar char="•"/>
            </a:pPr>
            <a:r>
              <a:rPr lang="ja-JP" sz="2400" b="0">
                <a:latin typeface="Cambria Math"/>
                <a:ea typeface="Cambria Math"/>
              </a:rPr>
              <a:t>ℎ</a:t>
            </a:r>
            <a:r>
              <a:rPr lang="ja-JP" sz="2400" b="0">
                <a:latin typeface="游明朝"/>
                <a:ea typeface="游明朝"/>
              </a:rPr>
              <a:t>：第16層の，質問を読み終えた位置の内部表現</a:t>
            </a:r>
            <a:endParaRPr lang="ja-JP" sz="2400"/>
          </a:p>
          <a:p>
            <a:pPr marL="228600" indent="-228600">
              <a:spcBef>
                <a:spcPts val="900"/>
              </a:spcBef>
              <a:buFont typeface="Arial"/>
              <a:buChar char="•"/>
            </a:pPr>
            <a:r>
              <a:rPr lang="ja-JP" sz="2400" b="0">
                <a:latin typeface="游明朝"/>
                <a:ea typeface="游明朝"/>
              </a:rPr>
              <a:t>距離 = 1 − cos(</a:t>
            </a:r>
            <a:r>
              <a:rPr lang="ja-JP" sz="2400" b="0">
                <a:latin typeface="Cambria Math"/>
                <a:ea typeface="Cambria Math"/>
              </a:rPr>
              <a:t>ℎ</a:t>
            </a:r>
            <a:r>
              <a:rPr lang="ja-JP" sz="2400" b="0">
                <a:latin typeface="游明朝"/>
                <a:ea typeface="游明朝"/>
              </a:rPr>
              <a:t>, </a:t>
            </a:r>
            <a:r>
              <a:rPr lang="ja-JP" sz="2400" b="0">
                <a:latin typeface="Cambria Math"/>
                <a:ea typeface="Cambria Math"/>
              </a:rPr>
              <a:t>ℎ′</a:t>
            </a:r>
            <a:r>
              <a:rPr lang="ja-JP" sz="2400" b="0">
                <a:latin typeface="游明朝"/>
                <a:ea typeface="游明朝"/>
              </a:rPr>
              <a:t>)（</a:t>
            </a:r>
            <a:r>
              <a:rPr lang="ja-JP" sz="2400" b="0">
                <a:latin typeface="Cambria Math"/>
                <a:ea typeface="Cambria Math"/>
              </a:rPr>
              <a:t>ℎ′</a:t>
            </a:r>
            <a:r>
              <a:rPr lang="ja-JP" sz="2400" b="0">
                <a:latin typeface="游明朝"/>
                <a:ea typeface="游明朝"/>
              </a:rPr>
              <a:t>：加工した画像のときの表現）</a:t>
            </a:r>
            <a:endParaRPr lang="ja-JP" sz="2400"/>
          </a:p>
        </p:txBody>
      </p:sp>
      <p:sp>
        <p:nvSpPr>
          <p:cNvPr id="4" name="Rounded Rectangle 3"/>
          <p:cNvSpPr/>
          <p:nvPr/>
        </p:nvSpPr>
        <p:spPr>
          <a:xfrm>
            <a:off x="841248" y="2770632"/>
            <a:ext cx="24231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marL="0" indent="0">
              <a:buNone/>
            </a:pPr>
            <a:r>
              <a:rPr lang="ja-JP" sz="2000">
                <a:solidFill>
                  <a:srgbClr val="000000"/>
                </a:solidFill>
                <a:latin typeface="游明朝"/>
                <a:ea typeface="游明朝"/>
              </a:rPr>
              <a:t>画像 + 質問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3730752"/>
            <a:ext cx="24231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marL="0" indent="0">
              <a:buNone/>
            </a:pPr>
            <a:r>
              <a:rPr lang="ja-JP" sz="2000">
                <a:solidFill>
                  <a:srgbClr val="000000"/>
                </a:solidFill>
                <a:latin typeface="游明朝"/>
                <a:ea typeface="游明朝"/>
              </a:rPr>
              <a:t>加工した画像</a:t>
            </a:r>
          </a:p>
          <a:p>
            <a:pPr marL="0" indent="0" algn="ctr">
              <a:buNone/>
            </a:pPr>
            <a:r>
              <a:rPr lang="ja-JP" sz="2000">
                <a:solidFill>
                  <a:srgbClr val="000000"/>
                </a:solidFill>
                <a:latin typeface="游明朝"/>
                <a:ea typeface="游明朝"/>
              </a:rPr>
              <a:t>+ 質問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4690872"/>
            <a:ext cx="24231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marL="0" indent="0">
              <a:buNone/>
            </a:pPr>
            <a:r>
              <a:rPr lang="ja-JP" sz="2000">
                <a:solidFill>
                  <a:srgbClr val="000000"/>
                </a:solidFill>
                <a:latin typeface="游明朝"/>
                <a:ea typeface="游明朝"/>
              </a:rPr>
              <a:t>別の画像 + 質問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64408" y="3159252"/>
            <a:ext cx="457200" cy="0"/>
          </a:xfrm>
          <a:prstGeom prst="line">
            <a:avLst/>
          </a:prstGeom>
          <a:ln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64408" y="4119372"/>
            <a:ext cx="457200" cy="0"/>
          </a:xfrm>
          <a:prstGeom prst="line">
            <a:avLst/>
          </a:prstGeom>
          <a:ln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264408" y="5079492"/>
            <a:ext cx="457200" cy="0"/>
          </a:xfrm>
          <a:prstGeom prst="line">
            <a:avLst/>
          </a:prstGeom>
          <a:ln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767328" y="2770632"/>
            <a:ext cx="1463040" cy="26974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marL="0" indent="0">
              <a:buNone/>
            </a:pPr>
            <a:r>
              <a:rPr lang="ja-JP" sz="2000">
                <a:solidFill>
                  <a:srgbClr val="FFFFFF"/>
                </a:solidFill>
                <a:latin typeface="游明朝"/>
                <a:ea typeface="游明朝"/>
              </a:rPr>
              <a:t>VLM</a:t>
            </a:r>
          </a:p>
          <a:p>
            <a:pPr marL="0" indent="0" algn="ctr">
              <a:buNone/>
            </a:pPr>
            <a:r>
              <a:rPr lang="ja-JP" sz="2000">
                <a:solidFill>
                  <a:srgbClr val="FFFFFF"/>
                </a:solidFill>
                <a:latin typeface="游明朝"/>
                <a:ea typeface="游明朝"/>
              </a:rPr>
              <a:t>（各群の</a:t>
            </a:r>
          </a:p>
          <a:p>
            <a:pPr marL="0" indent="0" algn="ctr">
              <a:buNone/>
            </a:pPr>
            <a:r>
              <a:rPr lang="ja-JP" sz="2000">
                <a:solidFill>
                  <a:srgbClr val="FFFFFF"/>
                </a:solidFill>
                <a:latin typeface="游明朝"/>
                <a:ea typeface="游明朝"/>
              </a:rPr>
              <a:t>学習済み）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76088" y="3159252"/>
            <a:ext cx="457200" cy="0"/>
          </a:xfrm>
          <a:prstGeom prst="line">
            <a:avLst/>
          </a:prstGeom>
          <a:ln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779008" y="2884932"/>
            <a:ext cx="822960" cy="548640"/>
          </a:xfrm>
          <a:prstGeom prst="roundRect">
            <a:avLst/>
          </a:prstGeom>
          <a:solidFill>
            <a:srgbClr val="FFFFFF"/>
          </a:solidFill>
          <a:ln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marL="0" indent="0">
              <a:buNone/>
            </a:pPr>
            <a:r>
              <a:rPr lang="ja-JP" sz="2000">
                <a:solidFill>
                  <a:srgbClr val="000000"/>
                </a:solidFill>
                <a:latin typeface="Cambria Math"/>
                <a:ea typeface="Cambria Math"/>
              </a:rPr>
              <a:t>ℎ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276088" y="4119372"/>
            <a:ext cx="457200" cy="0"/>
          </a:xfrm>
          <a:prstGeom prst="line">
            <a:avLst/>
          </a:prstGeom>
          <a:ln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779008" y="3845052"/>
            <a:ext cx="822960" cy="548640"/>
          </a:xfrm>
          <a:prstGeom prst="roundRect">
            <a:avLst/>
          </a:prstGeom>
          <a:solidFill>
            <a:srgbClr val="FFFFFF"/>
          </a:solidFill>
          <a:ln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marL="0" indent="0">
              <a:buNone/>
            </a:pPr>
            <a:r>
              <a:rPr lang="ja-JP" sz="2000">
                <a:solidFill>
                  <a:srgbClr val="000000"/>
                </a:solidFill>
                <a:latin typeface="Cambria Math"/>
                <a:ea typeface="Cambria Math"/>
              </a:rPr>
              <a:t>ℎ′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276088" y="5079492"/>
            <a:ext cx="457200" cy="0"/>
          </a:xfrm>
          <a:prstGeom prst="line">
            <a:avLst/>
          </a:prstGeom>
          <a:ln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779008" y="4805172"/>
            <a:ext cx="822960" cy="548640"/>
          </a:xfrm>
          <a:prstGeom prst="roundRect">
            <a:avLst/>
          </a:prstGeom>
          <a:solidFill>
            <a:srgbClr val="FFFFFF"/>
          </a:solidFill>
          <a:ln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marL="0" indent="0">
              <a:buNone/>
            </a:pPr>
            <a:r>
              <a:rPr lang="ja-JP" sz="2000">
                <a:solidFill>
                  <a:srgbClr val="000000"/>
                </a:solidFill>
                <a:latin typeface="Cambria Math"/>
                <a:ea typeface="Cambria Math"/>
              </a:rPr>
              <a:t>ℎ″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816352"/>
            <a:ext cx="448056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ja-JP" sz="2400" b="0">
                <a:latin typeface="游明朝"/>
                <a:ea typeface="游明朝"/>
              </a:rPr>
              <a:t>比 = 距離(</a:t>
            </a:r>
            <a:r>
              <a:rPr lang="ja-JP" sz="2400" b="0">
                <a:latin typeface="Cambria Math"/>
                <a:ea typeface="Cambria Math"/>
              </a:rPr>
              <a:t>ℎ</a:t>
            </a:r>
            <a:r>
              <a:rPr lang="ja-JP" sz="2400" b="0">
                <a:latin typeface="游明朝"/>
                <a:ea typeface="游明朝"/>
              </a:rPr>
              <a:t>, </a:t>
            </a:r>
            <a:r>
              <a:rPr lang="ja-JP" sz="2400" b="0">
                <a:latin typeface="Cambria Math"/>
                <a:ea typeface="Cambria Math"/>
              </a:rPr>
              <a:t>ℎ′</a:t>
            </a:r>
            <a:r>
              <a:rPr lang="ja-JP" sz="2400" b="0">
                <a:latin typeface="游明朝"/>
                <a:ea typeface="游明朝"/>
              </a:rPr>
              <a:t>) の平均</a:t>
            </a:r>
            <a:endParaRPr lang="ja-JP" sz="2400"/>
          </a:p>
          <a:p>
            <a:pPr marL="0" indent="0">
              <a:spcBef>
                <a:spcPts val="900"/>
              </a:spcBef>
              <a:buNone/>
            </a:pPr>
            <a:r>
              <a:rPr lang="ja-JP" sz="2400" b="0">
                <a:latin typeface="游明朝"/>
                <a:ea typeface="游明朝"/>
              </a:rPr>
              <a:t>　　 ÷ 距離(</a:t>
            </a:r>
            <a:r>
              <a:rPr lang="ja-JP" sz="2400" b="0">
                <a:latin typeface="Cambria Math"/>
                <a:ea typeface="Cambria Math"/>
              </a:rPr>
              <a:t>ℎ</a:t>
            </a:r>
            <a:r>
              <a:rPr lang="ja-JP" sz="2400" b="0">
                <a:latin typeface="游明朝"/>
                <a:ea typeface="游明朝"/>
              </a:rPr>
              <a:t>, </a:t>
            </a:r>
            <a:r>
              <a:rPr lang="ja-JP" sz="2400" b="0">
                <a:latin typeface="Cambria Math"/>
                <a:ea typeface="Cambria Math"/>
              </a:rPr>
              <a:t>ℎ″</a:t>
            </a:r>
            <a:r>
              <a:rPr lang="ja-JP" sz="2400" b="0">
                <a:latin typeface="游明朝"/>
                <a:ea typeface="游明朝"/>
              </a:rPr>
              <a:t>) の平均</a:t>
            </a:r>
            <a:endParaRPr lang="ja-JP" sz="2400"/>
          </a:p>
          <a:p>
            <a:pPr marL="0" indent="0">
              <a:spcBef>
                <a:spcPts val="900"/>
              </a:spcBef>
              <a:buNone/>
            </a:pPr>
            <a:r>
              <a:rPr lang="ja-JP" sz="2000" b="0">
                <a:latin typeface="Cambria Math"/>
                <a:ea typeface="Cambria Math"/>
              </a:rPr>
              <a:t>ℎ″</a:t>
            </a:r>
            <a:r>
              <a:rPr lang="ja-JP" sz="2000" b="0">
                <a:latin typeface="游明朝"/>
                <a:ea typeface="游明朝"/>
              </a:rPr>
              <a:t>：同じ質問・別の画像（対照）</a:t>
            </a:r>
            <a:endParaRPr lang="ja-JP" sz="2000"/>
          </a:p>
          <a:p>
            <a:pPr marL="0" indent="0">
              <a:spcBef>
                <a:spcPts val="900"/>
              </a:spcBef>
              <a:buNone/>
            </a:pPr>
            <a:r>
              <a:rPr lang="ja-JP" sz="2000" b="0">
                <a:latin typeface="游明朝"/>
                <a:ea typeface="游明朝"/>
              </a:rPr>
              <a:t>比：加工による動きが，対照の動きの何%か</a:t>
            </a:r>
            <a:endParaRPr lang="ja-JP" sz="2000"/>
          </a:p>
          <a:p>
            <a:pPr marL="0" indent="0">
              <a:spcBef>
                <a:spcPts val="900"/>
              </a:spcBef>
              <a:buNone/>
            </a:pPr>
            <a:r>
              <a:rPr lang="ja-JP" sz="2000" b="0">
                <a:latin typeface="游明朝"/>
                <a:ea typeface="游明朝"/>
              </a:rPr>
              <a:t>小さいほど，別の画像に替えたときより加工で動かない</a:t>
            </a:r>
            <a:endParaRPr lang="ja-JP" sz="2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>
                <a:latin typeface="游明朝"/>
                <a:ea typeface="游明朝"/>
              </a:rPr>
              <a:t>なぜ距離ではなく比で比べるか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1645920"/>
            <a:ext cx="10515600" cy="2352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28600" indent="-228600">
              <a:spcBef>
                <a:spcPts val="0"/>
              </a:spcBef>
              <a:buFont typeface="Arial"/>
              <a:buChar char="•"/>
            </a:pPr>
            <a:r>
              <a:rPr lang="ja-JP" sz="2400" b="0">
                <a:latin typeface="游明朝"/>
                <a:ea typeface="游明朝"/>
              </a:rPr>
              <a:t>距離そのもの：群の間で比べにくい</a:t>
            </a:r>
            <a:endParaRPr lang="ja-JP" sz="2400"/>
          </a:p>
          <a:p>
            <a:pPr lvl="1" marL="685800" indent="-228600">
              <a:spcBef>
                <a:spcPts val="300"/>
              </a:spcBef>
              <a:buFont typeface="Arial"/>
              <a:buChar char="•"/>
            </a:pPr>
            <a:r>
              <a:rPr lang="ja-JP" sz="2000" b="0">
                <a:latin typeface="游明朝"/>
                <a:ea typeface="游明朝"/>
              </a:rPr>
              <a:t>署名が異なる質問どうしの類似度：baseline 0.92 → proposal 0.22</a:t>
            </a:r>
            <a:endParaRPr lang="ja-JP" sz="2000"/>
          </a:p>
          <a:p>
            <a:pPr lvl="1" marL="685800" indent="-228600">
              <a:spcBef>
                <a:spcPts val="300"/>
              </a:spcBef>
              <a:buFont typeface="Arial"/>
              <a:buChar char="•"/>
            </a:pPr>
            <a:r>
              <a:rPr lang="ja-JP" sz="2000" b="0">
                <a:latin typeface="游明朝"/>
                <a:ea typeface="游明朝"/>
              </a:rPr>
              <a:t>内部表現の広がり方が，群ごとに違う</a:t>
            </a:r>
            <a:endParaRPr lang="ja-JP" sz="2000"/>
          </a:p>
          <a:p>
            <a:pPr marL="228600" indent="-228600">
              <a:spcBef>
                <a:spcPts val="900"/>
              </a:spcBef>
              <a:buFont typeface="Arial"/>
              <a:buChar char="•"/>
            </a:pPr>
            <a:r>
              <a:rPr lang="ja-JP" sz="2400" b="0">
                <a:latin typeface="游明朝"/>
                <a:ea typeface="游明朝"/>
              </a:rPr>
              <a:t>対照の距離で割った比で比べる（Wani ら[1]と同じ計算）</a:t>
            </a:r>
            <a:endParaRPr lang="ja-JP" sz="2400"/>
          </a:p>
          <a:p>
            <a:pPr lvl="1" marL="685800" indent="-228600">
              <a:spcBef>
                <a:spcPts val="300"/>
              </a:spcBef>
              <a:buFont typeface="Arial"/>
              <a:buChar char="•"/>
            </a:pPr>
            <a:r>
              <a:rPr lang="ja-JP" sz="2000" b="0">
                <a:latin typeface="游明朝"/>
                <a:ea typeface="游明朝"/>
              </a:rPr>
              <a:t>対照の作り方は Wani らから変えた（補足資料）</a:t>
            </a:r>
            <a:endParaRPr lang="ja-JP" sz="2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>
                <a:latin typeface="游明朝"/>
                <a:ea typeface="游明朝"/>
              </a:rPr>
              <a:t>判定に使う量と，あわせて見る量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1645920"/>
            <a:ext cx="10515600" cy="472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ja-JP" sz="2400" b="0">
                <a:solidFill>
                  <a:srgbClr val="FF0000"/>
                </a:solidFill>
                <a:latin typeface="游明朝"/>
                <a:ea typeface="游明朝"/>
              </a:rPr>
              <a:t>判定に使う量：第16層の，23通りすべての比</a:t>
            </a:r>
            <a:endParaRPr lang="ja-JP" sz="2400"/>
          </a:p>
        </p:txBody>
      </p:sp>
      <p:sp>
        <p:nvSpPr>
          <p:cNvPr id="4" name="TextBox 4"/>
          <p:cNvSpPr txBox="1"/>
          <p:nvPr/>
        </p:nvSpPr>
        <p:spPr>
          <a:xfrm>
            <a:off x="841248" y="2164385"/>
            <a:ext cx="10515600" cy="18567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28600" indent="-228600">
              <a:spcBef>
                <a:spcPts val="0"/>
              </a:spcBef>
              <a:buFont typeface="Arial"/>
              <a:buChar char="•"/>
            </a:pPr>
            <a:r>
              <a:rPr lang="ja-JP" sz="2400" b="0">
                <a:latin typeface="游明朝"/>
                <a:ea typeface="游明朝"/>
              </a:rPr>
              <a:t>あわせて見る量</a:t>
            </a:r>
            <a:endParaRPr lang="ja-JP" sz="2400"/>
          </a:p>
          <a:p>
            <a:pPr lvl="1" marL="685800" indent="-228600">
              <a:spcBef>
                <a:spcPts val="300"/>
              </a:spcBef>
              <a:buFont typeface="Arial"/>
              <a:buChar char="•"/>
            </a:pPr>
            <a:r>
              <a:rPr lang="ja-JP" sz="2000" b="0">
                <a:latin typeface="游明朝"/>
                <a:ea typeface="游明朝"/>
              </a:rPr>
              <a:t>第16層の，加工による距離（比にする前の距離そのもの）</a:t>
            </a:r>
            <a:endParaRPr lang="ja-JP" sz="2000"/>
          </a:p>
          <a:p>
            <a:pPr lvl="1" marL="685800" indent="-228600">
              <a:spcBef>
                <a:spcPts val="300"/>
              </a:spcBef>
              <a:buFont typeface="Arial"/>
              <a:buChar char="•"/>
            </a:pPr>
            <a:r>
              <a:rPr lang="ja-JP" sz="2000" b="0">
                <a:latin typeface="游明朝"/>
                <a:ea typeface="游明朝"/>
              </a:rPr>
              <a:t>第32層（最終層．Wani らが測った位置）の比と距離</a:t>
            </a:r>
            <a:endParaRPr lang="ja-JP" sz="2000"/>
          </a:p>
          <a:p>
            <a:pPr lvl="1" marL="685800" indent="-228600">
              <a:spcBef>
                <a:spcPts val="300"/>
              </a:spcBef>
              <a:buFont typeface="Arial"/>
              <a:buChar char="•"/>
            </a:pPr>
            <a:r>
              <a:rPr lang="ja-JP" sz="2000" b="0">
                <a:latin typeface="游明朝"/>
                <a:ea typeface="游明朝"/>
              </a:rPr>
              <a:t>加工で回答が変わった割合（Wani らの instance flip rate）</a:t>
            </a:r>
            <a:endParaRPr lang="ja-JP" sz="20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>
                <a:latin typeface="游明朝"/>
                <a:ea typeface="游明朝"/>
              </a:rPr>
              <a:t>群の差の読み方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1645920"/>
            <a:ext cx="10515600" cy="472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28600" indent="-228600">
              <a:spcBef>
                <a:spcPts val="0"/>
              </a:spcBef>
              <a:buFont typeface="Arial"/>
              <a:buChar char="•"/>
            </a:pPr>
            <a:r>
              <a:rPr lang="ja-JP" sz="2400" b="0">
                <a:latin typeface="游明朝"/>
                <a:ea typeface="游明朝"/>
              </a:rPr>
              <a:t>群の差：乱数種ごとの差の平均と，95%信頼区間</a:t>
            </a:r>
            <a:endParaRPr lang="ja-JP" sz="2400"/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841248" y="2255825"/>
          <a:ext cx="10515600" cy="109728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657600"/>
                <a:gridCol w="68580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95%信頼区間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読み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0を含まない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差の向きが決まる（以下，太字で示す）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0を含む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向きを決められない（差が無いのではない）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5" name="TextBox 5"/>
          <p:cNvSpPr txBox="1"/>
          <p:nvPr/>
        </p:nvSpPr>
        <p:spPr>
          <a:xfrm>
            <a:off x="841248" y="3490265"/>
            <a:ext cx="10515600" cy="85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28600" indent="-228600">
              <a:spcBef>
                <a:spcPts val="0"/>
              </a:spcBef>
              <a:buFont typeface="Arial"/>
              <a:buChar char="•"/>
            </a:pPr>
            <a:r>
              <a:rPr lang="ja-JP" sz="2400" b="0">
                <a:latin typeface="游明朝"/>
                <a:ea typeface="游明朝"/>
              </a:rPr>
              <a:t>署名ラベルの効果と言えるのは：proposal が baseline とも ablation とも違うとき</a:t>
            </a:r>
            <a:endParaRPr lang="ja-JP" sz="24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>
                <a:latin typeface="游明朝"/>
                <a:ea typeface="游明朝"/>
              </a:rPr>
              <a:t>測る前に決めた読み方（10月23日）</a:t>
            </a:r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841248" y="1645920"/>
          <a:ext cx="10515600" cy="146304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4572000"/>
                <a:gridCol w="5943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proposal の比（baseline と比べて）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読み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小さい（ablation では小さくならない）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整合は，比で見た安定性を高める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差が無い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整合が変えるのは，表現の形式だけ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大きい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署名ごとに表現を引き離した副作用で，脆くなる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>
                <a:latin typeface="游明朝"/>
                <a:ea typeface="游明朝"/>
              </a:rPr>
              <a:t>結果の一覧（23通りすべて）</a:t>
            </a:r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841248" y="1645920"/>
          <a:ext cx="10515600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4206240"/>
                <a:gridCol w="3154680"/>
                <a:gridCol w="31546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測った量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proposal − baseline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proposal − ablation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第16層：加工による動きの比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−5.66pt [−13.01, +1.69]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1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−9.95pt [−13.82, −6.07]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第16層：加工による距離（×10⁻³）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1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+1.95 [+0.86, +3.04]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1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+2.61 [+1.85, +3.37]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第32層：加工による動きの比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1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−0.31pt [−0.47, −0.15]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+0.11pt [−1.02, +1.24]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第32層：加工による距離（×10⁻³）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1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−3.00 [−5.05, −0.95]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1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−2.74 [−3.89, −1.59]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加工で回答が変わった割合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−0.20pt [−1.48, +1.08]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−0.04pt [−0.60, +0.52]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4" name="TextBox 4"/>
          <p:cNvSpPr txBox="1"/>
          <p:nvPr/>
        </p:nvSpPr>
        <p:spPr>
          <a:xfrm>
            <a:off x="841248" y="3986784"/>
            <a:ext cx="10515600" cy="3771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ja-JP" sz="1800" b="0">
                <a:latin typeface="游明朝"/>
                <a:ea typeface="游明朝"/>
              </a:rPr>
              <a:t>差の平均 [95%信頼区間]．太字は区間が0を含まない</a:t>
            </a:r>
            <a:endParaRPr lang="ja-JP" sz="1800"/>
          </a:p>
        </p:txBody>
      </p:sp>
      <p:sp>
        <p:nvSpPr>
          <p:cNvPr id="5" name="TextBox 5"/>
          <p:cNvSpPr txBox="1"/>
          <p:nvPr/>
        </p:nvSpPr>
        <p:spPr>
          <a:xfrm>
            <a:off x="841248" y="4436669"/>
            <a:ext cx="10515600" cy="13487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ja-JP" sz="2400" b="0">
                <a:solidFill>
                  <a:srgbClr val="FF0000"/>
                </a:solidFill>
                <a:latin typeface="游明朝"/>
                <a:ea typeface="游明朝"/>
              </a:rPr>
              <a:t>第16層：比では proposal が小さく，距離では proposal がよく動く</a:t>
            </a:r>
            <a:endParaRPr lang="ja-JP" sz="2400"/>
          </a:p>
          <a:p>
            <a:pPr marL="0" indent="0">
              <a:spcBef>
                <a:spcPts val="900"/>
              </a:spcBef>
              <a:buNone/>
            </a:pPr>
            <a:r>
              <a:rPr lang="ja-JP" sz="2400" b="0">
                <a:solidFill>
                  <a:srgbClr val="FF0000"/>
                </a:solidFill>
                <a:latin typeface="游明朝"/>
                <a:ea typeface="游明朝"/>
              </a:rPr>
              <a:t>第32層：proposal がやや動きにくい／回答：差は見られない</a:t>
            </a:r>
            <a:endParaRPr lang="ja-JP" sz="24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>
                <a:latin typeface="游明朝"/>
                <a:ea typeface="游明朝"/>
              </a:rPr>
              <a:t>測る前に決めた読み方に照らすと</a:t>
            </a:r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841248" y="1645920"/>
          <a:ext cx="10515600" cy="109728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566160"/>
                <a:gridCol w="5120640"/>
                <a:gridCol w="18288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測る前に決めた条件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結果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判定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proposal の比 &lt; ablation の比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区間が0を含まない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満たす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proposal の比 &lt; baseline の比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3乱数種とも負（−4.30／−9.06／−3.62pt）</a:t>
                      </a:r>
                    </a:p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ただし区間は0を含む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決まらない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4" name="TextBox 4"/>
          <p:cNvSpPr txBox="1"/>
          <p:nvPr/>
        </p:nvSpPr>
        <p:spPr>
          <a:xfrm>
            <a:off x="841248" y="3054096"/>
            <a:ext cx="10515600" cy="472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28600" indent="-228600">
              <a:spcBef>
                <a:spcPts val="0"/>
              </a:spcBef>
              <a:buFont typeface="Arial"/>
              <a:buChar char="•"/>
            </a:pPr>
            <a:r>
              <a:rPr lang="ja-JP" sz="2400" b="0">
                <a:latin typeface="游明朝"/>
                <a:ea typeface="游明朝"/>
              </a:rPr>
              <a:t>脆くなったとしても，その幅は +1.69pt以内</a:t>
            </a:r>
            <a:endParaRPr lang="ja-JP" sz="2400"/>
          </a:p>
        </p:txBody>
      </p:sp>
      <p:sp>
        <p:nvSpPr>
          <p:cNvPr id="5" name="TextBox 5"/>
          <p:cNvSpPr txBox="1"/>
          <p:nvPr/>
        </p:nvSpPr>
        <p:spPr>
          <a:xfrm>
            <a:off x="841248" y="3599993"/>
            <a:ext cx="10515600" cy="472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ja-JP" sz="2400" b="0">
                <a:solidFill>
                  <a:srgbClr val="FF0000"/>
                </a:solidFill>
                <a:latin typeface="游明朝"/>
                <a:ea typeface="游明朝"/>
              </a:rPr>
              <a:t>→ 測る前に決めた読み方の，どの行にも当たらない</a:t>
            </a:r>
            <a:endParaRPr lang="ja-JP" sz="24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>
                <a:latin typeface="游明朝"/>
                <a:ea typeface="游明朝"/>
              </a:rPr>
              <a:t>族ごとの比（第16層）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841248" y="1645920"/>
          <a:ext cx="10515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41248" y="5093208"/>
            <a:ext cx="105156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28600" indent="-228600">
              <a:spcBef>
                <a:spcPts val="0"/>
              </a:spcBef>
              <a:buFont typeface="Arial"/>
              <a:buChar char="•"/>
            </a:pPr>
            <a:r>
              <a:rPr lang="ja-JP" sz="2400" b="0">
                <a:latin typeface="游明朝"/>
                <a:ea typeface="游明朝"/>
              </a:rPr>
              <a:t>左5族：幾何的な加工／右3族：重ね書き／右端：23通りすべて</a:t>
            </a:r>
            <a:endParaRPr lang="ja-JP" sz="2400"/>
          </a:p>
          <a:p>
            <a:pPr marL="228600" indent="-228600">
              <a:spcBef>
                <a:spcPts val="900"/>
              </a:spcBef>
              <a:buFont typeface="Arial"/>
              <a:buChar char="•"/>
            </a:pPr>
            <a:r>
              <a:rPr lang="ja-JP" sz="2400" b="0">
                <a:latin typeface="游明朝"/>
                <a:ea typeface="游明朝"/>
              </a:rPr>
              <a:t>proposal − baseline の区間が0を外れる族：余白付加と切り出し，回転</a:t>
            </a:r>
            <a:endParaRPr lang="ja-JP" sz="2400"/>
          </a:p>
          <a:p>
            <a:pPr marL="0" indent="0">
              <a:spcBef>
                <a:spcPts val="900"/>
              </a:spcBef>
              <a:buNone/>
            </a:pPr>
            <a:r>
              <a:rPr lang="ja-JP" sz="1800" b="0">
                <a:latin typeface="游明朝"/>
                <a:ea typeface="游明朝"/>
              </a:rPr>
              <a:t>族ごとの区間は8つ作るので，偶然0を外れうる．判定は23通りすべてで行う</a:t>
            </a:r>
            <a:endParaRPr lang="ja-JP" sz="18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>
                <a:latin typeface="游明朝"/>
                <a:ea typeface="游明朝"/>
              </a:rPr>
              <a:t>分母とまとめ方を変えた比（第16層）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1645920"/>
            <a:ext cx="10515600" cy="13487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28600" indent="-228600">
              <a:spcBef>
                <a:spcPts val="0"/>
              </a:spcBef>
              <a:buFont typeface="Arial"/>
              <a:buChar char="•"/>
            </a:pPr>
            <a:r>
              <a:rPr lang="ja-JP" sz="2400" b="0">
                <a:latin typeface="游明朝"/>
                <a:ea typeface="游明朝"/>
              </a:rPr>
              <a:t>proposal の距離の平均は baseline の：加工で約3倍，対照で約5倍</a:t>
            </a:r>
            <a:endParaRPr lang="ja-JP" sz="2400"/>
          </a:p>
          <a:p>
            <a:pPr marL="0" indent="0">
              <a:spcBef>
                <a:spcPts val="900"/>
              </a:spcBef>
              <a:buNone/>
            </a:pPr>
            <a:r>
              <a:rPr lang="ja-JP" sz="2400" b="0">
                <a:latin typeface="游明朝"/>
                <a:ea typeface="游明朝"/>
              </a:rPr>
              <a:t>→ 比が下がったのは，分母のほうが大きく伸びたため</a:t>
            </a:r>
            <a:endParaRPr lang="ja-JP" sz="2400"/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841248" y="2729484"/>
          <a:ext cx="10515600" cy="18288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5394960"/>
                <a:gridCol w="237744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比の作り方（第16層，23通り）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proposal − baseline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95%信頼区間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判定に使う比（平均 ÷ 平均）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−5.66pt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[−13.01, +1.69]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平均を中央値に替える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−2.44pt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[−5.35, +0.47]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問ごとに割ってから，幾何平均する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−2.66pt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[−5.97, +0.66]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対照の距離が上位1%の問を除く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−5.55pt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[−13.05, +1.96]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5" name="TextBox 5"/>
          <p:cNvSpPr txBox="1"/>
          <p:nvPr/>
        </p:nvSpPr>
        <p:spPr>
          <a:xfrm>
            <a:off x="841248" y="4695444"/>
            <a:ext cx="10515600" cy="9677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ja-JP" sz="2400" b="0">
                <a:solidFill>
                  <a:srgbClr val="FF0000"/>
                </a:solidFill>
                <a:latin typeface="游明朝"/>
                <a:ea typeface="游明朝"/>
              </a:rPr>
              <a:t>どの作り方でも proposal が小さいが，区間はどれも0を含む</a:t>
            </a:r>
            <a:endParaRPr lang="ja-JP" sz="2400"/>
          </a:p>
          <a:p>
            <a:pPr marL="0" indent="0">
              <a:spcBef>
                <a:spcPts val="900"/>
              </a:spcBef>
              <a:buNone/>
            </a:pPr>
            <a:r>
              <a:rPr lang="ja-JP" sz="2400" b="0">
                <a:latin typeface="游明朝"/>
                <a:ea typeface="游明朝"/>
              </a:rPr>
              <a:t>差の大きさは，作り方で約2倍変わる</a:t>
            </a:r>
            <a:endParaRPr lang="ja-JP" sz="24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>
                <a:latin typeface="游明朝"/>
                <a:ea typeface="游明朝"/>
              </a:rPr>
              <a:t>加工で回答は変わったか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1645920"/>
            <a:ext cx="10515600" cy="13487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28600" indent="-228600">
              <a:spcBef>
                <a:spcPts val="0"/>
              </a:spcBef>
              <a:buFont typeface="Arial"/>
              <a:buChar char="•"/>
            </a:pPr>
            <a:r>
              <a:rPr lang="ja-JP" sz="2400" b="0">
                <a:latin typeface="游明朝"/>
                <a:ea typeface="游明朝"/>
              </a:rPr>
              <a:t>幾何的な加工（5族）：3群の差は見られない</a:t>
            </a:r>
            <a:endParaRPr lang="ja-JP" sz="2400"/>
          </a:p>
          <a:p>
            <a:pPr marL="228600" indent="-228600">
              <a:spcBef>
                <a:spcPts val="900"/>
              </a:spcBef>
              <a:buFont typeface="Arial"/>
              <a:buChar char="•"/>
            </a:pPr>
            <a:r>
              <a:rPr lang="ja-JP" sz="2400" b="0">
                <a:latin typeface="游明朝"/>
                <a:ea typeface="游明朝"/>
              </a:rPr>
              <a:t>文字のある重ね書き（2族）：proposal も ablation も変わりにくい</a:t>
            </a:r>
            <a:endParaRPr lang="ja-JP" sz="2400"/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841248" y="2747772"/>
          <a:ext cx="10515600" cy="109728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4206240"/>
                <a:gridCol w="2103120"/>
                <a:gridCol w="2103120"/>
                <a:gridCol w="210312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加工で回答が変わった割合（%）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baseline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proposal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ablation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指示文の重ね書き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12.92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11.71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11.57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無作為な文字列の重ね書き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13.00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11.65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11.44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5" name="TextBox 5"/>
          <p:cNvSpPr txBox="1"/>
          <p:nvPr/>
        </p:nvSpPr>
        <p:spPr>
          <a:xfrm>
            <a:off x="841248" y="3982212"/>
            <a:ext cx="10515600" cy="13487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28600" indent="-228600">
              <a:spcBef>
                <a:spcPts val="0"/>
              </a:spcBef>
              <a:buFont typeface="Arial"/>
              <a:buChar char="•"/>
            </a:pPr>
            <a:r>
              <a:rPr lang="ja-JP" sz="2400" b="0">
                <a:latin typeface="游明朝"/>
                <a:ea typeface="游明朝"/>
              </a:rPr>
              <a:t>baseline との差：proposal も ablation も，区間が0を含まない</a:t>
            </a:r>
            <a:endParaRPr lang="ja-JP" sz="2400"/>
          </a:p>
          <a:p>
            <a:pPr marL="228600" indent="-228600">
              <a:spcBef>
                <a:spcPts val="900"/>
              </a:spcBef>
              <a:buFont typeface="Arial"/>
              <a:buChar char="•"/>
            </a:pPr>
            <a:r>
              <a:rPr lang="ja-JP" sz="2400" b="0">
                <a:latin typeface="游明朝"/>
                <a:ea typeface="游明朝"/>
              </a:rPr>
              <a:t>proposal − ablation：区間が0を含む</a:t>
            </a:r>
            <a:endParaRPr lang="ja-JP" sz="2400"/>
          </a:p>
        </p:txBody>
      </p:sp>
      <p:sp>
        <p:nvSpPr>
          <p:cNvPr id="6" name="TextBox 6"/>
          <p:cNvSpPr txBox="1"/>
          <p:nvPr/>
        </p:nvSpPr>
        <p:spPr>
          <a:xfrm>
            <a:off x="841248" y="5001768"/>
            <a:ext cx="10515600" cy="472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ja-JP" sz="2400" b="0">
                <a:solidFill>
                  <a:srgbClr val="FF0000"/>
                </a:solidFill>
                <a:latin typeface="游明朝"/>
                <a:ea typeface="游明朝"/>
              </a:rPr>
              <a:t>→ 署名ラベルには帰せず，対照学習の項の効果と読める</a:t>
            </a:r>
            <a:endParaRPr lang="ja-JP" sz="2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>
                <a:latin typeface="游明朝"/>
                <a:ea typeface="游明朝"/>
              </a:rPr>
              <a:t>まとめ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1645920"/>
            <a:ext cx="10515600" cy="2174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28600" indent="-228600">
              <a:spcBef>
                <a:spcPts val="0"/>
              </a:spcBef>
              <a:buFont typeface="Arial"/>
              <a:buChar char="•"/>
            </a:pPr>
            <a:r>
              <a:rPr lang="ja-JP" sz="2400" b="0">
                <a:latin typeface="游明朝"/>
                <a:ea typeface="游明朝"/>
              </a:rPr>
              <a:t>第16層の比：proposal は ablation より小さい</a:t>
            </a:r>
            <a:endParaRPr lang="ja-JP" sz="2400"/>
          </a:p>
          <a:p>
            <a:pPr marL="228600" indent="-228600">
              <a:spcBef>
                <a:spcPts val="900"/>
              </a:spcBef>
              <a:buFont typeface="Arial"/>
              <a:buChar char="•"/>
            </a:pPr>
            <a:r>
              <a:rPr lang="ja-JP" sz="2400" b="0">
                <a:latin typeface="游明朝"/>
                <a:ea typeface="游明朝"/>
              </a:rPr>
              <a:t>baseline との差：向きを決められない</a:t>
            </a:r>
            <a:endParaRPr lang="ja-JP" sz="2400"/>
          </a:p>
          <a:p>
            <a:pPr lvl="1" marL="685800" indent="-228600">
              <a:spcBef>
                <a:spcPts val="300"/>
              </a:spcBef>
              <a:buFont typeface="Arial"/>
              <a:buChar char="•"/>
            </a:pPr>
            <a:r>
              <a:rPr lang="ja-JP" sz="2000" b="0">
                <a:latin typeface="游明朝"/>
                <a:ea typeface="游明朝"/>
              </a:rPr>
              <a:t>3乱数種とも負，区間は0を含む．脆くしたとしても +1.69pt以内</a:t>
            </a:r>
            <a:endParaRPr lang="ja-JP" sz="2000"/>
          </a:p>
          <a:p>
            <a:pPr lvl="1" marL="685800" indent="-228600">
              <a:spcBef>
                <a:spcPts val="300"/>
              </a:spcBef>
              <a:buFont typeface="Arial"/>
              <a:buChar char="•"/>
            </a:pPr>
            <a:r>
              <a:rPr lang="ja-JP" sz="2000" b="0">
                <a:latin typeface="游明朝"/>
                <a:ea typeface="游明朝"/>
              </a:rPr>
              <a:t>距離そのものでは，proposal がよく動く（区間は0を含まない）</a:t>
            </a:r>
            <a:endParaRPr lang="ja-JP" sz="2000"/>
          </a:p>
          <a:p>
            <a:pPr marL="228600" indent="-228600">
              <a:spcBef>
                <a:spcPts val="900"/>
              </a:spcBef>
              <a:buFont typeface="Arial"/>
              <a:buChar char="•"/>
            </a:pPr>
            <a:r>
              <a:rPr lang="ja-JP" sz="2400" b="0">
                <a:latin typeface="游明朝"/>
                <a:ea typeface="游明朝"/>
              </a:rPr>
              <a:t>回答の変わりやすさ：幾何的な加工で差は見られない</a:t>
            </a:r>
            <a:endParaRPr lang="ja-JP" sz="2400"/>
          </a:p>
        </p:txBody>
      </p:sp>
      <p:sp>
        <p:nvSpPr>
          <p:cNvPr id="4" name="TextBox 4"/>
          <p:cNvSpPr txBox="1"/>
          <p:nvPr/>
        </p:nvSpPr>
        <p:spPr>
          <a:xfrm>
            <a:off x="841248" y="3802075"/>
            <a:ext cx="10515600" cy="9677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ja-JP" sz="2400" b="0">
                <a:solidFill>
                  <a:srgbClr val="FF0000"/>
                </a:solidFill>
                <a:latin typeface="游明朝"/>
                <a:ea typeface="游明朝"/>
              </a:rPr>
              <a:t>→ 整合が内部表現の安定性を高めたとは，まだ言えない</a:t>
            </a:r>
            <a:endParaRPr lang="ja-JP" sz="2400"/>
          </a:p>
          <a:p>
            <a:pPr marL="0" indent="0">
              <a:spcBef>
                <a:spcPts val="900"/>
              </a:spcBef>
              <a:buNone/>
            </a:pPr>
            <a:r>
              <a:rPr lang="ja-JP" sz="2400" b="0">
                <a:latin typeface="游明朝"/>
                <a:ea typeface="游明朝"/>
              </a:rPr>
              <a:t>→ 向きを決めるには，乱数種を足して学習し直すほかない</a:t>
            </a:r>
            <a:endParaRPr lang="ja-JP" sz="24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>
                <a:latin typeface="游明朝"/>
                <a:ea typeface="游明朝"/>
              </a:rPr>
              <a:t>今後の目標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1645920"/>
            <a:ext cx="10515600" cy="4638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28600" indent="-228600">
              <a:spcBef>
                <a:spcPts val="0"/>
              </a:spcBef>
              <a:buFont typeface="Arial"/>
              <a:buChar char="•"/>
            </a:pPr>
            <a:r>
              <a:rPr lang="ja-JP" sz="2400" b="0">
                <a:latin typeface="游明朝"/>
                <a:ea typeface="游明朝"/>
              </a:rPr>
              <a:t>乱数種45・46を足し，5本で判定し直す（最優先）</a:t>
            </a:r>
            <a:endParaRPr lang="ja-JP" sz="2400"/>
          </a:p>
          <a:p>
            <a:pPr lvl="1" marL="685800" indent="-228600">
              <a:spcBef>
                <a:spcPts val="300"/>
              </a:spcBef>
              <a:buFont typeface="Arial"/>
              <a:buChar char="•"/>
            </a:pPr>
            <a:r>
              <a:rPr lang="ja-JP" sz="2000" b="0">
                <a:latin typeface="游明朝"/>
                <a:ea typeface="游明朝"/>
              </a:rPr>
              <a:t>3群 × 2回の学習（約17時間）と測定（約3時間）</a:t>
            </a:r>
            <a:endParaRPr lang="ja-JP" sz="2000"/>
          </a:p>
          <a:p>
            <a:pPr lvl="1" marL="685800" indent="-228600">
              <a:spcBef>
                <a:spcPts val="300"/>
              </a:spcBef>
              <a:buFont typeface="Arial"/>
              <a:buChar char="•"/>
            </a:pPr>
            <a:r>
              <a:rPr lang="ja-JP" sz="2000" b="0">
                <a:latin typeface="游明朝"/>
                <a:ea typeface="游明朝"/>
              </a:rPr>
              <a:t>本数は結果を見る前に決める／判定に距離そのものの向きも加える</a:t>
            </a:r>
            <a:endParaRPr lang="ja-JP" sz="2000"/>
          </a:p>
          <a:p>
            <a:pPr lvl="1" marL="685800" indent="-228600">
              <a:spcBef>
                <a:spcPts val="300"/>
              </a:spcBef>
              <a:buFont typeface="Arial"/>
              <a:buChar char="•"/>
            </a:pPr>
            <a:r>
              <a:rPr lang="ja-JP" sz="2000" b="0">
                <a:latin typeface="游明朝"/>
                <a:ea typeface="游明朝"/>
              </a:rPr>
              <a:t>いまのばらつきなら，5本の区間の半幅は約3.7pt（差の平均5.66pt未満）</a:t>
            </a:r>
            <a:endParaRPr lang="ja-JP" sz="2000"/>
          </a:p>
          <a:p>
            <a:pPr lvl="1" marL="685800" indent="-228600">
              <a:spcBef>
                <a:spcPts val="300"/>
              </a:spcBef>
              <a:buFont typeface="Arial"/>
              <a:buChar char="•"/>
            </a:pPr>
            <a:r>
              <a:rPr lang="ja-JP" sz="2000" b="0">
                <a:latin typeface="游明朝"/>
                <a:ea typeface="游明朝"/>
              </a:rPr>
              <a:t>ただし，向きが決まる保証はない</a:t>
            </a:r>
            <a:endParaRPr lang="ja-JP" sz="2000"/>
          </a:p>
          <a:p>
            <a:pPr marL="228600" indent="-228600">
              <a:spcBef>
                <a:spcPts val="900"/>
              </a:spcBef>
              <a:buFont typeface="Arial"/>
              <a:buChar char="•"/>
            </a:pPr>
            <a:r>
              <a:rPr lang="ja-JP" sz="2400" b="0">
                <a:latin typeface="游明朝"/>
                <a:ea typeface="游明朝"/>
              </a:rPr>
              <a:t>学習に稀な署名で，読み取り精度を測る（出現頻度の層ごと）</a:t>
            </a:r>
            <a:endParaRPr lang="ja-JP" sz="2400"/>
          </a:p>
          <a:p>
            <a:pPr marL="228600" indent="-228600">
              <a:spcBef>
                <a:spcPts val="900"/>
              </a:spcBef>
              <a:buFont typeface="Arial"/>
              <a:buChar char="•"/>
            </a:pPr>
            <a:r>
              <a:rPr lang="ja-JP" sz="2400" b="0">
                <a:latin typeface="游明朝"/>
                <a:ea typeface="游明朝"/>
              </a:rPr>
              <a:t>回答の型（yes/no か自由回答か）で整合する群 → 効果が署名に固有か</a:t>
            </a:r>
            <a:endParaRPr lang="ja-JP" sz="2400"/>
          </a:p>
          <a:p>
            <a:pPr marL="228600" indent="-228600">
              <a:spcBef>
                <a:spcPts val="900"/>
              </a:spcBef>
              <a:buFont typeface="Arial"/>
              <a:buChar char="•"/>
            </a:pPr>
            <a:r>
              <a:rPr lang="ja-JP" sz="2400" b="0">
                <a:latin typeface="游明朝"/>
                <a:ea typeface="游明朝"/>
              </a:rPr>
              <a:t>整合の強さと，整合を掛ける層を変える</a:t>
            </a:r>
            <a:endParaRPr lang="ja-JP" sz="2400"/>
          </a:p>
          <a:p>
            <a:pPr marL="228600" indent="-228600">
              <a:spcBef>
                <a:spcPts val="900"/>
              </a:spcBef>
              <a:buFont typeface="Arial"/>
              <a:buChar char="•"/>
            </a:pPr>
            <a:r>
              <a:rPr lang="ja-JP" sz="2400" b="0">
                <a:latin typeface="游明朝"/>
                <a:ea typeface="游明朝"/>
              </a:rPr>
              <a:t>PCSJ/IMPS 2026（P3-15，11月17日）でポスター発表</a:t>
            </a:r>
            <a:endParaRPr lang="ja-JP" sz="24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>
                <a:latin typeface="游明朝"/>
                <a:ea typeface="游明朝"/>
              </a:rPr>
              <a:t>ポスターの初案</a:t>
            </a:r>
          </a:p>
        </p:txBody>
      </p:sp>
      <p:pic>
        <p:nvPicPr>
          <p:cNvPr id="3" name="Picture 2" descr="poster_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645920"/>
            <a:ext cx="5881248" cy="4160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12280" y="1645920"/>
            <a:ext cx="49377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28600" indent="-228600">
              <a:spcBef>
                <a:spcPts val="0"/>
              </a:spcBef>
              <a:buFont typeface="Arial"/>
              <a:buChar char="•"/>
            </a:pPr>
            <a:r>
              <a:rPr lang="ja-JP" sz="2400" b="0">
                <a:latin typeface="游明朝"/>
                <a:ea typeface="游明朝"/>
              </a:rPr>
              <a:t>A0 横（118.9 × 84.1cm）</a:t>
            </a:r>
            <a:endParaRPr lang="ja-JP" sz="2400"/>
          </a:p>
          <a:p>
            <a:pPr lvl="1" marL="685800" indent="-228600">
              <a:spcBef>
                <a:spcPts val="300"/>
              </a:spcBef>
              <a:buFont typeface="Arial"/>
              <a:buChar char="•"/>
            </a:pPr>
            <a:r>
              <a:rPr lang="ja-JP" sz="2000" b="0">
                <a:latin typeface="游明朝"/>
                <a:ea typeface="游明朝"/>
              </a:rPr>
              <a:t>ボード（180 × 90cm）に収まる</a:t>
            </a:r>
            <a:endParaRPr lang="ja-JP" sz="2000"/>
          </a:p>
          <a:p>
            <a:pPr marL="228600" indent="-228600">
              <a:spcBef>
                <a:spcPts val="900"/>
              </a:spcBef>
              <a:buFont typeface="Arial"/>
              <a:buChar char="•"/>
            </a:pPr>
            <a:r>
              <a:rPr lang="ja-JP" sz="2400" b="0">
                <a:latin typeface="游明朝"/>
                <a:ea typeface="游明朝"/>
              </a:rPr>
              <a:t>予稿の章立てと要点の帯</a:t>
            </a:r>
            <a:endParaRPr lang="ja-JP" sz="2400"/>
          </a:p>
          <a:p>
            <a:pPr marL="228600" indent="-228600">
              <a:spcBef>
                <a:spcPts val="900"/>
              </a:spcBef>
              <a:buFont typeface="Arial"/>
              <a:buChar char="•"/>
            </a:pPr>
            <a:r>
              <a:rPr lang="ja-JP" sz="2400" b="0">
                <a:latin typeface="游明朝"/>
                <a:ea typeface="游明朝"/>
              </a:rPr>
              <a:t>配色は前期のポスターを踏襲</a:t>
            </a:r>
            <a:endParaRPr lang="ja-JP" sz="2400"/>
          </a:p>
          <a:p>
            <a:pPr marL="0" indent="0">
              <a:spcBef>
                <a:spcPts val="900"/>
              </a:spcBef>
              <a:buNone/>
            </a:pPr>
            <a:r>
              <a:rPr lang="ja-JP" sz="2400" b="0">
                <a:solidFill>
                  <a:srgbClr val="FF0000"/>
                </a:solidFill>
                <a:latin typeface="游明朝"/>
                <a:ea typeface="游明朝"/>
              </a:rPr>
              <a:t>ご意見をください：5章（予稿以降の結果）を「向きが未決」と書いてよいか</a:t>
            </a:r>
            <a:endParaRPr lang="ja-JP" sz="24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>
                <a:latin typeface="游明朝"/>
                <a:ea typeface="游明朝"/>
              </a:rPr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645920"/>
            <a:ext cx="10515600" cy="484632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ja-JP" sz="2000">
                <a:latin typeface="游明朝"/>
                <a:ea typeface="游明朝"/>
              </a:rPr>
              <a:t>[1] F. A. Wani </a:t>
            </a:r>
            <a:r>
              <a:rPr lang="ja-JP" sz="2000" i="1">
                <a:latin typeface="游明朝"/>
                <a:ea typeface="游明朝"/>
              </a:rPr>
              <a:t>et al.</a:t>
            </a:r>
            <a:r>
              <a:rPr lang="ja-JP" sz="2000">
                <a:latin typeface="游明朝"/>
                <a:ea typeface="游明朝"/>
              </a:rPr>
              <a:t>, “Same Answer, Different Representations: Hidden Instability in VLMs,” arXiv:2602.06652, 2026.</a:t>
            </a:r>
          </a:p>
          <a:p>
            <a:pPr marL="0" indent="0">
              <a:spcBef>
                <a:spcPts val="900"/>
              </a:spcBef>
              <a:buNone/>
            </a:pPr>
            <a:r>
              <a:rPr lang="ja-JP" sz="2000">
                <a:latin typeface="游明朝"/>
                <a:ea typeface="游明朝"/>
              </a:rPr>
              <a:t>[2] D. A. Hudson and C. D. Manning, “GQA: A New Dataset for Real-World Visual Reasoning and Compositional Question Answering,” in Proc. </a:t>
            </a:r>
            <a:r>
              <a:rPr lang="ja-JP" sz="2000" i="1">
                <a:latin typeface="游明朝"/>
                <a:ea typeface="游明朝"/>
              </a:rPr>
              <a:t>IEEE/CVF CVPR</a:t>
            </a:r>
            <a:r>
              <a:rPr lang="ja-JP" sz="2000">
                <a:latin typeface="游明朝"/>
                <a:ea typeface="游明朝"/>
              </a:rPr>
              <a:t>, 2019.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>
                <a:latin typeface="游明朝"/>
                <a:ea typeface="游明朝"/>
              </a:rPr>
              <a:t>補足：原典に無い設定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1645920"/>
            <a:ext cx="10515600" cy="472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28600" indent="-228600">
              <a:spcBef>
                <a:spcPts val="0"/>
              </a:spcBef>
              <a:buFont typeface="Arial"/>
              <a:buChar char="•"/>
            </a:pPr>
            <a:r>
              <a:rPr lang="ja-JP" sz="2400" b="0">
                <a:latin typeface="游明朝"/>
                <a:ea typeface="游明朝"/>
              </a:rPr>
              <a:t>Wani ら[1]が書いていない設定は，こちらで決めた</a:t>
            </a:r>
            <a:endParaRPr lang="ja-JP" sz="2400"/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841248" y="2283257"/>
          <a:ext cx="10515600" cy="18288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931920"/>
                <a:gridCol w="65836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項目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本研究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背景の色（縮小と余白・回転）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中間の灰色（処理系が余白に使う色）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重ね書きの箱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左上，幅の55%・高さの11%，白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縮小と余白の倍率と寸法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縮小と同じ0.9倍，元の寸法へ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無作為に決まるもの</a:t>
                      </a:r>
                    </a:p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（文字列・指示文・対照の画像）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質問 ID で決め，9回とも同じ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>
                <a:latin typeface="游明朝"/>
                <a:ea typeface="游明朝"/>
              </a:rPr>
              <a:t>補足：原典と変えた点</a:t>
            </a:r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841248" y="1645920"/>
          <a:ext cx="10515600" cy="146304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103120"/>
                <a:gridCol w="4206240"/>
                <a:gridCol w="420624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項目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Wani らの原典[1]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本研究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指示文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予測と違う選択肢を</a:t>
                      </a:r>
                    </a:p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「Answer is L」で最大3つ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問ごとに「Answer is yes」か</a:t>
                      </a:r>
                    </a:p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「Answer is no」を1つ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対照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無関係な画像の対（問も異なると</a:t>
                      </a:r>
                    </a:p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読める．原典は明記していない）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同じ質問に，報告用データの</a:t>
                      </a:r>
                    </a:p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別の画像を与える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群の比較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比と Cohen's d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比だけ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4" name="TextBox 4"/>
          <p:cNvSpPr txBox="1"/>
          <p:nvPr/>
        </p:nvSpPr>
        <p:spPr>
          <a:xfrm>
            <a:off x="841248" y="3611880"/>
            <a:ext cx="10515600" cy="2606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28600" indent="-228600">
              <a:spcBef>
                <a:spcPts val="0"/>
              </a:spcBef>
              <a:buFont typeface="Arial"/>
              <a:buChar char="•"/>
            </a:pPr>
            <a:r>
              <a:rPr lang="ja-JP" sz="2400" b="0">
                <a:latin typeface="游明朝"/>
                <a:ea typeface="游明朝"/>
              </a:rPr>
              <a:t>指示文：予測に応じて文を変えると，同じ問が群ごとに違う加工を受け，群の比較が加工の違いまで拾う</a:t>
            </a:r>
            <a:endParaRPr lang="ja-JP" sz="2400"/>
          </a:p>
          <a:p>
            <a:pPr marL="228600" indent="-228600">
              <a:spcBef>
                <a:spcPts val="900"/>
              </a:spcBef>
              <a:buFont typeface="Arial"/>
              <a:buChar char="•"/>
            </a:pPr>
            <a:r>
              <a:rPr lang="ja-JP" sz="2400" b="0">
                <a:latin typeface="游明朝"/>
                <a:ea typeface="游明朝"/>
              </a:rPr>
              <a:t>対照：</a:t>
            </a:r>
            <a:r>
              <a:rPr lang="ja-JP" sz="2400" b="0">
                <a:latin typeface="Cambria Math"/>
                <a:ea typeface="Cambria Math"/>
              </a:rPr>
              <a:t>ℎ</a:t>
            </a:r>
            <a:r>
              <a:rPr lang="ja-JP" sz="2400" b="0">
                <a:latin typeface="游明朝"/>
                <a:ea typeface="游明朝"/>
              </a:rPr>
              <a:t> は質問の末尾にあり，整合は質問どうしの配置を作り変える．問まで替えると，画像ではなくその作り変えを測る</a:t>
            </a:r>
            <a:endParaRPr lang="ja-JP" sz="2400"/>
          </a:p>
          <a:p>
            <a:pPr marL="228600" indent="-228600">
              <a:spcBef>
                <a:spcPts val="900"/>
              </a:spcBef>
              <a:buFont typeface="Arial"/>
              <a:buChar char="•"/>
            </a:pPr>
            <a:r>
              <a:rPr lang="ja-JP" sz="2400" b="0">
                <a:latin typeface="游明朝"/>
                <a:ea typeface="游明朝"/>
              </a:rPr>
              <a:t>Cohen's d：対照の広がりが群で違うので，群を比べる量に使えない</a:t>
            </a:r>
            <a:endParaRPr lang="ja-JP" sz="2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游ゴシック Light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游ゴシック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游ゴシック Light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游ゴシック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5738</TotalTime>
  <Application>Microsoft Office PowerPoint</Application>
  <PresentationFormat>ワイド画面</PresentationFormat>
  <Slides>22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22</vt:i4>
      </vt:variant>
    </vt:vector>
  </HeadingPairs>
  <TitlesOfParts>
    <vt:vector size="28" baseType="lpstr">
      <vt:lpstr>Arial</vt:lpstr>
      <vt:lpstr>游ゴシック Light</vt:lpstr>
      <vt:lpstr>游ゴシック</vt:lpstr>
      <vt:lpstr>游明朝</vt:lpstr>
      <vt:lpstr>Cambria Math</vt:lpstr>
      <vt:lpstr>Office テーマ</vt:lpstr>
      <vt:lpstr>進捗報告</vt:lpstr>
      <vt:lpstr>前回までの結果</vt:lpstr>
      <vt:lpstr>今回したこと</vt:lpstr>
      <vt:lpstr>出発点：Wani らの指摘と今回の問い</vt:lpstr>
      <vt:lpstr>加工の種類</vt:lpstr>
      <vt:lpstr>加工の例</vt:lpstr>
      <vt:lpstr>測る量</vt:lpstr>
      <vt:lpstr>なぜ距離ではなく比で比べるか</vt:lpstr>
      <vt:lpstr>判定に使う量と，あわせて見る量</vt:lpstr>
      <vt:lpstr>群の差の読み方</vt:lpstr>
      <vt:lpstr>測る前に決めた読み方（10月23日）</vt:lpstr>
      <vt:lpstr>結果の一覧（23通りすべて）</vt:lpstr>
      <vt:lpstr>測る前に決めた読み方に照らすと</vt:lpstr>
      <vt:lpstr>族ごとの比（第16層）</vt:lpstr>
      <vt:lpstr>分母とまとめ方を変えた比（第16層）</vt:lpstr>
      <vt:lpstr>加工で回答は変わったか</vt:lpstr>
      <vt:lpstr>まとめ</vt:lpstr>
      <vt:lpstr>今後の目標</vt:lpstr>
      <vt:lpstr>ポスターの初案</vt:lpstr>
      <vt:lpstr>参考文献</vt:lpstr>
      <vt:lpstr>補足：原典に無い設定</vt:lpstr>
      <vt:lpstr>補足：原典と変えた点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友晴 中野</dc:creator>
  <cp:lastModifiedBy>友晴 中野</cp:lastModifiedBy>
  <cp:revision>1</cp:revision>
  <dcterms:created xsi:type="dcterms:W3CDTF">2026-04-14T11:51:55Z</dcterms:created>
  <dcterms:modified xsi:type="dcterms:W3CDTF">2026-10-29T09:22:03Z</dcterms:modified>
</cp:coreProperties>
</file>