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らが付録で定めた加工と同じ形の指標を使い，baseline，proposal，ablation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には選択肢が無いので，名指しする選択肢もそもそも定まりません．無作為に決まるものは質問IDから決めているので，9回の学習のすべてで，同じ問が同じ加工を受けます．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ID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族ごとに分けた比です．灰色が baseline，赤が proposal，水色が ablation です．文字の重ね書きの2族ではproposal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をどう読み直しても向きは決まらないので，乱数種を足して学習し直すほか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の乱数種43だけが大きく外れているので，向きが決まることは保証されません．残りの2つは前回と同じです．ポスター発表の講演番号は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A0（高さ118.9cm）は収まりません．横向きのA0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揃えた内部表現は，画像の加工に対して安定するか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署名で揃えた群では，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Waniらと同じ加工と指標で，3群を比べる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t>
                      </a:r>
                      <a:br>
                        <a:rPr lang="ja-JP" sz="2200" b="0">
                          <a:solidFill>
                            <a:srgbClr val="000000"/>
                          </a:solidFill>
                          <a:latin typeface="游明朝"/>
                          <a:ea typeface="游明朝"/>
                        </a:rPr>
                      </a:br>
                      <a:r>
                        <a:rPr lang="ja-JP" sz="2200" b="0">
                          <a:solidFill>
                            <a:srgbClr val="000000"/>
                          </a:solidFill>
                          <a:latin typeface="游明朝"/>
                          <a:ea typeface="游明朝"/>
                        </a:rPr>
                        <a:t>（ablationでは小さくならない）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solidFill>
                  <a:srgbClr val="FF0000"/>
                </a:solidFill>
                <a:latin typeface="游明朝"/>
                <a:ea typeface="游明朝"/>
              </a:rPr>
              <a:t>−9.95pt [−13.82, −6.07]</a:t>
            </a:r>
          </a:p>
          <a:p>
            <a:pPr lvl="1" marL="685800" indent="-228600">
              <a:buFont typeface="Arial"/>
              <a:buChar char="•"/>
            </a:pPr>
            <a:r>
              <a:rPr lang="ja-JP" sz="2400">
                <a:latin typeface="游明朝"/>
                <a:ea typeface="游明朝"/>
              </a:rPr>
              <a:t>区間が0を含まない → ablationより小さい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baselineとの差で区間が0を外れるのは，余白付加と切り出し・回転</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比の分母は，群ごとに違う</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物差しを変えても，向きが残るかを確かめた（測った後に足した読み）</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向きはどれも同じ（proposal ＜ baseline ＜ ablation）</a:t>
            </a:r>
          </a:p>
          <a:p>
            <a:pPr marL="0" indent="0">
              <a:buNone/>
            </a:pPr>
            <a:r>
              <a:rPr lang="ja-JP" sz="2200">
                <a:solidFill>
                  <a:srgbClr val="FF0000"/>
                </a:solidFill>
                <a:latin typeface="游明朝"/>
                <a:ea typeface="游明朝"/>
              </a:rPr>
              <a:t>p − b の区間はどれも0を含み，大きさは物差しで約2倍変わる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署名ラベルではなく，対照学習の項そのものの効果と読める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結果/考察</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第16層の比は，ablationより小さい</a:t>
            </a:r>
          </a:p>
          <a:p>
            <a:pPr marL="228600" indent="-228600">
              <a:buFont typeface="Arial"/>
              <a:buChar char="•"/>
            </a:pPr>
            <a:r>
              <a:rPr lang="ja-JP" sz="2800">
                <a:latin typeface="游明朝"/>
                <a:ea typeface="游明朝"/>
              </a:rPr>
              <a:t>baselineとの差は，向きを決められない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本数は結果を見る前に決め，判定の表もそのまま使う</a:t>
            </a:r>
          </a:p>
          <a:p>
            <a:pPr marL="228600" indent="-228600">
              <a:buFont typeface="Arial"/>
              <a:buChar char="•"/>
            </a:pPr>
            <a:r>
              <a:rPr lang="ja-JP" sz="2800">
                <a:latin typeface="游明朝"/>
                <a:ea typeface="游明朝"/>
              </a:rPr>
              <a:t>回答の種類（yes/noか自由回答か）で揃える群を足し，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整合損失の重み </a:t>
            </a:r>
            <a:r>
              <a:rPr lang="ja-JP" sz="2800">
                <a:latin typeface="Cambria Math"/>
                <a:ea typeface="Cambria Math"/>
              </a:rPr>
              <a:t>𝜆</a:t>
            </a:r>
            <a:r>
              <a:rPr lang="ja-JP" sz="2800">
                <a:latin typeface="游明朝"/>
                <a:ea typeface="游明朝"/>
              </a:rPr>
              <a:t> と，損失を掛ける層を変える</a:t>
            </a:r>
          </a:p>
          <a:p>
            <a:pPr marL="228600" indent="-228600">
              <a:buFont typeface="Arial"/>
              <a:buChar char="•"/>
            </a:pPr>
            <a:r>
              <a:rPr lang="ja-JP" sz="2800">
                <a:latin typeface="游明朝"/>
                <a:ea typeface="游明朝"/>
              </a:rPr>
              <a:t>PCSJ/IMPS 2026でポスター発表（P3-15，11月17日）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予稿と同じ章立て＋要点の帯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et al.,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CVPR, 2019.</a:t>
            </a:r>
          </a:p>
          <a:p>
            <a:pPr marL="0" indent="0">
              <a:buNone/>
            </a:pPr>
            <a:r>
              <a:rPr lang="ja-JP" sz="2000">
                <a:latin typeface="游明朝"/>
                <a:ea typeface="游明朝"/>
              </a:rPr>
              <a:t>[3] A. Marafioti et al., “SmolVLM: Redefining Small and Efficient Multimodal Models,” arXiv:2504.05299, 2025.</a:t>
            </a:r>
          </a:p>
          <a:p>
            <a:pPr marL="0" indent="0">
              <a:buNone/>
            </a:pPr>
            <a:r>
              <a:rPr lang="ja-JP" sz="2000">
                <a:latin typeface="游明朝"/>
                <a:ea typeface="游明朝"/>
              </a:rPr>
              <a:t>[4] P. Khosla et al., “Supervised Contrastive Learning,” NeurIPS, 2020.</a:t>
            </a:r>
          </a:p>
          <a:p>
            <a:pPr marL="0" indent="0">
              <a:buNone/>
            </a:pPr>
            <a:r>
              <a:rPr lang="ja-JP" sz="2000">
                <a:latin typeface="游明朝"/>
                <a:ea typeface="游明朝"/>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Arial</vt:lpstr>
      <vt:lpstr>游ゴシック Light</vt:lpstr>
      <vt:lpstr>游ゴシック</vt:lpstr>
      <vt:lpstr>游明朝</vt:lpstr>
      <vt:lpstr>Cambria Math</vt:lpstr>
      <vt:lpstr>Office テーマ</vt:lpstr>
      <vt:lpstr>進捗報告</vt:lpstr>
      <vt:lpstr>今回の進捗</vt:lpstr>
      <vt:lpstr>前回までの結果</vt:lpstr>
      <vt:lpstr>今回の問い</vt:lpstr>
      <vt:lpstr>加工の種類</vt:lpstr>
      <vt:lpstr>加工の例</vt:lpstr>
      <vt:lpstr>測る量</vt:lpstr>
      <vt:lpstr>判定の表（測る前に決めた）</vt:lpstr>
      <vt:lpstr>結果（第16層，23通りすべて）</vt:lpstr>
      <vt:lpstr>族ごとの比（第16層）</vt:lpstr>
      <vt:lpstr>比の分母は，群ごとに違う</vt:lpstr>
      <vt:lpstr>最終層と回答</vt:lpstr>
      <vt:lpstr>結果/考察</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