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9"/>
    <p:sldId id="300" r:id="rId91"/>
    <p:sldId id="277" r:id="rId12"/>
    <p:sldId id="301" r:id="rId92"/>
    <p:sldId id="278" r:id="rId13"/>
    <p:sldId id="279" r:id="rId14"/>
    <p:sldId id="302" r:id="rId93"/>
    <p:sldId id="280" r:id="rId15"/>
    <p:sldId id="281" r:id="rId16"/>
    <p:sldId id="303" r:id="rId94"/>
    <p:sldId id="304" r:id="rId95"/>
    <p:sldId id="290" r:id="rId90"/>
    <p:sldId id="305" r:id="rId96"/>
    <p:sldId id="284" r:id="rId10"/>
    <p:sldId id="285" r:id="rId8"/>
    <p:sldId id="286" r:id="rId7"/>
    <p:sldId id="287" r:id="rId6"/>
    <p:sldId id="288" r:id="rId5"/>
    <p:sldId id="289" r:id="rId4"/>
    <p:sldId id="275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 lang="ja-JP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377" autoAdjust="0"/>
  </p:normalViewPr>
  <p:slideViewPr>
    <p:cSldViewPr snapToGrid="0">
      <p:cViewPr varScale="1">
        <p:scale>
          <a:sx n="68" d="100"/>
          <a:sy n="68" d="100"/>
        </p:scale>
        <p:origin x="250" y="6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.xml"/><Relationship Id="rId10" Type="http://schemas.openxmlformats.org/officeDocument/2006/relationships/slide" Target="slides/slide1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8" Type="http://schemas.openxmlformats.org/officeDocument/2006/relationships/slide" Target="slides/slide20.xml"/><Relationship Id="rId90" Type="http://schemas.openxmlformats.org/officeDocument/2006/relationships/slide" Target="slides/slide21.xml"/><Relationship Id="rId91" Type="http://schemas.openxmlformats.org/officeDocument/2006/relationships/slide" Target="slides/slide30.xml"/><Relationship Id="rId92" Type="http://schemas.openxmlformats.org/officeDocument/2006/relationships/slide" Target="slides/slide31.xml"/><Relationship Id="rId93" Type="http://schemas.openxmlformats.org/officeDocument/2006/relationships/slide" Target="slides/slide32.xml"/><Relationship Id="rId94" Type="http://schemas.openxmlformats.org/officeDocument/2006/relationships/slide" Target="slides/slide33.xml"/><Relationship Id="rId95" Type="http://schemas.openxmlformats.org/officeDocument/2006/relationships/slide" Target="slides/slide34.xml"/><Relationship Id="rId96" Type="http://schemas.openxmlformats.org/officeDocument/2006/relationships/slide" Target="slides/slide3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</c:v>
                </c:pt>
                <c:pt idx="6">
                  <c:v>文字列</c:v>
                </c:pt>
                <c:pt idx="7">
                  <c:v>文字なし</c:v>
                </c:pt>
                <c:pt idx="8">
                  <c:v>23通り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10.02900800074681</c:v>
                </c:pt>
                <c:pt idx="1">
                  <c:v>13.548702123328344</c:v>
                </c:pt>
                <c:pt idx="2">
                  <c:v>1.8523354302052129</c:v>
                </c:pt>
                <c:pt idx="3">
                  <c:v>24.684762937243026</c:v>
                </c:pt>
                <c:pt idx="4">
                  <c:v>32.95338937878566</c:v>
                </c:pt>
                <c:pt idx="5">
                  <c:v>40.835668062655316</c:v>
                </c:pt>
                <c:pt idx="6">
                  <c:v>31.26825691037604</c:v>
                </c:pt>
                <c:pt idx="7">
                  <c:v>6.704250085282664</c:v>
                </c:pt>
                <c:pt idx="8">
                  <c:v>15.646683917607296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proposal</c:v>
                </c:pt>
              </c:strCache>
            </c:strRef>
          </c:tx>
          <c:spPr>
            <a:solidFill>
              <a:srgbClr val="FF0000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</c:v>
                </c:pt>
                <c:pt idx="6">
                  <c:v>文字列</c:v>
                </c:pt>
                <c:pt idx="7">
                  <c:v>文字なし</c:v>
                </c:pt>
                <c:pt idx="8">
                  <c:v>23通り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8.453832303205807</c:v>
                </c:pt>
                <c:pt idx="1">
                  <c:v>9.15780278890348</c:v>
                </c:pt>
                <c:pt idx="2">
                  <c:v>1.9544698645462728</c:v>
                </c:pt>
                <c:pt idx="3">
                  <c:v>13.750254144634487</c:v>
                </c:pt>
                <c:pt idx="4">
                  <c:v>23.422918438780584</c:v>
                </c:pt>
                <c:pt idx="5">
                  <c:v>11.265779945377707</c:v>
                </c:pt>
                <c:pt idx="6">
                  <c:v>9.175406355810663</c:v>
                </c:pt>
                <c:pt idx="7">
                  <c:v>5.774252125443189</c:v>
                </c:pt>
                <c:pt idx="8">
                  <c:v>9.985176697833298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ablation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Sheet1!$A$2:$A$10</c:f>
              <c:strCache>
                <c:ptCount val="9"/>
                <c:pt idx="0">
                  <c:v>平行移動</c:v>
                </c:pt>
                <c:pt idx="1">
                  <c:v>余白</c:v>
                </c:pt>
                <c:pt idx="2">
                  <c:v>縮小</c:v>
                </c:pt>
                <c:pt idx="3">
                  <c:v>縮小と余白</c:v>
                </c:pt>
                <c:pt idx="4">
                  <c:v>回転</c:v>
                </c:pt>
                <c:pt idx="5">
                  <c:v>指示文</c:v>
                </c:pt>
                <c:pt idx="6">
                  <c:v>文字列</c:v>
                </c:pt>
                <c:pt idx="7">
                  <c:v>文字なし</c:v>
                </c:pt>
                <c:pt idx="8">
                  <c:v>23通り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13.826996578433445</c:v>
                </c:pt>
                <c:pt idx="1">
                  <c:v>18.061827341512743</c:v>
                </c:pt>
                <c:pt idx="2">
                  <c:v>2.844913814378999</c:v>
                </c:pt>
                <c:pt idx="3">
                  <c:v>31.092497478705205</c:v>
                </c:pt>
                <c:pt idx="4">
                  <c:v>41.101926295694355</c:v>
                </c:pt>
                <c:pt idx="5">
                  <c:v>47.79909959402181</c:v>
                </c:pt>
                <c:pt idx="6">
                  <c:v>29.682890443161483</c:v>
                </c:pt>
                <c:pt idx="7">
                  <c:v>9.702544803772088</c:v>
                </c:pt>
                <c:pt idx="8">
                  <c:v>19.93201814288131</c:v>
                </c:pt>
              </c:numCache>
            </c:numRef>
          </c:val>
        </c:ser>
        <c:gapWidth val="50"/>
        <c:overlap val="-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 lang="ja-JP"/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max val="5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400" lang="ja-JP"/>
                  <a:t>比（%）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 lang="ja-JP">
                <a:solidFill>
                  <a:srgbClr val="595959"/>
                </a:solidFill>
              </a:defRPr>
            </a:pPr>
          </a:p>
        </c:txPr>
        <c:crossAx val="2068027336"/>
        <c:crosses val="autoZero"/>
        <c:majorUnit val="10.0"/>
      </c:valAx>
    </c:plotArea>
    <c:legend>
      <c:legendPos val="t"/>
      <c:overlay val="0"/>
      <c:txPr>
        <a:bodyPr/>
        <a:lstStyle/>
        <a:p>
          <a:pPr>
            <a:defRPr sz="1400" lang="ja-JP">
              <a:latin typeface="游明朝"/>
            </a:defRPr>
          </a:pPr>
        </a:p>
      </c:txPr>
    </c:legend>
    <c:dispBlanksAs val="gap"/>
  </c:chart>
  <c:txPr>
    <a:bodyPr/>
    <a:lstStyle/>
    <a:p>
      <a:pPr>
        <a:defRPr sz="1400" lang="ja-JP">
          <a:latin typeface="游明朝"/>
          <a:ea typeface="游明朝"/>
        </a:defRPr>
      </a:pPr>
      <a:endParaRPr lang="ja-JP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/>
            </a:lvl1pPr>
          </a:lstStyle>
          <a:p>
            <a:fld id="{BA8EA2F7-F344-4634-8A1B-077389120022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/>
            </a:lvl1pPr>
          </a:lstStyle>
          <a:p>
            <a:fld id="{DCEBFA57-81A5-42EC-BCAD-61DD5FD6B9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6061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 lang="ja-JP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endParaRPr lang="ja-JP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794631-5AE1-63DE-E0BA-373751D569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83707F9-0FB7-8DC9-9781-EFF1E487D8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lang="ja-JP"/>
            </a:lvl1pPr>
            <a:lvl2pPr marL="457200" indent="0" algn="ctr">
              <a:buNone/>
              <a:defRPr sz="2000" lang="ja-JP"/>
            </a:lvl2pPr>
            <a:lvl3pPr marL="914400" indent="0" algn="ctr">
              <a:buNone/>
              <a:defRPr sz="1800" lang="ja-JP"/>
            </a:lvl3pPr>
            <a:lvl4pPr marL="1371600" indent="0" algn="ctr">
              <a:buNone/>
              <a:defRPr sz="1600" lang="ja-JP"/>
            </a:lvl4pPr>
            <a:lvl5pPr marL="1828800" indent="0" algn="ctr">
              <a:buNone/>
              <a:defRPr sz="1600" lang="ja-JP"/>
            </a:lvl5pPr>
            <a:lvl6pPr marL="2286000" indent="0" algn="ctr">
              <a:buNone/>
              <a:defRPr sz="1600" lang="ja-JP"/>
            </a:lvl6pPr>
            <a:lvl7pPr marL="2743200" indent="0" algn="ctr">
              <a:buNone/>
              <a:defRPr sz="1600" lang="ja-JP"/>
            </a:lvl7pPr>
            <a:lvl8pPr marL="3200400" indent="0" algn="ctr">
              <a:buNone/>
              <a:defRPr sz="1600" lang="ja-JP"/>
            </a:lvl8pPr>
            <a:lvl9pPr marL="3657600" indent="0" algn="ctr">
              <a:buNone/>
              <a:defRPr sz="1600" lang="ja-JP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6F96EB-25F2-87AC-D67D-B0E43B173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FE6DF8-C141-7F84-49A8-32981CF90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919329D-C674-F92E-C8E3-80FF7FBD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7809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E7E0FF-80F4-9B6D-F67A-94D0753E7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96732D-7009-D9BE-0DAA-DB1DA39BA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8CA5E8-349E-6F8C-FD08-540462F1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069AC-DD96-62FD-E033-C5BC02D4D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F69D67-90BB-FEFC-A451-9C108F8BB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9463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69C62D-470E-C8A8-3405-8547D58DA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21FE730-849F-6C6C-DFED-1ED3770A39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lang="ja-JP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 lang="ja-JP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 lang="ja-JP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 lang="ja-JP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388FCE-5827-E8BF-19FF-BC3B92285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0FDC3-51B0-5EC3-D44A-573EA86F1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FE76A6-03B8-FBAD-C739-FF1B91D7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8650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DDCFF-3C3E-CA9F-B821-4B0654532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5CACF8A-B71F-89A3-8AD7-3EF4B6E16E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7B1DB-1790-6018-0483-61F12B90F5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AD12C2F-2839-6CAC-31BC-35E71C33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92F6ACC-FB60-A84B-7D9D-43C33F16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4F502E-99F2-5B22-AD1A-352612A6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8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EE57C2-352F-B9A2-C17E-FD6E872E2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2DE4-4234-28C2-1E26-8C1ACF46F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 lang="ja-JP"/>
            </a:lvl1pPr>
            <a:lvl2pPr marL="457200" indent="0">
              <a:buNone/>
              <a:defRPr sz="2000" b="1" lang="ja-JP"/>
            </a:lvl2pPr>
            <a:lvl3pPr marL="914400" indent="0">
              <a:buNone/>
              <a:defRPr sz="1800" b="1" lang="ja-JP"/>
            </a:lvl3pPr>
            <a:lvl4pPr marL="1371600" indent="0">
              <a:buNone/>
              <a:defRPr sz="1600" b="1" lang="ja-JP"/>
            </a:lvl4pPr>
            <a:lvl5pPr marL="1828800" indent="0">
              <a:buNone/>
              <a:defRPr sz="1600" b="1" lang="ja-JP"/>
            </a:lvl5pPr>
            <a:lvl6pPr marL="2286000" indent="0">
              <a:buNone/>
              <a:defRPr sz="1600" b="1" lang="ja-JP"/>
            </a:lvl6pPr>
            <a:lvl7pPr marL="2743200" indent="0">
              <a:buNone/>
              <a:defRPr sz="1600" b="1" lang="ja-JP"/>
            </a:lvl7pPr>
            <a:lvl8pPr marL="3200400" indent="0">
              <a:buNone/>
              <a:defRPr sz="1600" b="1" lang="ja-JP"/>
            </a:lvl8pPr>
            <a:lvl9pPr marL="3657600" indent="0">
              <a:buNone/>
              <a:defRPr sz="1600" b="1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956583-4249-3EA0-81C0-56AD93A03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A5266DC-115D-8A8C-A22B-198361A41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 lang="ja-JP"/>
            </a:lvl1pPr>
            <a:lvl2pPr marL="457200" indent="0">
              <a:buNone/>
              <a:defRPr sz="2000" b="1" lang="ja-JP"/>
            </a:lvl2pPr>
            <a:lvl3pPr marL="914400" indent="0">
              <a:buNone/>
              <a:defRPr sz="1800" b="1" lang="ja-JP"/>
            </a:lvl3pPr>
            <a:lvl4pPr marL="1371600" indent="0">
              <a:buNone/>
              <a:defRPr sz="1600" b="1" lang="ja-JP"/>
            </a:lvl4pPr>
            <a:lvl5pPr marL="1828800" indent="0">
              <a:buNone/>
              <a:defRPr sz="1600" b="1" lang="ja-JP"/>
            </a:lvl5pPr>
            <a:lvl6pPr marL="2286000" indent="0">
              <a:buNone/>
              <a:defRPr sz="1600" b="1" lang="ja-JP"/>
            </a:lvl6pPr>
            <a:lvl7pPr marL="2743200" indent="0">
              <a:buNone/>
              <a:defRPr sz="1600" b="1" lang="ja-JP"/>
            </a:lvl7pPr>
            <a:lvl8pPr marL="3200400" indent="0">
              <a:buNone/>
              <a:defRPr sz="1600" b="1" lang="ja-JP"/>
            </a:lvl8pPr>
            <a:lvl9pPr marL="3657600" indent="0">
              <a:buNone/>
              <a:defRPr sz="1600" b="1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6FBAE73-20B1-EF8E-D67E-102D03B104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F51E1EA-A746-7E87-68C9-7A9B7B174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C835453-2E92-60C3-FD74-F5AB81072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6D0817A-468D-51A7-25D6-17A94724B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978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E651D5-AED3-49CB-7CEF-C295AD47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EE3FFCB-EEB1-74B9-54E2-65D5C82C1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5F35C05-50F8-B94A-21A4-2B095A0E2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4A4A7D7-D905-C499-79FC-01A847C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1294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4C0C62A-B915-F83E-9BBE-2C251B21E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ABE538-461B-9BFB-BD91-9AE70602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66D4B3-9F09-40A9-E9A0-8AEAB51B9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7747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CB99B3-AA10-2FE2-DA5E-52C4C63B9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C2AB79-D489-6AC7-C0BB-DD21DDE53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 lang="ja-JP"/>
            </a:lvl1pPr>
            <a:lvl2pPr>
              <a:defRPr sz="2800" lang="ja-JP"/>
            </a:lvl2pPr>
            <a:lvl3pPr>
              <a:defRPr sz="2400" lang="ja-JP"/>
            </a:lvl3pPr>
            <a:lvl4pPr>
              <a:defRPr sz="2000" lang="ja-JP"/>
            </a:lvl4pPr>
            <a:lvl5pPr>
              <a:defRPr sz="2000" lang="ja-JP"/>
            </a:lvl5pPr>
            <a:lvl6pPr>
              <a:defRPr sz="2000" lang="ja-JP"/>
            </a:lvl6pPr>
            <a:lvl7pPr>
              <a:defRPr sz="2000" lang="ja-JP"/>
            </a:lvl7pPr>
            <a:lvl8pPr>
              <a:defRPr sz="2000" lang="ja-JP"/>
            </a:lvl8pPr>
            <a:lvl9pPr>
              <a:defRPr sz="2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FA42923-7753-6E1D-205C-551229C551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lang="ja-JP"/>
            </a:lvl1pPr>
            <a:lvl2pPr marL="457200" indent="0">
              <a:buNone/>
              <a:defRPr sz="1400" lang="ja-JP"/>
            </a:lvl2pPr>
            <a:lvl3pPr marL="914400" indent="0">
              <a:buNone/>
              <a:defRPr sz="1200" lang="ja-JP"/>
            </a:lvl3pPr>
            <a:lvl4pPr marL="1371600" indent="0">
              <a:buNone/>
              <a:defRPr sz="1000" lang="ja-JP"/>
            </a:lvl4pPr>
            <a:lvl5pPr marL="1828800" indent="0">
              <a:buNone/>
              <a:defRPr sz="1000" lang="ja-JP"/>
            </a:lvl5pPr>
            <a:lvl6pPr marL="2286000" indent="0">
              <a:buNone/>
              <a:defRPr sz="1000" lang="ja-JP"/>
            </a:lvl6pPr>
            <a:lvl7pPr marL="2743200" indent="0">
              <a:buNone/>
              <a:defRPr sz="1000" lang="ja-JP"/>
            </a:lvl7pPr>
            <a:lvl8pPr marL="3200400" indent="0">
              <a:buNone/>
              <a:defRPr sz="1000" lang="ja-JP"/>
            </a:lvl8pPr>
            <a:lvl9pPr marL="3657600" indent="0">
              <a:buNone/>
              <a:defRPr sz="1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DB37EC-ED89-81B3-A9A5-95DC794D0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E24597-3E4F-EDEF-0269-F5C5AE636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44A68DE-91CB-7515-ACE0-1EBCDDACD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6470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1E8A1C-5E14-B5AA-0565-674C79708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lang="ja-JP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CF2241-0C54-5FE1-2FC6-823C8EEC16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 lang="ja-JP"/>
            </a:lvl1pPr>
            <a:lvl2pPr marL="457200" indent="0">
              <a:buNone/>
              <a:defRPr sz="2800" lang="ja-JP"/>
            </a:lvl2pPr>
            <a:lvl3pPr marL="914400" indent="0">
              <a:buNone/>
              <a:defRPr sz="2400" lang="ja-JP"/>
            </a:lvl3pPr>
            <a:lvl4pPr marL="1371600" indent="0">
              <a:buNone/>
              <a:defRPr sz="2000" lang="ja-JP"/>
            </a:lvl4pPr>
            <a:lvl5pPr marL="1828800" indent="0">
              <a:buNone/>
              <a:defRPr sz="2000" lang="ja-JP"/>
            </a:lvl5pPr>
            <a:lvl6pPr marL="2286000" indent="0">
              <a:buNone/>
              <a:defRPr sz="2000" lang="ja-JP"/>
            </a:lvl6pPr>
            <a:lvl7pPr marL="2743200" indent="0">
              <a:buNone/>
              <a:defRPr sz="2000" lang="ja-JP"/>
            </a:lvl7pPr>
            <a:lvl8pPr marL="3200400" indent="0">
              <a:buNone/>
              <a:defRPr sz="2000" lang="ja-JP"/>
            </a:lvl8pPr>
            <a:lvl9pPr marL="3657600" indent="0">
              <a:buNone/>
              <a:defRPr sz="2000" lang="ja-JP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1699479-C701-6D69-C11E-5CF6E9E1E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 lang="ja-JP"/>
            </a:lvl1pPr>
            <a:lvl2pPr marL="457200" indent="0">
              <a:buNone/>
              <a:defRPr sz="1400" lang="ja-JP"/>
            </a:lvl2pPr>
            <a:lvl3pPr marL="914400" indent="0">
              <a:buNone/>
              <a:defRPr sz="1200" lang="ja-JP"/>
            </a:lvl3pPr>
            <a:lvl4pPr marL="1371600" indent="0">
              <a:buNone/>
              <a:defRPr sz="1000" lang="ja-JP"/>
            </a:lvl4pPr>
            <a:lvl5pPr marL="1828800" indent="0">
              <a:buNone/>
              <a:defRPr sz="1000" lang="ja-JP"/>
            </a:lvl5pPr>
            <a:lvl6pPr marL="2286000" indent="0">
              <a:buNone/>
              <a:defRPr sz="1000" lang="ja-JP"/>
            </a:lvl6pPr>
            <a:lvl7pPr marL="2743200" indent="0">
              <a:buNone/>
              <a:defRPr sz="1000" lang="ja-JP"/>
            </a:lvl7pPr>
            <a:lvl8pPr marL="3200400" indent="0">
              <a:buNone/>
              <a:defRPr sz="1000" lang="ja-JP"/>
            </a:lvl8pPr>
            <a:lvl9pPr marL="3657600" indent="0">
              <a:buNone/>
              <a:defRPr sz="1000" lang="ja-JP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D6F468-011E-B40F-35B2-772B86061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F0337A4-6B45-CF93-8769-8C63587B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1784FCB-6B5D-CA8C-73F1-FBF8E0604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642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0EA25C-9C85-86F7-87AA-3AA6F0D3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9F9AA3D-B408-9115-37B8-AC73FB9CA4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680595-2016-CD1A-084C-BBAC94F63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A06B58-AEAE-DCE2-2F11-E47A91A15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15937D-8EEF-801D-E012-379DC5E5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31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A8E599-EA55-CE71-3510-F6DE39D7AB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8D7B960-C9C4-815C-537F-B8EF13AB8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298C37-6A5A-A827-30CD-BD9301B9C5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8A2CCC-0DA7-9D49-7316-63F641E82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0B2635-2A81-B880-79D0-EBC21D82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30332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E1AF73E-2895-8E10-AAC3-745847F2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A62395-2DE3-041F-6FCE-932BCE4E04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ja-JP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ja-JP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ja-JP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ja-JP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32F1F8-705E-14C3-D983-1A8686995F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1E1EE7-404E-4ECC-9A60-3B377366333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A9150E3-9540-BAFF-2B5A-97D564AE3A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C7071D-3583-736C-4607-FEDFEE38B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ja-JP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67D90C-C1C4-468F-A772-42E20EA21A7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2665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 lang="ja-JP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 lang="ja-JP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進捗報告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杉村研究室</a:t>
            </a:r>
          </a:p>
          <a:p>
            <a:r>
              <a:rPr lang="ja-JP">
                <a:latin typeface="游明朝"/>
                <a:ea typeface="游明朝"/>
              </a:rPr>
              <a:t>26860646　中野 友晴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前回までの結果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署名の読み取り精度は，上がる（82.9% → 95.9%）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正解率は，ほとんど変わらない（53.5% → 53.5%）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回答が第16層に頼る度合いは，下がる（18–28%）</a:t>
            </a:r>
          </a:p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残っていた問い（研究の出発点）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proposal の内部表現は，加工で動きにくくなるか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今回の問い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>〈比べる3群〉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baseline：整合しない　　proposal：署名で整合する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ablation：署名をバッチ内で並べ替えて整合する</a:t>
            </a:r>
          </a:p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〈問い〉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proposal（署名で整合した群）では，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加工による内部表現の動き</a:t>
            </a:r>
            <a:r>
              <a:rPr lang="ja-JP" sz="2400">
                <a:latin typeface="游明朝"/>
                <a:ea typeface="游明朝"/>
              </a:rPr>
              <a:t>が小さくなるか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→ Wani らにならった加工と指標で，3群を比べる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加工の種類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41248" y="1645920"/>
          <a:ext cx="10515600" cy="345643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28800"/>
                <a:gridCol w="2560320"/>
                <a:gridCol w="52120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族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通り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84048">
                <a:tc rowSpan="5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幾何的な加工</a:t>
                      </a:r>
                    </a:p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5族・20通り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平行移動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左右に巡回シフト（±4–16画素，4画素刻み）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余白付加と切り出し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四辺に余白を足す／削る（同じ8通り）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0.9倍にして，元の解像度へ戻す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縮小と余白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0.9倍にして，灰色の余白で元の寸法へ戻す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回転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±30°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rowSpan="3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重ね書き</a:t>
                      </a:r>
                    </a:p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3族・3通り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指示文の重ね書き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白い箱に「Answer is yes」か「Answer is no」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無作為な文字列の重ね書き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同じ白い箱に，同じ長さの無作為な文字列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84048">
                <a:tc vMerge="1"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文字なしの重ね書き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同じ白い箱だけ（何も書かない）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6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41248" y="53492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>Wani ら[1]の8族・計23通りを，12,578問すべてに施す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000">
                <a:latin typeface="游明朝"/>
                <a:ea typeface="游明朝"/>
              </a:rPr>
              <a:t>原典に無い値はこちらで決め，指示文は予測を見ずに問ごとに yes か no にした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加工の例</a:t>
            </a:r>
          </a:p>
        </p:txBody>
      </p:sp>
      <p:pic>
        <p:nvPicPr>
          <p:cNvPr id="3" name="Picture 2" descr="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00200"/>
            <a:ext cx="1965960" cy="14744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" y="309295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元画像</a:t>
            </a:r>
          </a:p>
        </p:txBody>
      </p:sp>
      <p:pic>
        <p:nvPicPr>
          <p:cNvPr id="5" name="Picture 4" descr="translation+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944" y="1600200"/>
            <a:ext cx="1965960" cy="14744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889503" y="309295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平行移動</a:t>
            </a:r>
          </a:p>
        </p:txBody>
      </p:sp>
      <p:pic>
        <p:nvPicPr>
          <p:cNvPr id="7" name="Picture 6" descr="pad_crop+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1600200"/>
            <a:ext cx="1965960" cy="150403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309295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余白付加</a:t>
            </a:r>
          </a:p>
        </p:txBody>
      </p:sp>
      <p:pic>
        <p:nvPicPr>
          <p:cNvPr id="9" name="Picture 8" descr="pad_crop-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600200"/>
            <a:ext cx="1965960" cy="1440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68896" y="309295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切り出し</a:t>
            </a:r>
          </a:p>
        </p:txBody>
      </p:sp>
      <p:pic>
        <p:nvPicPr>
          <p:cNvPr id="11" name="Picture 10" descr="scale_pad0.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0032" y="1600200"/>
            <a:ext cx="1965960" cy="14744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08592" y="3092958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縮小と余白</a:t>
            </a:r>
          </a:p>
        </p:txBody>
      </p:sp>
      <p:pic>
        <p:nvPicPr>
          <p:cNvPr id="13" name="Picture 12" descr="rotation+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3703320"/>
            <a:ext cx="1965960" cy="14744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8" y="519607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回転</a:t>
            </a:r>
          </a:p>
        </p:txBody>
      </p:sp>
      <p:pic>
        <p:nvPicPr>
          <p:cNvPr id="15" name="Picture 14" descr="text_overla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80944" y="3703320"/>
            <a:ext cx="1965960" cy="147447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89503" y="519607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指示文の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17" name="Picture 16" descr="random_tex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703320"/>
            <a:ext cx="1965960" cy="14744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0" y="519607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無作為な文字列の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19" name="Picture 18" descr="box_overla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0336" y="3703320"/>
            <a:ext cx="1965960" cy="147447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168896" y="519607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文字なしの</a:t>
            </a:r>
            <a:br>
              <a:rPr lang="ja-JP" sz="1800"/>
            </a:br>
            <a:r>
              <a:rPr lang="ja-JP" sz="1800">
                <a:latin typeface="游明朝"/>
                <a:ea typeface="游明朝"/>
              </a:rPr>
              <a:t>重ね書き</a:t>
            </a:r>
          </a:p>
        </p:txBody>
      </p:sp>
      <p:pic>
        <p:nvPicPr>
          <p:cNvPr id="21" name="Picture 20" descr="other_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0032" y="3703320"/>
            <a:ext cx="1965960" cy="147447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08592" y="5196077"/>
            <a:ext cx="2148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buNone/>
            </a:pPr>
            <a:r>
              <a:rPr lang="ja-JP" sz="1800">
                <a:latin typeface="游明朝"/>
                <a:ea typeface="游明朝"/>
              </a:rPr>
              <a:t>別の画像（対照）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r">
              <a:buNone/>
            </a:pPr>
            <a:r>
              <a:rPr lang="ja-JP" sz="1800">
                <a:latin typeface="游明朝"/>
                <a:ea typeface="游明朝"/>
              </a:rPr>
              <a:t>（評価データの問「Who is wearing the dress?」に，測定で施した加工．画像：GQA[2]）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測る量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同じ質問で，元の画像の </a:t>
            </a:r>
            <a:r>
              <a:rPr lang="ja-JP" sz="2400">
                <a:latin typeface="Cambria Math"/>
                <a:ea typeface="Cambria Math"/>
              </a:rPr>
              <a:t>ℎ</a:t>
            </a:r>
            <a:r>
              <a:rPr lang="ja-JP" sz="2400">
                <a:latin typeface="游明朝"/>
                <a:ea typeface="游明朝"/>
              </a:rPr>
              <a:t> と加工した画像の ℎ′ の距離を測る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ℎ：第16層の，質問を読み終えた位置．距離 = 1 − cos(ℎ, ℎ′)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比：加工による動きが，別の画像に替えたときの動きの何%か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3099816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画像 + 質問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059936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加工した画像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+ 質問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5020056"/>
            <a:ext cx="2423160" cy="7772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游明朝"/>
                <a:ea typeface="游明朝"/>
              </a:rPr>
              <a:t>別の画像 + 質問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64408" y="348843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64408" y="444855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64408" y="540867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767328" y="3099816"/>
            <a:ext cx="1463040" cy="2697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VLM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（各群の</a:t>
            </a:r>
          </a:p>
          <a:p>
            <a:pPr marL="0" indent="0" algn="ctr">
              <a:buNone/>
            </a:pPr>
            <a:r>
              <a:rPr lang="ja-JP" sz="2000">
                <a:solidFill>
                  <a:srgbClr val="FFFFFF"/>
                </a:solidFill>
                <a:latin typeface="游明朝"/>
                <a:ea typeface="游明朝"/>
              </a:rPr>
              <a:t>学習済み）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348843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79008" y="3214116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76088" y="444855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779008" y="4174236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ℎ′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76088" y="5408676"/>
            <a:ext cx="457200" cy="0"/>
          </a:xfrm>
          <a:prstGeom prst="line">
            <a:avLst/>
          </a:prstGeom>
          <a:ln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779008" y="5134356"/>
            <a:ext cx="82296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marL="0" indent="0">
              <a:buNone/>
            </a:pPr>
            <a:r>
              <a:rPr lang="ja-JP" sz="2000">
                <a:solidFill>
                  <a:srgbClr val="000000"/>
                </a:solidFill>
                <a:latin typeface="Cambria Math"/>
                <a:ea typeface="Cambria Math"/>
              </a:rPr>
              <a:t>ℎ″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145536"/>
            <a:ext cx="44805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>比 = 距離(</a:t>
            </a:r>
            <a:r>
              <a:rPr lang="ja-JP" sz="2400">
                <a:latin typeface="Cambria Math"/>
                <a:ea typeface="Cambria Math"/>
              </a:rPr>
              <a:t>ℎ</a:t>
            </a:r>
            <a:r>
              <a:rPr lang="ja-JP" sz="2400">
                <a:latin typeface="游明朝"/>
                <a:ea typeface="游明朝"/>
              </a:rPr>
              <a:t>, </a:t>
            </a:r>
            <a:r>
              <a:rPr lang="ja-JP" sz="2400">
                <a:latin typeface="Cambria Math"/>
                <a:ea typeface="Cambria Math"/>
              </a:rPr>
              <a:t>ℎ′</a:t>
            </a:r>
            <a:r>
              <a:rPr lang="ja-JP" sz="2400">
                <a:latin typeface="游明朝"/>
                <a:ea typeface="游明朝"/>
              </a:rPr>
              <a:t>) の平均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　　 ÷ 距離(</a:t>
            </a:r>
            <a:r>
              <a:rPr lang="ja-JP" sz="2400">
                <a:latin typeface="Cambria Math"/>
                <a:ea typeface="Cambria Math"/>
              </a:rPr>
              <a:t>ℎ</a:t>
            </a:r>
            <a:r>
              <a:rPr lang="ja-JP" sz="2400">
                <a:latin typeface="游明朝"/>
                <a:ea typeface="游明朝"/>
              </a:rPr>
              <a:t>, </a:t>
            </a:r>
            <a:r>
              <a:rPr lang="ja-JP" sz="2400">
                <a:latin typeface="Cambria Math"/>
                <a:ea typeface="Cambria Math"/>
              </a:rPr>
              <a:t>ℎ″</a:t>
            </a:r>
            <a:r>
              <a:rPr lang="ja-JP" sz="2400">
                <a:latin typeface="游明朝"/>
                <a:ea typeface="游明朝"/>
              </a:rPr>
              <a:t>) の平均</a:t>
            </a:r>
          </a:p>
          <a:p>
            <a:pPr marL="0" indent="0">
              <a:buNone/>
            </a:pPr>
            <a:r>
              <a:rPr lang="ja-JP" sz="16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000">
                <a:latin typeface="游明朝"/>
                <a:ea typeface="游明朝"/>
              </a:rPr>
              <a:t>ℎ″：同じ質問・別の画像（対照）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000">
                <a:solidFill>
                  <a:srgbClr val="FF0000"/>
                </a:solidFill>
                <a:latin typeface="游明朝"/>
                <a:ea typeface="游明朝"/>
              </a:rPr>
              <a:t>判定に使うのは，第16層の</a:t>
            </a:r>
            <a:br>
              <a:rPr lang="ja-JP" sz="2000">
                <a:solidFill>
                  <a:srgbClr val="FF0000"/>
                </a:solidFill>
                <a:latin typeface="游明朝"/>
                <a:ea typeface="游明朝"/>
              </a:rPr>
            </a:br>
            <a:r>
              <a:rPr lang="ja-JP" sz="2000">
                <a:solidFill>
                  <a:srgbClr val="FF0000"/>
                </a:solidFill>
                <a:latin typeface="游明朝"/>
                <a:ea typeface="游明朝"/>
              </a:rPr>
              <a:t>23通りすべての比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族ごとの比（第16層）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41248" y="1645920"/>
          <a:ext cx="1051560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41248" y="4828032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左5族：幾何的な加工，右3族：重ね書き，右端：23通りすべて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baseline との差の区間が0を外れるのは，余白付加と切り出し，回転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1800">
                <a:latin typeface="游明朝"/>
                <a:ea typeface="游明朝"/>
              </a:rPr>
              <a:t>族ごとの区間は8つ作るので，偶然0を外れうる．判定は23通りすべてで行う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分母とまとめ方を変えた比（第16層）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proposal は baseline より，加工で約3倍，別の画像で約5倍動く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→ 比が下がったのは，分母のほうが大きく伸びたため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2724912"/>
          <a:ext cx="10515600" cy="20116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760720"/>
                <a:gridCol w="2194560"/>
                <a:gridCol w="25603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比の作り方（第16層，23通り）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95%信頼区間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判定に使う比：距離の平均 ÷ 距離の平均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−5.66pt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[−13.01, +1.69]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平均を中央値に替える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−2.44pt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[−5.35, +0.47]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問ごとに割ってから，幾何平均する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−2.66pt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[−5.97, +0.66]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別の画像との距離が上位1%の問を除く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−5.55pt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[−13.05, +1.96]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10235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どの作り方でも proposal が小さいが，区間はどれも0を含む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差の大きさは，作り方で約2倍変わる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1800">
                <a:solidFill>
                  <a:srgbClr val="000000"/>
                </a:solidFill>
                <a:latin typeface="游明朝"/>
                <a:ea typeface="游明朝"/>
              </a:rPr>
              <a:t>Cohen's d（Wani らの指標）は，対照の広がりが群で違うので使わない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加工で回答は変わったか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幾何的な加工（5族）：3群の差は見られない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文字の重ね書き：proposal も ablation も変わりにくい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2743200"/>
          <a:ext cx="10515600" cy="15087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572000"/>
                <a:gridCol w="1965960"/>
                <a:gridCol w="196596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加工で回答が変わった割合（%）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ablation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12.92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11.71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11.57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無作為な文字列の重ね書き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13.00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11.65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22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11.44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4398264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1800">
                <a:latin typeface="游明朝"/>
                <a:ea typeface="游明朝"/>
              </a:rPr>
              <a:t>回答が変わった割合：加工の前後で回答が一致しない割合（Wani らの instance flip rate）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proposal と ablation の差は0を含む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署名ラベルには帰せず，対照学習の項の効果と読める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まとめ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proposal の第16層の比は，ablation より小さい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baseline との差は，向きを決められない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3乱数種とも負，区間は0を含む．脆くしたとしても1.7pt以内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距離そのものでは，proposal がよく動く（区間は0を含まない）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回答の変わりやすさは，幾何的な加工で差が見られない</a:t>
            </a:r>
          </a:p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整合が内部表現の安定性を高めたとは，まだ言えない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向きを決めるには，乱数種を足して学習し直すほかない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今後の目標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乱数種45・46を足し，5本で判定し直す（最優先）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3群 × 2回の学習（約17時間）と測定（約3時間）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本数は結果を見る前に決め，判定には距離そのものの向きも加える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いまのばらつきなら，5本の区間の半幅は約3.7pt（差の平均 5.7pt 未満）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ただし，向きが決まる保証はない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学習に稀な署名で，読み取り精度を層別に測る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回答の型（yes/no か自由回答か）で整合する群を足し，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　効果が署名に固有かを確かめる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整合の強さ </a:t>
            </a:r>
            <a:r>
              <a:rPr lang="ja-JP" sz="2400">
                <a:latin typeface="Cambria Math"/>
                <a:ea typeface="Cambria Math"/>
              </a:rPr>
              <a:t>𝜆</a:t>
            </a:r>
            <a:r>
              <a:rPr lang="ja-JP" sz="2400">
                <a:latin typeface="游明朝"/>
                <a:ea typeface="游明朝"/>
              </a:rPr>
              <a:t> と，整合を掛ける層を変える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PCSJ/IMPS 2026 でポスター発表（P3-15，11月17日）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ポスターの初案</a:t>
            </a:r>
          </a:p>
        </p:txBody>
      </p:sp>
      <p:pic>
        <p:nvPicPr>
          <p:cNvPr id="3" name="Picture 2" descr="poster_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45920"/>
            <a:ext cx="5881248" cy="4160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12280" y="1691640"/>
            <a:ext cx="49377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A0 横（118.9 × 84.1cm）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ボード（180 × 90cm）に収まる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予稿の章立てと要点の帯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5章は予稿以降の結果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配色は前期のポスターを踏襲</a:t>
            </a:r>
          </a:p>
          <a:p>
            <a:pPr marL="0" indent="0">
              <a:buNone/>
            </a:pPr>
            <a:r>
              <a:rPr lang="ja-JP" sz="24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5章（予稿以降の結果）を「向きが未決」と書いてよいか，ご意見をください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ja-JP" sz="2000">
                <a:latin typeface="游明朝"/>
                <a:ea typeface="游明朝"/>
              </a:rPr>
              <a:t>[1] F. A. Wani </a:t>
            </a:r>
            <a:r>
              <a:rPr lang="ja-JP" sz="2000" i="1">
                <a:latin typeface="游明朝"/>
                <a:ea typeface="游明朝"/>
              </a:rPr>
              <a:t>et al.</a:t>
            </a:r>
            <a:r>
              <a:rPr lang="ja-JP" sz="2000">
                <a:latin typeface="游明朝"/>
                <a:ea typeface="游明朝"/>
              </a:rPr>
              <a:t>, “Same Answer, Different Representations: Hidden Instability in VLMs,” arXiv:2602.06652, 2026.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000">
                <a:latin typeface="游明朝"/>
                <a:ea typeface="游明朝"/>
              </a:rPr>
              <a:t>[2] D. A. Hudson and C. D. Manning, “GQA: A New Dataset for Real-World Visual Reasoning and Compositional Question Answering,” in Proc. </a:t>
            </a:r>
            <a:r>
              <a:rPr lang="ja-JP" sz="2000" i="1">
                <a:latin typeface="游明朝"/>
                <a:ea typeface="游明朝"/>
              </a:rPr>
              <a:t>IEEE/CVF CVPR</a:t>
            </a:r>
            <a:r>
              <a:rPr lang="ja-JP" sz="2000">
                <a:latin typeface="游明朝"/>
                <a:ea typeface="游明朝"/>
              </a:rPr>
              <a:t>, 2019.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結果の一覧（23通りすべて）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差：乱数種を対にした平均 [95%信頼区間]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太字は区間が0を含まない．含むものは向きを決められない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2715768"/>
          <a:ext cx="10515600" cy="241401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206240"/>
                <a:gridCol w="3154680"/>
                <a:gridCol w="315468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測った量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baseline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proposal − ablation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第16層：加工による動きの比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−5.66pt [−13.01, +1.69]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−9.95pt [−13.82, −6.07]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第16層：加工による距離（×10⁻³）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+1.95 [+0.86, +3.04]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+2.61 [+1.85, +3.37]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第32層：加工による動きの比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−0.31pt [−0.47, −0.15]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+0.11pt [−1.02, +1.24]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第32層：加工による距離（×10⁻³）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−3.00 [−5.05, −0.95]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1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−2.74 [−3.89, −1.59]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加工で回答が変わった割合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−0.20pt [−1.48, +1.08]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−0.04pt [−0.60, +0.52]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257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第16層：比では proposal が小さいが，距離では proposal がよく動く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第32層では proposal がやや動きにくく，回答には差が見られない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今回の報告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前回の「今後の目標」で最優先とした測定をした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画像を加工したとき，第16層の内部表現がどれだけ動くか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学習済みの9回分（3群 × 3乱数種）の重みで測った．追加の学習はしていない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結果の読み方を，比の分母とまとめ方を変えて確かめた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PCSJ/IMPS 2026 のポスターの初案を作った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出発点：Wani らの指摘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Wani ら[1]：画像に，正解を変えないはずの加工を施すと，回答が同じでも内部表現は変わる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平行移動や回転のような幾何的な加工では，変化は小さい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文字の重ね書きでは，無関係な画像との変化に迫ることがある（最小のモデル）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出力が同じでも，内部表現が同じとは限らない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Wani らは対処法を示していない</a:t>
            </a:r>
          </a:p>
          <a:p>
            <a:pPr marL="0" indent="0">
              <a:buNone/>
            </a:pPr>
            <a:r>
              <a:rPr lang="ja-JP" sz="12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署名で内部表現を整合すると，この動きは小さくなるか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原典に無い設定と，原典と変えた点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6459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Wani ら[1]の8族と値を使い，書かれていない設定はこちらで決めた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latin typeface="游明朝"/>
                <a:ea typeface="游明朝"/>
              </a:rPr>
              <a:t>指示文の選び方だけは，原典から変えた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41248" y="2724912"/>
          <a:ext cx="10515600" cy="241401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286000"/>
                <a:gridCol w="4114800"/>
                <a:gridCol w="41148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項目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Wani らの原典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本研究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背景の色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書かれていない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中間の灰色（処理系の余白と同じ）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補間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書かれていない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双三次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重ね書きの箱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位置・大きさ・色は書かれていない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左上，幅の55%・高さの11%，白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縮小と余白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倍率・寸法は書かれていない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縮小と同じ0.9倍，元の寸法へ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指示文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予測と違う選択肢を「Answer is L」で最大3つ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800" b="0">
                          <a:solidFill>
                            <a:srgbClr val="000000"/>
                          </a:solidFill>
                          <a:latin typeface="游明朝"/>
                          <a:ea typeface="游明朝"/>
                        </a:rPr>
                        <a:t>問ごとに「Answer is yes」か「no」を1つ</a:t>
                      </a:r>
                    </a:p>
                  </a:txBody>
                  <a:tcPr anchor="ctr" marL="73152" marR="73152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41248" y="551383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>
              <a:buNone/>
            </a:pPr>
            <a:r>
              <a:rPr lang="ja-JP" sz="2400">
                <a:solidFill>
                  <a:srgbClr val="000000"/>
                </a:solidFill>
                <a:latin typeface="游明朝"/>
                <a:ea typeface="游明朝"/>
              </a:rPr>
              <a:t>指示文を変えた理由：予測で文を変えると，群ごとに画像が変わる</a:t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000000"/>
                </a:solidFill>
                <a:latin typeface="游明朝"/>
                <a:ea typeface="游明朝"/>
              </a:rPr>
              <a:t>文字列・指示文・対照の画像は質問 ID で決め，9回とも同じ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なぜ距離ではなく比で比べるか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距離そのものは，群の間で比べにくい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proposal は，署名が異なる質問どうしの類似度を 0.92 から 0.22 に下げている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内部表現の広がり方が，群ごとに違う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そこで Wani ら[1]と同じく，無関係な入力との距離の平均で割った比で比べる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ただし，その対照は Wani らと変えた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Wani ら：無関係な画像の対（問も異なると読める．原典は明記していない）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本研究：同じ質問に，評価データの別の画像を与える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ℎ は質問の末尾にあり，整合は質問どうしの配置を作り変えている．問まで替えると，画像ではなくその作り変えを測ってしまう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群の比べ方と，測る前に決めた読み方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群の差：乱数種（42・43・44）ごとに引いた差の平均と，その95%信頼区間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区間が0を含まない → 差の向きが決まる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区間が0を含む → 差が無いのではなく，向きを決められない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測る前（10月23日）に決めた読み方（23通りすべての比で）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proposal の比が baseline より小さく，ablation では小さくならない → 整合は，比で見た安定性を高める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proposal と baseline に差が無い → 整合が変えるのは表現の形式だけ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proposal の比が baseline より大きい → 分離を強めた副作用で脆くなる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>
                <a:latin typeface="游明朝"/>
                <a:ea typeface="游明朝"/>
              </a:rPr>
              <a:t>測る前に決めた読み方に照らすと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645920"/>
            <a:ext cx="10515600" cy="4846320"/>
          </a:xfrm>
        </p:spPr>
        <p:txBody>
          <a:bodyPr>
            <a:noAutofit/>
          </a:bodyPr>
          <a:lstStyle/>
          <a:p>
            <a:pPr marL="228600" indent="-228600"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proposal の比は ablation より小さいか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区間が0を含まない → 満たす</a:t>
            </a:r>
          </a:p>
          <a:p>
            <a:pPr marL="228600" indent="-228600">
              <a:spcBef>
                <a:spcPts val="900"/>
              </a:spcBef>
              <a:buFont typeface="Arial"/>
              <a:buChar char="•"/>
            </a:pPr>
            <a:r>
              <a:rPr lang="ja-JP" sz="2400">
                <a:latin typeface="游明朝"/>
                <a:ea typeface="游明朝"/>
              </a:rPr>
              <a:t>proposal の比は baseline より小さいか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乱数種ごとに −4.30／−9.06／−3.62 と負だが，区間が0を含む → 決まらない</a:t>
            </a:r>
          </a:p>
          <a:p>
            <a:pPr lvl="1" marL="685800" indent="-228600">
              <a:spcBef>
                <a:spcPts val="300"/>
              </a:spcBef>
              <a:buFont typeface="Arial"/>
              <a:buChar char="•"/>
            </a:pPr>
            <a:r>
              <a:rPr lang="ja-JP" sz="2000">
                <a:latin typeface="游明朝"/>
                <a:ea typeface="游明朝"/>
              </a:rPr>
              <a:t>脆くなったとしても，その幅は +1.69pt 以内</a:t>
            </a:r>
          </a:p>
          <a:p>
            <a:pPr marL="0" indent="0">
              <a:buNone/>
            </a:pPr>
            <a:r>
              <a:rPr lang="ja-JP" sz="1200">
                <a:latin typeface="游明朝"/>
                <a:ea typeface="游明朝"/>
              </a:rPr>
              <a:t/>
            </a:r>
          </a:p>
          <a:p>
            <a:pPr marL="0" indent="0">
              <a:spcBef>
                <a:spcPts val="900"/>
              </a:spcBef>
              <a:buNone/>
            </a:pPr>
            <a:r>
              <a:rPr lang="ja-JP" sz="2400">
                <a:solidFill>
                  <a:srgbClr val="FF0000"/>
                </a:solidFill>
                <a:latin typeface="游明朝"/>
                <a:ea typeface="游明朝"/>
              </a:rPr>
              <a:t>→ 測る前に決めた読み方の，どの行にも当たらない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游ゴシック Light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游ゴシック Light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5738</TotalTime>
  <Application>Microsoft Office PowerPoint</Application>
  <PresentationFormat>ワイド画面</PresentationFormat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6" baseType="lpstr">
      <vt:lpstr>Arial</vt:lpstr>
      <vt:lpstr>游ゴシック Light</vt:lpstr>
      <vt:lpstr>游ゴシック</vt:lpstr>
      <vt:lpstr>游明朝</vt:lpstr>
      <vt:lpstr>Cambria Math</vt:lpstr>
      <vt:lpstr>Office テーマ</vt:lpstr>
      <vt:lpstr>進捗報告</vt:lpstr>
      <vt:lpstr>今回の報告</vt:lpstr>
      <vt:lpstr>前回までの結果</vt:lpstr>
      <vt:lpstr>出発点：Wani らの指摘</vt:lpstr>
      <vt:lpstr>今回の問い</vt:lpstr>
      <vt:lpstr>加工の種類</vt:lpstr>
      <vt:lpstr>原典に無い設定と，原典と変えた点</vt:lpstr>
      <vt:lpstr>加工の例</vt:lpstr>
      <vt:lpstr>測る量</vt:lpstr>
      <vt:lpstr>なぜ距離ではなく比で比べるか</vt:lpstr>
      <vt:lpstr>群の比べ方と，測る前に決めた読み方</vt:lpstr>
      <vt:lpstr>結果の一覧（23通りすべて）</vt:lpstr>
      <vt:lpstr>測る前に決めた読み方に照らすと</vt:lpstr>
      <vt:lpstr>族ごとの比（第16層）</vt:lpstr>
      <vt:lpstr>分母とまとめ方を変えた比（第16層）</vt:lpstr>
      <vt:lpstr>加工で回答は変わったか</vt:lpstr>
      <vt:lpstr>まとめ</vt:lpstr>
      <vt:lpstr>今後の目標</vt:lpstr>
      <vt:lpstr>ポスターの初案</vt:lpstr>
      <vt:lpstr>参考文献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友晴 中野</dc:creator>
  <cp:lastModifiedBy>友晴 中野</cp:lastModifiedBy>
  <cp:revision>1</cp:revision>
  <dcterms:created xsi:type="dcterms:W3CDTF">2026-04-14T11:51:55Z</dcterms:created>
  <dcterms:modified xsi:type="dcterms:W3CDTF">2026-10-29T09:22:03Z</dcterms:modified>
</cp:coreProperties>
</file>