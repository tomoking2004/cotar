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2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9"/>
    <p:sldId id="277" r:id="rId12"/>
    <p:sldId id="278" r:id="rId13"/>
    <p:sldId id="279" r:id="rId14"/>
    <p:sldId id="280" r:id="rId15"/>
    <p:sldId id="281" r:id="rId16"/>
    <p:sldId id="290" r:id="rId90"/>
    <p:sldId id="284" r:id="rId10"/>
    <p:sldId id="285" r:id="rId8"/>
    <p:sldId id="286" r:id="rId7"/>
    <p:sldId id="287" r:id="rId6"/>
    <p:sldId id="288" r:id="rId5"/>
    <p:sldId id="289" r:id="rId4"/>
    <p:sldId id="275" r:id="rId28"/>
  </p:sldIdLst>
  <p:sldSz cx="12192000" cy="6858000"/>
  <p:notesSz cx="6858000" cy="9144000"/>
  <p:defaultText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377" autoAdjust="0"/>
  </p:normalViewPr>
  <p:slideViewPr>
    <p:cSldViewPr snapToGrid="0">
      <p:cViewPr varScale="1">
        <p:scale>
          <a:sx n="68" d="100"/>
          <a:sy n="68" d="100"/>
        </p:scale>
        <p:origin x="250" y="67"/>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xml"/><Relationship Id="rId10" Type="http://schemas.openxmlformats.org/officeDocument/2006/relationships/slide" Target="slides/slide11.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8" Type="http://schemas.openxmlformats.org/officeDocument/2006/relationships/slide" Target="slides/slide20.xml"/><Relationship Id="rId90"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c:v>
                </c:pt>
                <c:pt idx="2">
                  <c:v>縮小</c:v>
                </c:pt>
                <c:pt idx="3">
                  <c:v>縮小と余白</c:v>
                </c:pt>
                <c:pt idx="4">
                  <c:v>回転</c:v>
                </c:pt>
                <c:pt idx="5">
                  <c:v>指示文</c:v>
                </c:pt>
                <c:pt idx="6">
                  <c:v>文字列</c:v>
                </c:pt>
                <c:pt idx="7">
                  <c:v>文字なし</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FF0000"/>
            </a:solidFill>
          </c:spPr>
          <c:invertIfNegative val="0"/>
          <c:cat>
            <c:strRef>
              <c:f>Sheet1!$A$2:$A$10</c:f>
              <c:strCache>
                <c:ptCount val="9"/>
                <c:pt idx="0">
                  <c:v>平行移動</c:v>
                </c:pt>
                <c:pt idx="1">
                  <c:v>余白</c:v>
                </c:pt>
                <c:pt idx="2">
                  <c:v>縮小</c:v>
                </c:pt>
                <c:pt idx="3">
                  <c:v>縮小と余白</c:v>
                </c:pt>
                <c:pt idx="4">
                  <c:v>回転</c:v>
                </c:pt>
                <c:pt idx="5">
                  <c:v>指示文</c:v>
                </c:pt>
                <c:pt idx="6">
                  <c:v>文字列</c:v>
                </c:pt>
                <c:pt idx="7">
                  <c:v>文字なし</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c:v>
                </c:pt>
                <c:pt idx="2">
                  <c:v>縮小</c:v>
                </c:pt>
                <c:pt idx="3">
                  <c:v>縮小と余白</c:v>
                </c:pt>
                <c:pt idx="4">
                  <c:v>回転</c:v>
                </c:pt>
                <c:pt idx="5">
                  <c:v>指示文</c:v>
                </c:pt>
                <c:pt idx="6">
                  <c:v>文字列</c:v>
                </c:pt>
                <c:pt idx="7">
                  <c:v>文字なし</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5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400" lang="ja-JP"/>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title>
          <c:tx>
            <c:rich>
              <a:bodyPr/>
              <a:lstStyle/>
              <a:p>
                <a:r>
                  <a:rPr sz="1400" lang="ja-JP"/>
                  <a:t>比（%）</a:t>
                </a:r>
              </a:p>
            </c:rich>
          </c:tx>
          <c:layout/>
          <c:overlay val="0"/>
        </c:title>
        <c:majorTickMark val="out"/>
        <c:minorTickMark val="none"/>
        <c:tickLblPos val="nextTo"/>
        <c:spPr>
          <a:ln>
            <a:noFill/>
          </a:ln>
        </c:spPr>
        <c:txPr>
          <a:bodyPr/>
          <a:lstStyle/>
          <a:p>
            <a:pPr>
              <a:defRPr sz="1400" lang="ja-JP">
                <a:solidFill>
                  <a:srgbClr val="595959"/>
                </a:solidFill>
              </a:defRPr>
            </a:pPr>
          </a:p>
        </c:txPr>
        <c:crossAx val="2068027336"/>
        <c:crosses val="autoZero"/>
        <c:majorUnit val="10.0"/>
      </c:valAx>
    </c:plotArea>
    <c:legend>
      <c:legendPos val="t"/>
      <c:overlay val="0"/>
      <c:txPr>
        <a:bodyPr/>
        <a:lstStyle/>
        <a:p>
          <a:pPr>
            <a:defRPr sz="1400" lang="ja-JP">
              <a:latin typeface="游明朝"/>
            </a:defRPr>
          </a:pPr>
        </a:p>
      </c:txPr>
    </c:legend>
    <c:dispBlanksAs val="gap"/>
  </c:chart>
  <c:txPr>
    <a:bodyPr/>
    <a:lstStyle/>
    <a:p>
      <a:pPr>
        <a:defRPr sz="1400" lang="ja-JP">
          <a:latin typeface="游明朝"/>
          <a:ea typeface="游明朝"/>
        </a:defRPr>
      </a:pPr>
      <a:endParaRPr lang="ja-JP"/>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lang="ja-JP"/>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lang="ja-JP"/>
            </a:lvl1pPr>
          </a:lstStyle>
          <a:p>
            <a:fld id="{BA8EA2F7-F344-4634-8A1B-077389120022}"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lang="ja-JP"/>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lang="ja-JP"/>
            </a:lvl1pPr>
          </a:lstStyle>
          <a:p>
            <a:fld id="{DCEBFA57-81A5-42EC-BCAD-61DD5FD6B983}" type="slidenum">
              <a:rPr kumimoji="1" lang="ja-JP" altLang="en-US" smtClean="0"/>
              <a:t>‹#›</a:t>
            </a:fld>
            <a:endParaRPr kumimoji="1" lang="ja-JP" altLang="en-US"/>
          </a:p>
        </p:txBody>
      </p:sp>
    </p:spTree>
    <p:extLst>
      <p:ext uri="{BB962C8B-B14F-4D97-AF65-F5344CB8AC3E}">
        <p14:creationId xmlns:p14="http://schemas.microsoft.com/office/powerpoint/2010/main" val="106606131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lang="ja-JP">
        <a:solidFill>
          <a:schemeClr val="tx1"/>
        </a:solidFill>
        <a:latin typeface="+mn-lt"/>
        <a:ea typeface="+mn-ea"/>
        <a:cs typeface="+mn-cs"/>
      </a:defRPr>
    </a:lvl1pPr>
    <a:lvl2pPr marL="457200" algn="l" defTabSz="914400" rtl="0" eaLnBrk="1" latinLnBrk="0" hangingPunct="1">
      <a:defRPr kumimoji="1" sz="1200" kern="1200" lang="ja-JP">
        <a:solidFill>
          <a:schemeClr val="tx1"/>
        </a:solidFill>
        <a:latin typeface="+mn-lt"/>
        <a:ea typeface="+mn-ea"/>
        <a:cs typeface="+mn-cs"/>
      </a:defRPr>
    </a:lvl2pPr>
    <a:lvl3pPr marL="914400" algn="l" defTabSz="914400" rtl="0" eaLnBrk="1" latinLnBrk="0" hangingPunct="1">
      <a:defRPr kumimoji="1" sz="1200" kern="1200" lang="ja-JP">
        <a:solidFill>
          <a:schemeClr val="tx1"/>
        </a:solidFill>
        <a:latin typeface="+mn-lt"/>
        <a:ea typeface="+mn-ea"/>
        <a:cs typeface="+mn-cs"/>
      </a:defRPr>
    </a:lvl3pPr>
    <a:lvl4pPr marL="1371600" algn="l" defTabSz="914400" rtl="0" eaLnBrk="1" latinLnBrk="0" hangingPunct="1">
      <a:defRPr kumimoji="1" sz="1200" kern="1200" lang="ja-JP">
        <a:solidFill>
          <a:schemeClr val="tx1"/>
        </a:solidFill>
        <a:latin typeface="+mn-lt"/>
        <a:ea typeface="+mn-ea"/>
        <a:cs typeface="+mn-cs"/>
      </a:defRPr>
    </a:lvl4pPr>
    <a:lvl5pPr marL="1828800" algn="l" defTabSz="914400" rtl="0" eaLnBrk="1" latinLnBrk="0" hangingPunct="1">
      <a:defRPr kumimoji="1" sz="1200" kern="1200" lang="ja-JP">
        <a:solidFill>
          <a:schemeClr val="tx1"/>
        </a:solidFill>
        <a:latin typeface="+mn-lt"/>
        <a:ea typeface="+mn-ea"/>
        <a:cs typeface="+mn-cs"/>
      </a:defRPr>
    </a:lvl5pPr>
    <a:lvl6pPr marL="2286000" algn="l" defTabSz="914400" rtl="0" eaLnBrk="1" latinLnBrk="0" hangingPunct="1">
      <a:defRPr kumimoji="1" sz="1200" kern="1200" lang="ja-JP">
        <a:solidFill>
          <a:schemeClr val="tx1"/>
        </a:solidFill>
        <a:latin typeface="+mn-lt"/>
        <a:ea typeface="+mn-ea"/>
        <a:cs typeface="+mn-cs"/>
      </a:defRPr>
    </a:lvl6pPr>
    <a:lvl7pPr marL="2743200" algn="l" defTabSz="914400" rtl="0" eaLnBrk="1" latinLnBrk="0" hangingPunct="1">
      <a:defRPr kumimoji="1" sz="1200" kern="1200" lang="ja-JP">
        <a:solidFill>
          <a:schemeClr val="tx1"/>
        </a:solidFill>
        <a:latin typeface="+mn-lt"/>
        <a:ea typeface="+mn-ea"/>
        <a:cs typeface="+mn-cs"/>
      </a:defRPr>
    </a:lvl7pPr>
    <a:lvl8pPr marL="3200400" algn="l" defTabSz="914400" rtl="0" eaLnBrk="1" latinLnBrk="0" hangingPunct="1">
      <a:defRPr kumimoji="1" sz="1200" kern="1200" lang="ja-JP">
        <a:solidFill>
          <a:schemeClr val="tx1"/>
        </a:solidFill>
        <a:latin typeface="+mn-lt"/>
        <a:ea typeface="+mn-ea"/>
        <a:cs typeface="+mn-cs"/>
      </a:defRPr>
    </a:lvl8pPr>
    <a:lvl9pPr marL="3657600" algn="l" defTabSz="914400" rtl="0" eaLnBrk="1" latinLnBrk="0" hangingPunct="1">
      <a:defRPr kumimoji="1" sz="1200" kern="1200" lang="ja-JP">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前回（10月23日）の報告の続きです．前回の「今後の目標」で最優先とした，画像を加工したときに第16層の内部表現がどれだけ動くかを測ったので，その結果を報告します．あわせて，PCSJ/IMPS 2026 のポスターの初案を見ていただきます．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前回までの結果を振り返ります．タスク署名が同じ質問どうしの第16層の内部表現を整合損失で近づけると，署名の読み取り精度は 82.9% から 95.9% に上がり，正解率は 53.5% 前後でほとんど動かず，回答が第16層に頼る度合いを表す相対感度は 18–28% 下がりました．一方，研究の出発点だった Wani らの問題，つまり，回答が同じでも画像の加工で内部表現が大きく変わる，という問題に，整合が応えたかどうかはまだ測っていませんでした．今回はそれを測りました．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Wani らは，平行移動や回転，文字の重ね書きのように，正解を変えない加工を画像に施すと，回答が変わらなかった問でも内部表現が変化することを示しました．幾何的な加工での変化量は小さいものの，文字の重ね書きでは，最も小さいモデルで，無関係な画像を入れたときの変化量に迫ることがあります．今回の問いは，proposal（署名で内部表現を整合した群）では，この加工による内部表現の動きが小さくなるか，です．Wani らにならった加工と指標で，baseline，proposal，ablation の3群を比べます．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加工は，Wani らが付録で定めた8つの族を使いました．値も原典のとおりですが，縮小と余白の倍率は原典に無いので，縮小と同じ0.9倍にしました．平行移動と余白付加・切り出しはそれぞれ±4–16画素の8通り，縮小と縮小・余白は0.9倍の1通りずつ，回転は±30°の2通り，文字の重ね書きは，左上の同じ白い箱に，指示文を書くもの，同じ長さの無作為な文字列を書くもの，何も書かないものの3通りで，計23通りです．これを評価データの12,578問すべてに施しました．原典が書いていない設定はこちらで決めました．背景は処理系が余白に使う中間の灰色，補間は双三次，箱は画像の左上に幅の55%・高さの11%です．指示文の選び方だけは原典と変えました．原典の9月の改訂版は，モデル自身の加工前の答え以外の選択肢を「Answer is L」として最大3つ重ねます．本研究では「Answer is yes」か「Answer is no」の一方を問ごとに決めました．答えに応じて重ねる文を変えると，同じ問が群ごとに違う加工を受け，群を対にした比較が加工の違いまで拾ってしまうからです．GQA には選択肢が無いので，名指しする選択肢もそもそも定まりません．無作為に決まるものは質問 ID から決めているので，9回の学習のすべてで，同じ問が同じ加工を受けます．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加工の例です．評価データの問「Who is wearing the dress?」（答えは women）の画像に，測定でこの問が受けた加工を，同じコードで施しました．指示文の文言と無作為な文字列は質問 ID から決まるので，測定のときと同じものです．右下の「別の画像」は，次のスライドで説明する対照で，これも測定と同じ抽選で選ばれた画像です．どの画像も縦横比を保ったまま白地に収めて表示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測る量は，同じ質問について，元の画像で得た内部表現 h と，加工した画像で得た h′ がどれだけ離れているかです．h は，整合を掛けた第16層の，質問を読み終えた位置のベクトルです．距離は1から h と h′ のコサイン類似度を引いたものです．判定に使うのは第16層だけです．Wani らが測った最終層にあたる第32層でも，同じ順伝播から同じ距離を取り，回答の変化と並べて後で示します．距離そのものは群の間で比べられません．proposal は異なる署名どうしの類似度を0.92 から 0.22 まで下げていて，表現の広がり方が群ごとに違うからです．そこで，Wani らと同じく，無関係な入力どうしの距離（対照）の平均で割った比で比べます．対照は，同じ質問に評価データの別の画像を付けたときの h″ と，h との距離です．比は群ごとに，その群自身の対照で割って出します．Wani らの対照は別の問と別の画像の組ですが，本研究の位置は質問の末尾にあり，整合は質問どうしの配置を作り変えているので，問まで入れ替えると，画像の寄与ではなくその作り変えを測ってしまいます．判定に使う量は，第16層での，23通りすべてをまとめた比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結果です．灰色が baseline，赤が proposal，水色が ablation で，右端が判定に使う23通りすべての比です．baseline が 15.65%，proposal が 9.99%，ablation が 19.93% でした．群の差は，乱数種を対にした差の95%信頼区間で見ます．区間が0を含むなら，差が無いのではなく，向きを決められないと読みます．proposal と baseline の差は −5.66 ポイントで，乱数種ごとには −4.30，−9.06，−3.62 とすべて負ですが，区間 [−13.01, +1.69] は0を含むので，向きは決められません．脆くなったとしても，その幅は +1.69 ポイント以内です．proposal と ablation の差は −9.95 ポイントで，区間 [−13.82, −6.07] は0を含まないので，proposal のほうが小さいと言えます．測る前に，proposal の比が baseline より小さく，ablation では小さくならなければ，整合は安定性を高めると読むと決めていました．後半は満たしますが，前半が決まりません．族ごとに見ると，proposal と baseline の差の区間が0を外れるのは余白付加と切り出し，回転だけです．ただし8つの族それぞれに区間を作ると，本当は差が無くても，どれかが偶然0を外れることがあるので，族ごとの結果は参考にとどめます．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比の分母は群ごとに大きく違います．第16層の加工による距離の平均は，baseline の 0.95×10⁻³ に対して proposal は 2.90×10⁻³，対照の平均は 6.1×10⁻³ に対して 29.0×10⁻³ です．proposal では加工による距離が約3倍に，対照が約5倍になったので，比が下がりました．距離そのものの proposal − baseline は +1.95×10⁻³（区間 [+0.86, +3.04]）で，区間は0を含みません．比で見れば proposal のほうが動かず，距離そのもので見れば proposal のほうがよく動きます．距離そのものは群の間で比べられないので，これを脆くなった証拠とは読みません．同じ理由で，比が小さいことも，加工で動きにくくなったことまでは意味しません．そこで，比の作り方を変えても向きが残るかを確かめました．これらは測った後に足した読みで，判定量を置き換えません．どの比の作り方でも proposal，baseline，ablation の順に並び，proposal と baseline の差は3つの乱数種すべてで負ですが，区間はどれも0を含みます．差の大きさは比の作り方で約2倍変わり，中央値 ÷ 中央値などでは判定量の半分ほどになります．なお，Wani らが報告した Cohen's d は，群ごとに対照の広がりが違う（変動係数が 0.46／0.79／0.34）ため，群の比較には使えないと判断しました．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回答が変わった割合は，問と加工の組のうち，加工の前後でそれぞれ生成した回答が一致しなかったものの割合です．第32層の比と回答の変化では，幾何的な5つの族について3群の差は見られませんでした．第32層の比の proposal と baseline の差は 1.1 ポイント以内で，回答が変わった割合と正解率も，どの差も区間が0を含みます．文字のある重ね書きの2つでは，proposal と ablation がともに，回答が変わる割合が1.2–1.6ポイントほど低くなりました．ただし proposal と ablation には差が無いので，前回と同じ論理で，この低下を署名ラベルに帰すことはできません．同じ位置に対照学習の項を足したこと自体の効果と読めますが，それ以上は分けられません．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まとめます．proposal（署名で整合した群）の第16層の比は，ラベルを並べ替えた群より小さくなりました．しかし整合前の baseline との差は，3つの乱数種すべてで負でありながら区間が0を含み，向きを決められません．差が無いことを示したのでもありません．脆くしたとしても，判定に使う比で1.7ポイント以内です．第32層の比と回答の変化では，幾何的な加工について3群の差は見られませんでした．したがって，整合が内部表現の安定性を高めたとはまだ言えません．問は12,578問あるので，問の側の揺れは区間にほとんど効いておらず，区間を広げているのは乱数種の間の揺れです．保存済みの距離から比の作り方をどう変えても区間は0を含むので，乱数種を足して学習し直すほかありません．また，距離そのものでは proposal のほうがよく動くので，比が下がったことだけでは，安定性を高めたとは書けません．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最優先は，乱数種45と46を足して5本で判定し直すことです．3群すべてを2回ずつ学習するので約17時間，測定が約3時間かかります．足す本数は結果を見る前に決めました．区間が0を外れるまで足しては止める，というやり方では区間の意味が崩れるからです．判定には，比に加えて距離そのものの向きも並べます．比が下がっても距離そのものが逆を向くなら，安定性は，比で見るか距離で見るかに依ると書きます．いまの差の乱数種間の標準偏差 2.96 ポイントが保たれるなら，5本の区間の半幅は約3.7ポイントで，いまの差の平均 5.7 ポイントを下回ります．ただし baseline の乱数種43だけが大きく外れているので，向きが決まることは保証されません．次に，学習にほとんど現れない署名で正解率が下がる傾向が出力の側に見えているので，同じ層別を読み取り精度でも行います．保存済みの表現で足ります．回答の型で整合する群と，整合の強さと層を変える学習は，その後に行います．ポスター発表の講演番号は P3-15 で，11月17日14時からのポスターセッション3の前半を担当します．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ポスターの初案です．会場のボードは横180cm，縦90cmなので，縦向きの A0（高さ118.9cm）は収まりません．横向きの A0 にし，3段組で，予稿と同じ章立てに，上部の要点の帯と，予稿以降に測った5章を加えました．5章は予稿に無い結果ですが，先生のご指示どおり載せました．向きが決まっていないことをこの強さで書いてよいかを含めて，ご意見をいただけます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参考文献です．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結果を一つの表にまとめました．すべて23通りの加工をまとめた値で，左が proposal と baseline の差，右が proposal と ablation の差です．太字は区間が0を含まないもの，つまり向きが決まるものです．第16層の比では，proposal は ablation より小さく，baseline との差は向きを決められません．ところが比ではなく加工による距離そのものを見ると，第16層では proposal のほうがよく動きます．最終層にあたる第32層では，距離も比も proposal のほうがやや小さくなりました．ただし比の差は 0.31 ポイントと小さく，分布の形を仮定しない重なりで見ると平行移動では逆を向くので，これだけで安定したとは読みません．加工で回答が変わった割合は，どの差も区間が0を含みます．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794631-5AE1-63DE-E0BA-373751D569E8}"/>
              </a:ext>
            </a:extLst>
          </p:cNvPr>
          <p:cNvSpPr>
            <a:spLocks noGrp="1"/>
          </p:cNvSpPr>
          <p:nvPr>
            <p:ph type="ctrTitle"/>
          </p:nvPr>
        </p:nvSpPr>
        <p:spPr>
          <a:xfrm>
            <a:off x="1524000" y="1122363"/>
            <a:ext cx="9144000" cy="2387600"/>
          </a:xfrm>
        </p:spPr>
        <p:txBody>
          <a:bodyPr anchor="b"/>
          <a:lstStyle>
            <a:lvl1pPr algn="ctr">
              <a:defRPr sz="6000" lang="ja-JP"/>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83707F9-0FB7-8DC9-9781-EFF1E487D834}"/>
              </a:ext>
            </a:extLst>
          </p:cNvPr>
          <p:cNvSpPr>
            <a:spLocks noGrp="1"/>
          </p:cNvSpPr>
          <p:nvPr>
            <p:ph type="subTitle" idx="1"/>
          </p:nvPr>
        </p:nvSpPr>
        <p:spPr>
          <a:xfrm>
            <a:off x="1524000" y="3602038"/>
            <a:ext cx="9144000" cy="1655762"/>
          </a:xfrm>
        </p:spPr>
        <p:txBody>
          <a:bodyPr/>
          <a:lstStyle>
            <a:lvl1pPr marL="0" indent="0" algn="ctr">
              <a:buNone/>
              <a:defRPr sz="2400" lang="ja-JP"/>
            </a:lvl1pPr>
            <a:lvl2pPr marL="457200" indent="0" algn="ctr">
              <a:buNone/>
              <a:defRPr sz="2000" lang="ja-JP"/>
            </a:lvl2pPr>
            <a:lvl3pPr marL="914400" indent="0" algn="ctr">
              <a:buNone/>
              <a:defRPr sz="1800" lang="ja-JP"/>
            </a:lvl3pPr>
            <a:lvl4pPr marL="1371600" indent="0" algn="ctr">
              <a:buNone/>
              <a:defRPr sz="1600" lang="ja-JP"/>
            </a:lvl4pPr>
            <a:lvl5pPr marL="1828800" indent="0" algn="ctr">
              <a:buNone/>
              <a:defRPr sz="1600" lang="ja-JP"/>
            </a:lvl5pPr>
            <a:lvl6pPr marL="2286000" indent="0" algn="ctr">
              <a:buNone/>
              <a:defRPr sz="1600" lang="ja-JP"/>
            </a:lvl6pPr>
            <a:lvl7pPr marL="2743200" indent="0" algn="ctr">
              <a:buNone/>
              <a:defRPr sz="1600" lang="ja-JP"/>
            </a:lvl7pPr>
            <a:lvl8pPr marL="3200400" indent="0" algn="ctr">
              <a:buNone/>
              <a:defRPr sz="1600" lang="ja-JP"/>
            </a:lvl8pPr>
            <a:lvl9pPr marL="3657600" indent="0" algn="ctr">
              <a:buNone/>
              <a:defRPr sz="1600" lang="ja-JP"/>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6F96EB-25F2-87AC-D67D-B0E43B173422}"/>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DFE6DF8-C141-7F84-49A8-32981CF9065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919329D-C674-F92E-C8E3-80FF7FBDBF0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8978095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E7E0FF-80F4-9B6D-F67A-94D0753E728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96732D-7009-D9BE-0DAA-DB1DA39BAC7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148CA5E8-349E-6F8C-FD08-540462F169B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0C069AC-DD96-62FD-E033-C5BC02D4D60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F69D67-90BB-FEFC-A451-9C108F8BB2F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12946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69C62D-470E-C8A8-3405-8547D58DA2F3}"/>
              </a:ext>
            </a:extLst>
          </p:cNvPr>
          <p:cNvSpPr>
            <a:spLocks noGrp="1"/>
          </p:cNvSpPr>
          <p:nvPr>
            <p:ph type="title"/>
          </p:nvPr>
        </p:nvSpPr>
        <p:spPr>
          <a:xfrm>
            <a:off x="831850" y="1709738"/>
            <a:ext cx="10515600" cy="2852737"/>
          </a:xfrm>
        </p:spPr>
        <p:txBody>
          <a:bodyPr anchor="b"/>
          <a:lstStyle>
            <a:lvl1pPr>
              <a:defRPr sz="6000" lang="ja-JP"/>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21FE730-849F-6C6C-DFED-1ED3770A3986}"/>
              </a:ext>
            </a:extLst>
          </p:cNvPr>
          <p:cNvSpPr>
            <a:spLocks noGrp="1"/>
          </p:cNvSpPr>
          <p:nvPr>
            <p:ph type="body" idx="1"/>
          </p:nvPr>
        </p:nvSpPr>
        <p:spPr>
          <a:xfrm>
            <a:off x="831850" y="4589463"/>
            <a:ext cx="10515600" cy="1500187"/>
          </a:xfrm>
        </p:spPr>
        <p:txBody>
          <a:bodyPr/>
          <a:lstStyle>
            <a:lvl1pPr marL="0" indent="0">
              <a:buNone/>
              <a:defRPr sz="2400" lang="ja-JP">
                <a:solidFill>
                  <a:schemeClr val="tx1">
                    <a:tint val="82000"/>
                  </a:schemeClr>
                </a:solidFill>
              </a:defRPr>
            </a:lvl1pPr>
            <a:lvl2pPr marL="457200" indent="0">
              <a:buNone/>
              <a:defRPr sz="2000" lang="ja-JP">
                <a:solidFill>
                  <a:schemeClr val="tx1">
                    <a:tint val="82000"/>
                  </a:schemeClr>
                </a:solidFill>
              </a:defRPr>
            </a:lvl2pPr>
            <a:lvl3pPr marL="914400" indent="0">
              <a:buNone/>
              <a:defRPr sz="1800" lang="ja-JP">
                <a:solidFill>
                  <a:schemeClr val="tx1">
                    <a:tint val="82000"/>
                  </a:schemeClr>
                </a:solidFill>
              </a:defRPr>
            </a:lvl3pPr>
            <a:lvl4pPr marL="1371600" indent="0">
              <a:buNone/>
              <a:defRPr sz="1600" lang="ja-JP">
                <a:solidFill>
                  <a:schemeClr val="tx1">
                    <a:tint val="82000"/>
                  </a:schemeClr>
                </a:solidFill>
              </a:defRPr>
            </a:lvl4pPr>
            <a:lvl5pPr marL="1828800" indent="0">
              <a:buNone/>
              <a:defRPr sz="1600" lang="ja-JP">
                <a:solidFill>
                  <a:schemeClr val="tx1">
                    <a:tint val="82000"/>
                  </a:schemeClr>
                </a:solidFill>
              </a:defRPr>
            </a:lvl5pPr>
            <a:lvl6pPr marL="2286000" indent="0">
              <a:buNone/>
              <a:defRPr sz="1600" lang="ja-JP">
                <a:solidFill>
                  <a:schemeClr val="tx1">
                    <a:tint val="82000"/>
                  </a:schemeClr>
                </a:solidFill>
              </a:defRPr>
            </a:lvl6pPr>
            <a:lvl7pPr marL="2743200" indent="0">
              <a:buNone/>
              <a:defRPr sz="1600" lang="ja-JP">
                <a:solidFill>
                  <a:schemeClr val="tx1">
                    <a:tint val="82000"/>
                  </a:schemeClr>
                </a:solidFill>
              </a:defRPr>
            </a:lvl7pPr>
            <a:lvl8pPr marL="3200400" indent="0">
              <a:buNone/>
              <a:defRPr sz="1600" lang="ja-JP">
                <a:solidFill>
                  <a:schemeClr val="tx1">
                    <a:tint val="82000"/>
                  </a:schemeClr>
                </a:solidFill>
              </a:defRPr>
            </a:lvl8pPr>
            <a:lvl9pPr marL="3657600" indent="0">
              <a:buNone/>
              <a:defRPr sz="1600" lang="ja-JP">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B388FCE-5827-E8BF-19FF-BC3B9228516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6480FDC3-51B0-5EC3-D44A-573EA86F1B4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CFE76A6-03B8-FBAD-C739-FF1B91D71BA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84865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1DDCFF-3C3E-CA9F-B821-4B0654532BB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5CACF8A-B71F-89A3-8AD7-3EF4B6E16E7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7B1DB-1790-6018-0483-61F12B90F55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日付プレースホルダー 4">
            <a:extLst>
              <a:ext uri="{FF2B5EF4-FFF2-40B4-BE49-F238E27FC236}">
                <a16:creationId xmlns:a16="http://schemas.microsoft.com/office/drawing/2014/main" id="{1AD12C2F-2839-6CAC-31BC-35E71C333EAC}"/>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492F6ACC-FB60-A84B-7D9D-43C33F1675B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44F502E-99F2-5B22-AD1A-352612A6AAB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08885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EE57C2-352F-B9A2-C17E-FD6E872E2C4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6412DE4-4234-28C2-1E26-8C1ACF46FCA5}"/>
              </a:ext>
            </a:extLst>
          </p:cNvPr>
          <p:cNvSpPr>
            <a:spLocks noGrp="1"/>
          </p:cNvSpPr>
          <p:nvPr>
            <p:ph type="body" idx="1"/>
          </p:nvPr>
        </p:nvSpPr>
        <p:spPr>
          <a:xfrm>
            <a:off x="839788" y="1681163"/>
            <a:ext cx="5157787"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B956583-4249-3EA0-81C0-56AD93A0312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A5266DC-115D-8A8C-A22B-198361A410E0}"/>
              </a:ext>
            </a:extLst>
          </p:cNvPr>
          <p:cNvSpPr>
            <a:spLocks noGrp="1"/>
          </p:cNvSpPr>
          <p:nvPr>
            <p:ph type="body" sz="quarter" idx="3"/>
          </p:nvPr>
        </p:nvSpPr>
        <p:spPr>
          <a:xfrm>
            <a:off x="6172200" y="1681163"/>
            <a:ext cx="5183188"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6FBAE73-20B1-EF8E-D67E-102D03B104C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7" name="日付プレースホルダー 6">
            <a:extLst>
              <a:ext uri="{FF2B5EF4-FFF2-40B4-BE49-F238E27FC236}">
                <a16:creationId xmlns:a16="http://schemas.microsoft.com/office/drawing/2014/main" id="{CF51E1EA-A746-7E87-68C9-7A9B7B17495B}"/>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8" name="フッター プレースホルダー 7">
            <a:extLst>
              <a:ext uri="{FF2B5EF4-FFF2-40B4-BE49-F238E27FC236}">
                <a16:creationId xmlns:a16="http://schemas.microsoft.com/office/drawing/2014/main" id="{1C835453-2E92-60C3-FD74-F5AB81072B7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6D0817A-468D-51A7-25D6-17A94724B25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505978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E651D5-AED3-49CB-7CEF-C295AD47526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EE3FFCB-EEB1-74B9-54E2-65D5C82C15C1}"/>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4" name="フッター プレースホルダー 3">
            <a:extLst>
              <a:ext uri="{FF2B5EF4-FFF2-40B4-BE49-F238E27FC236}">
                <a16:creationId xmlns:a16="http://schemas.microsoft.com/office/drawing/2014/main" id="{45F35C05-50F8-B94A-21A4-2B095A0E244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4A4A7D7-D905-C499-79FC-01A847CF373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56129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4C0C62A-B915-F83E-9BBE-2C251B21E854}"/>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3" name="フッター プレースホルダー 2">
            <a:extLst>
              <a:ext uri="{FF2B5EF4-FFF2-40B4-BE49-F238E27FC236}">
                <a16:creationId xmlns:a16="http://schemas.microsoft.com/office/drawing/2014/main" id="{C4ABE538-461B-9BFB-BD91-9AE706026C1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E66D4B3-9F09-40A9-E9A0-8AEAB51B946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90774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CB99B3-AA10-2FE2-DA5E-52C4C63B9387}"/>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1C2AB79-D489-6AC7-C0BB-DD21DDE53ACE}"/>
              </a:ext>
            </a:extLst>
          </p:cNvPr>
          <p:cNvSpPr>
            <a:spLocks noGrp="1"/>
          </p:cNvSpPr>
          <p:nvPr>
            <p:ph idx="1"/>
          </p:nvPr>
        </p:nvSpPr>
        <p:spPr>
          <a:xfrm>
            <a:off x="5183188" y="987425"/>
            <a:ext cx="6172200" cy="4873625"/>
          </a:xfrm>
        </p:spPr>
        <p:txBody>
          <a:bodyPr/>
          <a:lstStyle>
            <a:lvl1pPr>
              <a:defRPr sz="3200" lang="ja-JP"/>
            </a:lvl1pPr>
            <a:lvl2pPr>
              <a:defRPr sz="2800" lang="ja-JP"/>
            </a:lvl2pPr>
            <a:lvl3pPr>
              <a:defRPr sz="2400" lang="ja-JP"/>
            </a:lvl3pPr>
            <a:lvl4pPr>
              <a:defRPr sz="2000" lang="ja-JP"/>
            </a:lvl4pPr>
            <a:lvl5pPr>
              <a:defRPr sz="2000" lang="ja-JP"/>
            </a:lvl5pPr>
            <a:lvl6pPr>
              <a:defRPr sz="2000" lang="ja-JP"/>
            </a:lvl6pPr>
            <a:lvl7pPr>
              <a:defRPr sz="2000" lang="ja-JP"/>
            </a:lvl7pPr>
            <a:lvl8pPr>
              <a:defRPr sz="2000" lang="ja-JP"/>
            </a:lvl8pPr>
            <a:lvl9pPr>
              <a:defRPr sz="2000" lang="ja-JP"/>
            </a:lvl9p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FA42923-7753-6E1D-205C-551229C5514B}"/>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5DB37EC-ED89-81B3-A9A5-95DC794D02B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CBE24597-3E4F-EDEF-0269-F5C5AE636BE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44A68DE-91CB-7515-ACE0-1EBCDDACD9DB}"/>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226470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1E8A1C-5E14-B5AA-0565-674C79708091}"/>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F6CF2241-0C54-5FE1-2FC6-823C8EEC16A2}"/>
              </a:ext>
            </a:extLst>
          </p:cNvPr>
          <p:cNvSpPr>
            <a:spLocks noGrp="1"/>
          </p:cNvSpPr>
          <p:nvPr>
            <p:ph type="pic" idx="1"/>
          </p:nvPr>
        </p:nvSpPr>
        <p:spPr>
          <a:xfrm>
            <a:off x="5183188" y="987425"/>
            <a:ext cx="6172200" cy="4873625"/>
          </a:xfrm>
        </p:spPr>
        <p:txBody>
          <a:bodyPr/>
          <a:lstStyle>
            <a:lvl1pPr marL="0" indent="0">
              <a:buNone/>
              <a:defRPr sz="3200" lang="ja-JP"/>
            </a:lvl1pPr>
            <a:lvl2pPr marL="457200" indent="0">
              <a:buNone/>
              <a:defRPr sz="2800" lang="ja-JP"/>
            </a:lvl2pPr>
            <a:lvl3pPr marL="914400" indent="0">
              <a:buNone/>
              <a:defRPr sz="2400" lang="ja-JP"/>
            </a:lvl3pPr>
            <a:lvl4pPr marL="1371600" indent="0">
              <a:buNone/>
              <a:defRPr sz="2000" lang="ja-JP"/>
            </a:lvl4pPr>
            <a:lvl5pPr marL="1828800" indent="0">
              <a:buNone/>
              <a:defRPr sz="2000" lang="ja-JP"/>
            </a:lvl5pPr>
            <a:lvl6pPr marL="2286000" indent="0">
              <a:buNone/>
              <a:defRPr sz="2000" lang="ja-JP"/>
            </a:lvl6pPr>
            <a:lvl7pPr marL="2743200" indent="0">
              <a:buNone/>
              <a:defRPr sz="2000" lang="ja-JP"/>
            </a:lvl7pPr>
            <a:lvl8pPr marL="3200400" indent="0">
              <a:buNone/>
              <a:defRPr sz="2000" lang="ja-JP"/>
            </a:lvl8pPr>
            <a:lvl9pPr marL="3657600" indent="0">
              <a:buNone/>
              <a:defRPr sz="2000" lang="ja-JP"/>
            </a:lvl9pPr>
          </a:lstStyle>
          <a:p>
            <a:endParaRPr kumimoji="1" lang="ja-JP" altLang="en-US"/>
          </a:p>
        </p:txBody>
      </p:sp>
      <p:sp>
        <p:nvSpPr>
          <p:cNvPr id="4" name="テキスト プレースホルダー 3">
            <a:extLst>
              <a:ext uri="{FF2B5EF4-FFF2-40B4-BE49-F238E27FC236}">
                <a16:creationId xmlns:a16="http://schemas.microsoft.com/office/drawing/2014/main" id="{C1699479-C701-6D69-C11E-5CF6E9E1EDAF}"/>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8D6F468-011E-B40F-35B2-772B8606143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7F0337A4-6B45-CF93-8769-8C63587BAFA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1784FCB-6B5D-CA8C-73F1-FBF8E0604BFF}"/>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326422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0EA25C-9C85-86F7-87AA-3AA6F0D37BD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F9AA3D-B408-9115-37B8-AC73FB9CA4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98680595-2016-CD1A-084C-BBAC94F6332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DCA06B58-AEAE-DCE2-2F11-E47A91A158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15937D-8EEF-801D-E012-379DC5E5EEDC}"/>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49315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CA8E599-EA55-CE71-3510-F6DE39D7ABB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8D7B960-C9C4-815C-537F-B8EF13AB8B6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D8298C37-6A5A-A827-30CD-BD9301B9C533}"/>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878A2CCC-0DA7-9D49-7316-63F641E82CE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20B2635-2A81-B880-79D0-EBC21D8235C7}"/>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6330332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E1AF73E-2895-8E10-AAC3-745847F259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A62395-2DE3-041F-6FCE-932BCE4E04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5232F1F8-705E-14C3-D983-1A8686995F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lang="ja-JP">
                <a:solidFill>
                  <a:schemeClr val="tx1">
                    <a:tint val="82000"/>
                  </a:schemeClr>
                </a:solidFill>
              </a:defRPr>
            </a:lvl1p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1A9150E3-9540-BAFF-2B5A-97D564AE3A4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lang="ja-JP">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AAC7071D-3583-736C-4607-FEDFEE38B3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lang="ja-JP">
                <a:solidFill>
                  <a:schemeClr val="tx1">
                    <a:tint val="82000"/>
                  </a:schemeClr>
                </a:solidFill>
              </a:defRPr>
            </a:lvl1p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852665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lang="ja-JP">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lang="ja-JP">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lang="ja-JP">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lang="ja-JP">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9pPr>
    </p:bodyStyle>
    <p:other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游明朝"/>
                <a:ea typeface="游明朝"/>
              </a:rPr>
              <a:t>進捗報告</a:t>
            </a:r>
          </a:p>
        </p:txBody>
      </p:sp>
      <p:sp>
        <p:nvSpPr>
          <p:cNvPr id="3" name="Subtitle 2"/>
          <p:cNvSpPr>
            <a:spLocks noGrp="1"/>
          </p:cNvSpPr>
          <p:nvPr>
            <p:ph type="subTitle" idx="1"/>
          </p:nvPr>
        </p:nvSpPr>
        <p:spPr/>
        <p:txBody>
          <a:bodyPr/>
          <a:lstStyle/>
          <a:p>
            <a:r>
              <a:rPr lang="ja-JP">
                <a:latin typeface="游明朝"/>
                <a:ea typeface="游明朝"/>
              </a:rPr>
              <a:t>杉村研究室</a:t>
            </a:r>
          </a:p>
          <a:p>
            <a:r>
              <a:rPr lang="ja-JP">
                <a:latin typeface="游明朝"/>
                <a:ea typeface="游明朝"/>
              </a:rPr>
              <a:t>26860646　中野 友晴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前回までの結果</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署名の読み取り精度は，上がる（+13.0pt）</a:t>
            </a:r>
          </a:p>
          <a:p>
            <a:pPr marL="228600" indent="-228600">
              <a:buFont typeface="Arial"/>
              <a:buChar char="•"/>
            </a:pPr>
            <a:r>
              <a:rPr lang="ja-JP" sz="2800">
                <a:latin typeface="游明朝"/>
                <a:ea typeface="游明朝"/>
              </a:rPr>
              <a:t>正解率は，ほとんど変わらない</a:t>
            </a:r>
          </a:p>
          <a:p>
            <a:pPr marL="228600" indent="-228600">
              <a:buFont typeface="Arial"/>
              <a:buChar char="•"/>
            </a:pPr>
            <a:r>
              <a:rPr lang="ja-JP" sz="2800">
                <a:latin typeface="游明朝"/>
                <a:ea typeface="游明朝"/>
              </a:rPr>
              <a:t>回答が第16層に頼る度合いは，下がる（18–28%）</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残っていた問い（研究の出発点）</a:t>
            </a:r>
          </a:p>
          <a:p>
            <a:pPr marL="0" indent="0">
              <a:buNone/>
            </a:pPr>
            <a:r>
              <a:rPr lang="ja-JP" sz="2800">
                <a:solidFill>
                  <a:srgbClr val="FF0000"/>
                </a:solidFill>
                <a:latin typeface="游明朝"/>
                <a:ea typeface="游明朝"/>
              </a:rPr>
              <a:t>→ proposal の内部表現は，加工で動きにくくなるか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今回の問い</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800">
                <a:latin typeface="游明朝"/>
                <a:ea typeface="游明朝"/>
              </a:rPr>
              <a:t>〈Same Answer, Different Representations [1]〉</a:t>
            </a:r>
          </a:p>
          <a:p>
            <a:pPr marL="0" indent="0">
              <a:buNone/>
            </a:pPr>
            <a:r>
              <a:rPr lang="ja-JP" sz="2800">
                <a:latin typeface="游明朝"/>
                <a:ea typeface="游明朝"/>
              </a:rPr>
              <a:t>画像に，正解を保つ加工を施すと，</a:t>
            </a:r>
          </a:p>
          <a:p>
            <a:pPr marL="0" indent="0">
              <a:buNone/>
            </a:pPr>
            <a:r>
              <a:rPr lang="ja-JP" sz="2800">
                <a:latin typeface="游明朝"/>
                <a:ea typeface="游明朝"/>
              </a:rPr>
              <a:t>回答が同じでも，内部表現は変わる</a:t>
            </a:r>
          </a:p>
          <a:p>
            <a:pPr marL="0" indent="0">
              <a:buNone/>
            </a:pPr>
            <a:r>
              <a:rPr lang="ja-JP" sz="2800">
                <a:latin typeface="游明朝"/>
                <a:ea typeface="游明朝"/>
              </a:rPr>
              <a:t/>
            </a:r>
          </a:p>
          <a:p>
            <a:pPr marL="0" indent="0">
              <a:buNone/>
            </a:pPr>
            <a:r>
              <a:rPr lang="ja-JP" sz="2800">
                <a:latin typeface="游明朝"/>
                <a:ea typeface="游明朝"/>
              </a:rPr>
              <a:t>〈問い〉</a:t>
            </a:r>
          </a:p>
          <a:p>
            <a:pPr marL="0" indent="0">
              <a:buNone/>
            </a:pPr>
            <a:r>
              <a:rPr lang="ja-JP" sz="2800">
                <a:latin typeface="游明朝"/>
                <a:ea typeface="游明朝"/>
              </a:rPr>
              <a:t>proposal（署名で整合した群）では，</a:t>
            </a:r>
          </a:p>
          <a:p>
            <a:pPr marL="0" indent="0">
              <a:buNone/>
            </a:pPr>
            <a:r>
              <a:rPr lang="ja-JP" sz="2800">
                <a:solidFill>
                  <a:srgbClr val="FF0000"/>
                </a:solidFill>
                <a:latin typeface="游明朝"/>
                <a:ea typeface="游明朝"/>
              </a:rPr>
              <a:t>加工による内部表現の動き</a:t>
            </a:r>
            <a:r>
              <a:rPr lang="ja-JP" sz="2800">
                <a:latin typeface="游明朝"/>
                <a:ea typeface="游明朝"/>
              </a:rPr>
              <a:t>が小さくなるか</a:t>
            </a:r>
          </a:p>
          <a:p>
            <a:pPr marL="0" indent="0">
              <a:buNone/>
            </a:pPr>
            <a:r>
              <a:rPr lang="ja-JP" sz="2800">
                <a:latin typeface="游明朝"/>
                <a:ea typeface="游明朝"/>
              </a:rPr>
              <a:t>→ Wani らにならった加工と指標で，3群を比べる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加工の種類</a:t>
            </a:r>
          </a:p>
        </p:txBody>
      </p:sp>
      <p:graphicFrame>
        <p:nvGraphicFramePr>
          <p:cNvPr id="3" name="Table 2"/>
          <p:cNvGraphicFramePr>
            <a:graphicFrameLocks noGrp="1"/>
          </p:cNvGraphicFramePr>
          <p:nvPr/>
        </p:nvGraphicFramePr>
        <p:xfrm>
          <a:off x="841248" y="1645920"/>
          <a:ext cx="10515600" cy="3456432"/>
        </p:xfrm>
        <a:graphic>
          <a:graphicData uri="http://schemas.openxmlformats.org/drawingml/2006/table">
            <a:tbl>
              <a:tblPr firstRow="1" bandRow="0">
                <a:tableStyleId>{5C22544A-7EE6-4342-B048-85BDC9FD1C3A}</a:tableStyleId>
              </a:tblPr>
              <a:tblGrid>
                <a:gridCol w="1828800"/>
                <a:gridCol w="2560320"/>
                <a:gridCol w="5212080"/>
                <a:gridCol w="914400"/>
              </a:tblGrid>
              <a:tr h="384048">
                <a:tc>
                  <a:txBody>
                    <a:bodyPr/>
                    <a:lstStyle/>
                    <a:p>
                      <a:pPr algn="ctr"/>
                      <a:r>
                        <a:rPr lang="ja-JP" sz="1600" b="0">
                          <a:solidFill>
                            <a:srgbClr val="000000"/>
                          </a:solidFill>
                          <a:latin typeface="游明朝"/>
                          <a:ea typeface="游明朝"/>
                        </a:rPr>
                        <a:t>区分</a:t>
                      </a:r>
                    </a:p>
                  </a:txBody>
                  <a:tcPr anchor="ctr" marL="73152" marR="73152">
                    <a:solidFill>
                      <a:schemeClr val="accent2">
                        <a:lumMod val="40000"/>
                        <a:lumOff val="60000"/>
                      </a:schemeClr>
                    </a:solidFill>
                  </a:tcPr>
                </a:tc>
                <a:tc>
                  <a:txBody>
                    <a:bodyPr/>
                    <a:lstStyle/>
                    <a:p>
                      <a:pPr algn="ctr"/>
                      <a:r>
                        <a:rPr lang="ja-JP" sz="1600" b="0">
                          <a:solidFill>
                            <a:srgbClr val="000000"/>
                          </a:solidFill>
                          <a:latin typeface="游明朝"/>
                          <a:ea typeface="游明朝"/>
                        </a:rPr>
                        <a:t>族</a:t>
                      </a:r>
                    </a:p>
                  </a:txBody>
                  <a:tcPr anchor="ctr" marL="73152" marR="73152">
                    <a:solidFill>
                      <a:schemeClr val="accent2">
                        <a:lumMod val="40000"/>
                        <a:lumOff val="60000"/>
                      </a:schemeClr>
                    </a:solidFill>
                  </a:tcPr>
                </a:tc>
                <a:tc>
                  <a:txBody>
                    <a:bodyPr/>
                    <a:lstStyle/>
                    <a:p>
                      <a:pPr algn="ctr"/>
                      <a:r>
                        <a:rPr lang="ja-JP" sz="1600" b="0">
                          <a:solidFill>
                            <a:srgbClr val="000000"/>
                          </a:solidFill>
                          <a:latin typeface="游明朝"/>
                          <a:ea typeface="游明朝"/>
                        </a:rPr>
                        <a:t>内容</a:t>
                      </a:r>
                    </a:p>
                  </a:txBody>
                  <a:tcPr anchor="ctr" marL="73152" marR="73152">
                    <a:solidFill>
                      <a:schemeClr val="accent2">
                        <a:lumMod val="40000"/>
                        <a:lumOff val="60000"/>
                      </a:schemeClr>
                    </a:solidFill>
                  </a:tcPr>
                </a:tc>
                <a:tc>
                  <a:txBody>
                    <a:bodyPr/>
                    <a:lstStyle/>
                    <a:p>
                      <a:pPr algn="ctr"/>
                      <a:r>
                        <a:rPr lang="ja-JP" sz="1600" b="0">
                          <a:solidFill>
                            <a:srgbClr val="000000"/>
                          </a:solidFill>
                          <a:latin typeface="游明朝"/>
                          <a:ea typeface="游明朝"/>
                        </a:rPr>
                        <a:t>通り</a:t>
                      </a:r>
                    </a:p>
                  </a:txBody>
                  <a:tcPr anchor="ctr" marL="73152" marR="73152">
                    <a:solidFill>
                      <a:schemeClr val="accent2">
                        <a:lumMod val="40000"/>
                        <a:lumOff val="60000"/>
                      </a:schemeClr>
                    </a:solidFill>
                  </a:tcPr>
                </a:tc>
              </a:tr>
              <a:tr h="384048">
                <a:tc rowSpan="5">
                  <a:txBody>
                    <a:bodyPr/>
                    <a:lstStyle/>
                    <a:p>
                      <a:pPr algn="ctr"/>
                      <a:r>
                        <a:rPr lang="ja-JP" sz="1600" b="0">
                          <a:solidFill>
                            <a:srgbClr val="000000"/>
                          </a:solidFill>
                          <a:latin typeface="游明朝"/>
                          <a:ea typeface="游明朝"/>
                        </a:rPr>
                        <a:t>幾何的な加工</a:t>
                      </a:r>
                    </a:p>
                    <a:p>
                      <a:pPr algn="ctr"/>
                      <a:r>
                        <a:rPr lang="ja-JP" sz="1600" b="0">
                          <a:solidFill>
                            <a:srgbClr val="000000"/>
                          </a:solidFill>
                          <a:latin typeface="游明朝"/>
                          <a:ea typeface="游明朝"/>
                        </a:rPr>
                        <a:t>5族・20通り</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平行移動</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左右に巡回シフト（±4–16画素，4画素刻み）</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8</a:t>
                      </a:r>
                    </a:p>
                  </a:txBody>
                  <a:tcPr anchor="ctr" marL="73152" marR="73152">
                    <a:solidFill>
                      <a:schemeClr val="accent2">
                        <a:lumMod val="20000"/>
                        <a:lumOff val="80000"/>
                      </a:schemeClr>
                    </a:solidFill>
                  </a:tcPr>
                </a:tc>
              </a:tr>
              <a:tr h="384048">
                <a:tc vMerge="1">
                  <a:txBody>
                    <a:bodyPr/>
                    <a:lstStyle/>
                    <a:p>
                      <a:pPr algn="ctr"/>
                      <a:r>
                        <a:rPr lang="ja-JP" sz="1600" b="0">
                          <a:solidFill>
                            <a:srgbClr val="000000"/>
                          </a:solidFill>
                          <a:latin typeface="游明朝"/>
                          <a:ea typeface="游明朝"/>
                        </a:rPr>
                        <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余白付加と切り出し</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四辺に余白を足す／削る（同じ8通り）</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8</a:t>
                      </a:r>
                    </a:p>
                  </a:txBody>
                  <a:tcPr anchor="ctr" marL="73152" marR="73152">
                    <a:solidFill>
                      <a:schemeClr val="accent2">
                        <a:lumMod val="20000"/>
                        <a:lumOff val="80000"/>
                      </a:schemeClr>
                    </a:solidFill>
                  </a:tcPr>
                </a:tc>
              </a:tr>
              <a:tr h="384048">
                <a:tc vMerge="1">
                  <a:txBody>
                    <a:bodyPr/>
                    <a:lstStyle/>
                    <a:p>
                      <a:pPr algn="ctr"/>
                      <a:r>
                        <a:rPr lang="ja-JP" sz="1600" b="0">
                          <a:solidFill>
                            <a:srgbClr val="000000"/>
                          </a:solidFill>
                          <a:latin typeface="游明朝"/>
                          <a:ea typeface="游明朝"/>
                        </a:rPr>
                        <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縮小</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0.9倍にして，元の解像度へ戻す</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1</a:t>
                      </a:r>
                    </a:p>
                  </a:txBody>
                  <a:tcPr anchor="ctr" marL="73152" marR="73152">
                    <a:solidFill>
                      <a:schemeClr val="accent2">
                        <a:lumMod val="20000"/>
                        <a:lumOff val="80000"/>
                      </a:schemeClr>
                    </a:solidFill>
                  </a:tcPr>
                </a:tc>
              </a:tr>
              <a:tr h="384048">
                <a:tc vMerge="1">
                  <a:txBody>
                    <a:bodyPr/>
                    <a:lstStyle/>
                    <a:p>
                      <a:pPr algn="ctr"/>
                      <a:r>
                        <a:rPr lang="ja-JP" sz="1600" b="0">
                          <a:solidFill>
                            <a:srgbClr val="000000"/>
                          </a:solidFill>
                          <a:latin typeface="游明朝"/>
                          <a:ea typeface="游明朝"/>
                        </a:rPr>
                        <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縮小と余白</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0.9倍にして，灰色の余白で元の寸法へ戻す</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1</a:t>
                      </a:r>
                    </a:p>
                  </a:txBody>
                  <a:tcPr anchor="ctr" marL="73152" marR="73152">
                    <a:solidFill>
                      <a:schemeClr val="accent2">
                        <a:lumMod val="20000"/>
                        <a:lumOff val="80000"/>
                      </a:schemeClr>
                    </a:solidFill>
                  </a:tcPr>
                </a:tc>
              </a:tr>
              <a:tr h="384048">
                <a:tc vMerge="1">
                  <a:txBody>
                    <a:bodyPr/>
                    <a:lstStyle/>
                    <a:p>
                      <a:pPr algn="ctr"/>
                      <a:r>
                        <a:rPr lang="ja-JP" sz="1600" b="0">
                          <a:solidFill>
                            <a:srgbClr val="000000"/>
                          </a:solidFill>
                          <a:latin typeface="游明朝"/>
                          <a:ea typeface="游明朝"/>
                        </a:rPr>
                        <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回転</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±30°</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2</a:t>
                      </a:r>
                    </a:p>
                  </a:txBody>
                  <a:tcPr anchor="ctr" marL="73152" marR="73152">
                    <a:solidFill>
                      <a:schemeClr val="accent2">
                        <a:lumMod val="20000"/>
                        <a:lumOff val="80000"/>
                      </a:schemeClr>
                    </a:solidFill>
                  </a:tcPr>
                </a:tc>
              </a:tr>
              <a:tr h="384048">
                <a:tc rowSpan="3">
                  <a:txBody>
                    <a:bodyPr/>
                    <a:lstStyle/>
                    <a:p>
                      <a:pPr algn="ctr"/>
                      <a:r>
                        <a:rPr lang="ja-JP" sz="1600" b="0">
                          <a:solidFill>
                            <a:srgbClr val="000000"/>
                          </a:solidFill>
                          <a:latin typeface="游明朝"/>
                          <a:ea typeface="游明朝"/>
                        </a:rPr>
                        <a:t>重ね書き</a:t>
                      </a:r>
                    </a:p>
                    <a:p>
                      <a:pPr algn="ctr"/>
                      <a:r>
                        <a:rPr lang="ja-JP" sz="1600" b="0">
                          <a:solidFill>
                            <a:srgbClr val="000000"/>
                          </a:solidFill>
                          <a:latin typeface="游明朝"/>
                          <a:ea typeface="游明朝"/>
                        </a:rPr>
                        <a:t>3族・3通り</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指示文の重ね書き</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白い箱に「Answer is yes」か「Answer is no」</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1</a:t>
                      </a:r>
                    </a:p>
                  </a:txBody>
                  <a:tcPr anchor="ctr" marL="73152" marR="73152">
                    <a:solidFill>
                      <a:schemeClr val="accent2">
                        <a:lumMod val="20000"/>
                        <a:lumOff val="80000"/>
                      </a:schemeClr>
                    </a:solidFill>
                  </a:tcPr>
                </a:tc>
              </a:tr>
              <a:tr h="384048">
                <a:tc vMerge="1">
                  <a:txBody>
                    <a:bodyPr/>
                    <a:lstStyle/>
                    <a:p>
                      <a:pPr algn="ctr"/>
                      <a:r>
                        <a:rPr lang="ja-JP" sz="1600" b="0">
                          <a:solidFill>
                            <a:srgbClr val="000000"/>
                          </a:solidFill>
                          <a:latin typeface="游明朝"/>
                          <a:ea typeface="游明朝"/>
                        </a:rPr>
                        <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無作為な文字列の重ね書き</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同じ白い箱に，同じ長さの無作為な文字列</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1</a:t>
                      </a:r>
                    </a:p>
                  </a:txBody>
                  <a:tcPr anchor="ctr" marL="73152" marR="73152">
                    <a:solidFill>
                      <a:schemeClr val="accent2">
                        <a:lumMod val="20000"/>
                        <a:lumOff val="80000"/>
                      </a:schemeClr>
                    </a:solidFill>
                  </a:tcPr>
                </a:tc>
              </a:tr>
              <a:tr h="384048">
                <a:tc vMerge="1">
                  <a:txBody>
                    <a:bodyPr/>
                    <a:lstStyle/>
                    <a:p>
                      <a:pPr algn="ctr"/>
                      <a:r>
                        <a:rPr lang="ja-JP" sz="1600" b="0">
                          <a:solidFill>
                            <a:srgbClr val="000000"/>
                          </a:solidFill>
                          <a:latin typeface="游明朝"/>
                          <a:ea typeface="游明朝"/>
                        </a:rPr>
                        <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文字なしの重ね書き</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同じ白い箱だけ（何も書かない）</a:t>
                      </a:r>
                    </a:p>
                  </a:txBody>
                  <a:tcPr anchor="ctr" marL="73152" marR="73152">
                    <a:solidFill>
                      <a:schemeClr val="accent2">
                        <a:lumMod val="20000"/>
                        <a:lumOff val="80000"/>
                      </a:schemeClr>
                    </a:solidFill>
                  </a:tcPr>
                </a:tc>
                <a:tc>
                  <a:txBody>
                    <a:bodyPr/>
                    <a:lstStyle/>
                    <a:p>
                      <a:pPr algn="ctr"/>
                      <a:r>
                        <a:rPr lang="ja-JP" sz="1600" b="0">
                          <a:solidFill>
                            <a:srgbClr val="000000"/>
                          </a:solidFill>
                          <a:latin typeface="游明朝"/>
                          <a:ea typeface="游明朝"/>
                        </a:rPr>
                        <a:t>1</a:t>
                      </a:r>
                    </a:p>
                  </a:txBody>
                  <a:tcPr anchor="ctr" marL="73152" marR="73152">
                    <a:solidFill>
                      <a:schemeClr val="accent2">
                        <a:lumMod val="20000"/>
                        <a:lumOff val="80000"/>
                      </a:schemeClr>
                    </a:solidFill>
                  </a:tcPr>
                </a:tc>
              </a:tr>
            </a:tbl>
          </a:graphicData>
        </a:graphic>
      </p:graphicFrame>
      <p:sp>
        <p:nvSpPr>
          <p:cNvPr id="4" name="TextBox 3"/>
          <p:cNvSpPr txBox="1"/>
          <p:nvPr/>
        </p:nvSpPr>
        <p:spPr>
          <a:xfrm>
            <a:off x="841248" y="5760720"/>
            <a:ext cx="10515600" cy="914400"/>
          </a:xfrm>
          <a:prstGeom prst="rect">
            <a:avLst/>
          </a:prstGeom>
          <a:noFill/>
        </p:spPr>
        <p:txBody>
          <a:bodyPr wrap="square" anchor="t">
            <a:spAutoFit/>
          </a:bodyPr>
          <a:lstStyle/>
          <a:p>
            <a:pPr marL="0" indent="0">
              <a:buNone/>
            </a:pPr>
            <a:r>
              <a:rPr lang="ja-JP" sz="2400">
                <a:latin typeface="游明朝"/>
                <a:ea typeface="游明朝"/>
              </a:rPr>
              <a:t>Wani ら[1]の8族・計23通りを，12,578問すべてに施す</a:t>
            </a:r>
          </a:p>
          <a:p>
            <a:pPr marL="0" indent="0">
              <a:buNone/>
            </a:pPr>
            <a:r>
              <a:rPr lang="ja-JP" sz="2000">
                <a:latin typeface="游明朝"/>
                <a:ea typeface="游明朝"/>
              </a:rPr>
              <a:t>原典に無い値はこちらで決め，指示文は予測を見ずに問ごとに yes か no にした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加工の例</a:t>
            </a:r>
          </a:p>
        </p:txBody>
      </p:sp>
      <p:pic>
        <p:nvPicPr>
          <p:cNvPr id="3" name="Picture 2" descr="base.png"/>
          <p:cNvPicPr>
            <a:picLocks noChangeAspect="1"/>
          </p:cNvPicPr>
          <p:nvPr/>
        </p:nvPicPr>
        <p:blipFill>
          <a:blip r:embed="rId2"/>
          <a:stretch>
            <a:fillRect/>
          </a:stretch>
        </p:blipFill>
        <p:spPr>
          <a:xfrm>
            <a:off x="841248" y="1600200"/>
            <a:ext cx="1965960" cy="1474470"/>
          </a:xfrm>
          <a:prstGeom prst="rect">
            <a:avLst/>
          </a:prstGeom>
        </p:spPr>
      </p:pic>
      <p:sp>
        <p:nvSpPr>
          <p:cNvPr id="4" name="TextBox 3"/>
          <p:cNvSpPr txBox="1"/>
          <p:nvPr/>
        </p:nvSpPr>
        <p:spPr>
          <a:xfrm>
            <a:off x="749808" y="3092958"/>
            <a:ext cx="2148840" cy="365760"/>
          </a:xfrm>
          <a:prstGeom prst="rect">
            <a:avLst/>
          </a:prstGeom>
          <a:noFill/>
        </p:spPr>
        <p:txBody>
          <a:bodyPr wrap="square" anchor="t">
            <a:spAutoFit/>
          </a:bodyPr>
          <a:lstStyle/>
          <a:p>
            <a:pPr marL="0" indent="0" algn="ctr">
              <a:buNone/>
            </a:pPr>
            <a:r>
              <a:rPr lang="ja-JP" sz="1800">
                <a:latin typeface="游明朝"/>
                <a:ea typeface="游明朝"/>
              </a:rPr>
              <a:t>元画像</a:t>
            </a:r>
          </a:p>
        </p:txBody>
      </p:sp>
      <p:pic>
        <p:nvPicPr>
          <p:cNvPr id="5" name="Picture 4" descr="translation+16.png"/>
          <p:cNvPicPr>
            <a:picLocks noChangeAspect="1"/>
          </p:cNvPicPr>
          <p:nvPr/>
        </p:nvPicPr>
        <p:blipFill>
          <a:blip r:embed="rId3"/>
          <a:stretch>
            <a:fillRect/>
          </a:stretch>
        </p:blipFill>
        <p:spPr>
          <a:xfrm>
            <a:off x="2980944" y="1600200"/>
            <a:ext cx="1965960" cy="1474470"/>
          </a:xfrm>
          <a:prstGeom prst="rect">
            <a:avLst/>
          </a:prstGeom>
        </p:spPr>
      </p:pic>
      <p:sp>
        <p:nvSpPr>
          <p:cNvPr id="6" name="TextBox 5"/>
          <p:cNvSpPr txBox="1"/>
          <p:nvPr/>
        </p:nvSpPr>
        <p:spPr>
          <a:xfrm>
            <a:off x="2889503" y="3092958"/>
            <a:ext cx="2148840" cy="365760"/>
          </a:xfrm>
          <a:prstGeom prst="rect">
            <a:avLst/>
          </a:prstGeom>
          <a:noFill/>
        </p:spPr>
        <p:txBody>
          <a:bodyPr wrap="square" anchor="t">
            <a:spAutoFit/>
          </a:bodyPr>
          <a:lstStyle/>
          <a:p>
            <a:pPr marL="0" indent="0" algn="ctr">
              <a:buNone/>
            </a:pPr>
            <a:r>
              <a:rPr lang="ja-JP" sz="1800">
                <a:latin typeface="游明朝"/>
                <a:ea typeface="游明朝"/>
              </a:rPr>
              <a:t>平行移動</a:t>
            </a:r>
          </a:p>
        </p:txBody>
      </p:sp>
      <p:pic>
        <p:nvPicPr>
          <p:cNvPr id="7" name="Picture 6" descr="pad_crop+16.png"/>
          <p:cNvPicPr>
            <a:picLocks noChangeAspect="1"/>
          </p:cNvPicPr>
          <p:nvPr/>
        </p:nvPicPr>
        <p:blipFill>
          <a:blip r:embed="rId4"/>
          <a:stretch>
            <a:fillRect/>
          </a:stretch>
        </p:blipFill>
        <p:spPr>
          <a:xfrm>
            <a:off x="5120640" y="1600200"/>
            <a:ext cx="1965960" cy="1504033"/>
          </a:xfrm>
          <a:prstGeom prst="rect">
            <a:avLst/>
          </a:prstGeom>
        </p:spPr>
      </p:pic>
      <p:sp>
        <p:nvSpPr>
          <p:cNvPr id="8" name="TextBox 7"/>
          <p:cNvSpPr txBox="1"/>
          <p:nvPr/>
        </p:nvSpPr>
        <p:spPr>
          <a:xfrm>
            <a:off x="5029200" y="3092958"/>
            <a:ext cx="2148840" cy="365760"/>
          </a:xfrm>
          <a:prstGeom prst="rect">
            <a:avLst/>
          </a:prstGeom>
          <a:noFill/>
        </p:spPr>
        <p:txBody>
          <a:bodyPr wrap="square" anchor="t">
            <a:spAutoFit/>
          </a:bodyPr>
          <a:lstStyle/>
          <a:p>
            <a:pPr marL="0" indent="0" algn="ctr">
              <a:buNone/>
            </a:pPr>
            <a:r>
              <a:rPr lang="ja-JP" sz="1800">
                <a:latin typeface="游明朝"/>
                <a:ea typeface="游明朝"/>
              </a:rPr>
              <a:t>余白付加</a:t>
            </a:r>
          </a:p>
        </p:txBody>
      </p:sp>
      <p:pic>
        <p:nvPicPr>
          <p:cNvPr id="9" name="Picture 8" descr="pad_crop-16.png"/>
          <p:cNvPicPr>
            <a:picLocks noChangeAspect="1"/>
          </p:cNvPicPr>
          <p:nvPr/>
        </p:nvPicPr>
        <p:blipFill>
          <a:blip r:embed="rId5"/>
          <a:stretch>
            <a:fillRect/>
          </a:stretch>
        </p:blipFill>
        <p:spPr>
          <a:xfrm>
            <a:off x="7260336" y="1600200"/>
            <a:ext cx="1965960" cy="1440864"/>
          </a:xfrm>
          <a:prstGeom prst="rect">
            <a:avLst/>
          </a:prstGeom>
        </p:spPr>
      </p:pic>
      <p:sp>
        <p:nvSpPr>
          <p:cNvPr id="10" name="TextBox 9"/>
          <p:cNvSpPr txBox="1"/>
          <p:nvPr/>
        </p:nvSpPr>
        <p:spPr>
          <a:xfrm>
            <a:off x="7168896" y="3092958"/>
            <a:ext cx="2148840" cy="365760"/>
          </a:xfrm>
          <a:prstGeom prst="rect">
            <a:avLst/>
          </a:prstGeom>
          <a:noFill/>
        </p:spPr>
        <p:txBody>
          <a:bodyPr wrap="square" anchor="t">
            <a:spAutoFit/>
          </a:bodyPr>
          <a:lstStyle/>
          <a:p>
            <a:pPr marL="0" indent="0" algn="ctr">
              <a:buNone/>
            </a:pPr>
            <a:r>
              <a:rPr lang="ja-JP" sz="1800">
                <a:latin typeface="游明朝"/>
                <a:ea typeface="游明朝"/>
              </a:rPr>
              <a:t>切り出し</a:t>
            </a:r>
          </a:p>
        </p:txBody>
      </p:sp>
      <p:pic>
        <p:nvPicPr>
          <p:cNvPr id="11" name="Picture 10" descr="scale_pad0.9.png"/>
          <p:cNvPicPr>
            <a:picLocks noChangeAspect="1"/>
          </p:cNvPicPr>
          <p:nvPr/>
        </p:nvPicPr>
        <p:blipFill>
          <a:blip r:embed="rId6"/>
          <a:stretch>
            <a:fillRect/>
          </a:stretch>
        </p:blipFill>
        <p:spPr>
          <a:xfrm>
            <a:off x="9400032" y="1600200"/>
            <a:ext cx="1965960" cy="1474470"/>
          </a:xfrm>
          <a:prstGeom prst="rect">
            <a:avLst/>
          </a:prstGeom>
        </p:spPr>
      </p:pic>
      <p:sp>
        <p:nvSpPr>
          <p:cNvPr id="12" name="TextBox 11"/>
          <p:cNvSpPr txBox="1"/>
          <p:nvPr/>
        </p:nvSpPr>
        <p:spPr>
          <a:xfrm>
            <a:off x="9308592" y="3092958"/>
            <a:ext cx="2148840" cy="365760"/>
          </a:xfrm>
          <a:prstGeom prst="rect">
            <a:avLst/>
          </a:prstGeom>
          <a:noFill/>
        </p:spPr>
        <p:txBody>
          <a:bodyPr wrap="square" anchor="t">
            <a:spAutoFit/>
          </a:bodyPr>
          <a:lstStyle/>
          <a:p>
            <a:pPr marL="0" indent="0" algn="ctr">
              <a:buNone/>
            </a:pPr>
            <a:r>
              <a:rPr lang="ja-JP" sz="1800">
                <a:latin typeface="游明朝"/>
                <a:ea typeface="游明朝"/>
              </a:rPr>
              <a:t>縮小と余白</a:t>
            </a:r>
          </a:p>
        </p:txBody>
      </p:sp>
      <p:pic>
        <p:nvPicPr>
          <p:cNvPr id="13" name="Picture 12" descr="rotation+30.png"/>
          <p:cNvPicPr>
            <a:picLocks noChangeAspect="1"/>
          </p:cNvPicPr>
          <p:nvPr/>
        </p:nvPicPr>
        <p:blipFill>
          <a:blip r:embed="rId7"/>
          <a:stretch>
            <a:fillRect/>
          </a:stretch>
        </p:blipFill>
        <p:spPr>
          <a:xfrm>
            <a:off x="841248" y="3703320"/>
            <a:ext cx="1965960" cy="1474470"/>
          </a:xfrm>
          <a:prstGeom prst="rect">
            <a:avLst/>
          </a:prstGeom>
        </p:spPr>
      </p:pic>
      <p:sp>
        <p:nvSpPr>
          <p:cNvPr id="14" name="TextBox 13"/>
          <p:cNvSpPr txBox="1"/>
          <p:nvPr/>
        </p:nvSpPr>
        <p:spPr>
          <a:xfrm>
            <a:off x="749808" y="5196077"/>
            <a:ext cx="2148840" cy="365760"/>
          </a:xfrm>
          <a:prstGeom prst="rect">
            <a:avLst/>
          </a:prstGeom>
          <a:noFill/>
        </p:spPr>
        <p:txBody>
          <a:bodyPr wrap="square" anchor="t">
            <a:spAutoFit/>
          </a:bodyPr>
          <a:lstStyle/>
          <a:p>
            <a:pPr marL="0" indent="0" algn="ctr">
              <a:buNone/>
            </a:pPr>
            <a:r>
              <a:rPr lang="ja-JP" sz="1800">
                <a:latin typeface="游明朝"/>
                <a:ea typeface="游明朝"/>
              </a:rPr>
              <a:t>回転</a:t>
            </a:r>
          </a:p>
        </p:txBody>
      </p:sp>
      <p:pic>
        <p:nvPicPr>
          <p:cNvPr id="15" name="Picture 14" descr="text_overlay.png"/>
          <p:cNvPicPr>
            <a:picLocks noChangeAspect="1"/>
          </p:cNvPicPr>
          <p:nvPr/>
        </p:nvPicPr>
        <p:blipFill>
          <a:blip r:embed="rId8"/>
          <a:stretch>
            <a:fillRect/>
          </a:stretch>
        </p:blipFill>
        <p:spPr>
          <a:xfrm>
            <a:off x="2980944" y="3703320"/>
            <a:ext cx="1965960" cy="1474470"/>
          </a:xfrm>
          <a:prstGeom prst="rect">
            <a:avLst/>
          </a:prstGeom>
        </p:spPr>
      </p:pic>
      <p:sp>
        <p:nvSpPr>
          <p:cNvPr id="16" name="TextBox 15"/>
          <p:cNvSpPr txBox="1"/>
          <p:nvPr/>
        </p:nvSpPr>
        <p:spPr>
          <a:xfrm>
            <a:off x="2889503" y="5196077"/>
            <a:ext cx="2148840" cy="365760"/>
          </a:xfrm>
          <a:prstGeom prst="rect">
            <a:avLst/>
          </a:prstGeom>
          <a:noFill/>
        </p:spPr>
        <p:txBody>
          <a:bodyPr wrap="square" anchor="t">
            <a:spAutoFit/>
          </a:bodyPr>
          <a:lstStyle/>
          <a:p>
            <a:pPr marL="0" indent="0" algn="ctr">
              <a:buNone/>
            </a:pPr>
            <a:r>
              <a:rPr lang="ja-JP" sz="1800">
                <a:latin typeface="游明朝"/>
                <a:ea typeface="游明朝"/>
              </a:rPr>
              <a:t>指示文の</a:t>
            </a:r>
            <a:br>
              <a:rPr lang="ja-JP" sz="1800"/>
            </a:br>
            <a:r>
              <a:rPr lang="ja-JP" sz="1800">
                <a:latin typeface="游明朝"/>
                <a:ea typeface="游明朝"/>
              </a:rPr>
              <a:t>重ね書き</a:t>
            </a:r>
          </a:p>
        </p:txBody>
      </p:sp>
      <p:pic>
        <p:nvPicPr>
          <p:cNvPr id="17" name="Picture 16" descr="random_text.png"/>
          <p:cNvPicPr>
            <a:picLocks noChangeAspect="1"/>
          </p:cNvPicPr>
          <p:nvPr/>
        </p:nvPicPr>
        <p:blipFill>
          <a:blip r:embed="rId9"/>
          <a:stretch>
            <a:fillRect/>
          </a:stretch>
        </p:blipFill>
        <p:spPr>
          <a:xfrm>
            <a:off x="5120640" y="3703320"/>
            <a:ext cx="1965960" cy="1474470"/>
          </a:xfrm>
          <a:prstGeom prst="rect">
            <a:avLst/>
          </a:prstGeom>
        </p:spPr>
      </p:pic>
      <p:sp>
        <p:nvSpPr>
          <p:cNvPr id="18" name="TextBox 17"/>
          <p:cNvSpPr txBox="1"/>
          <p:nvPr/>
        </p:nvSpPr>
        <p:spPr>
          <a:xfrm>
            <a:off x="5029200" y="5196077"/>
            <a:ext cx="2148840" cy="365760"/>
          </a:xfrm>
          <a:prstGeom prst="rect">
            <a:avLst/>
          </a:prstGeom>
          <a:noFill/>
        </p:spPr>
        <p:txBody>
          <a:bodyPr wrap="square" anchor="t">
            <a:spAutoFit/>
          </a:bodyPr>
          <a:lstStyle/>
          <a:p>
            <a:pPr marL="0" indent="0" algn="ctr">
              <a:buNone/>
            </a:pPr>
            <a:r>
              <a:rPr lang="ja-JP" sz="1800">
                <a:latin typeface="游明朝"/>
                <a:ea typeface="游明朝"/>
              </a:rPr>
              <a:t>無作為な文字列の</a:t>
            </a:r>
            <a:br>
              <a:rPr lang="ja-JP" sz="1800"/>
            </a:br>
            <a:r>
              <a:rPr lang="ja-JP" sz="1800">
                <a:latin typeface="游明朝"/>
                <a:ea typeface="游明朝"/>
              </a:rPr>
              <a:t>重ね書き</a:t>
            </a:r>
          </a:p>
        </p:txBody>
      </p:sp>
      <p:pic>
        <p:nvPicPr>
          <p:cNvPr id="19" name="Picture 18" descr="box_overlay.png"/>
          <p:cNvPicPr>
            <a:picLocks noChangeAspect="1"/>
          </p:cNvPicPr>
          <p:nvPr/>
        </p:nvPicPr>
        <p:blipFill>
          <a:blip r:embed="rId10"/>
          <a:stretch>
            <a:fillRect/>
          </a:stretch>
        </p:blipFill>
        <p:spPr>
          <a:xfrm>
            <a:off x="7260336" y="3703320"/>
            <a:ext cx="1965960" cy="1474470"/>
          </a:xfrm>
          <a:prstGeom prst="rect">
            <a:avLst/>
          </a:prstGeom>
        </p:spPr>
      </p:pic>
      <p:sp>
        <p:nvSpPr>
          <p:cNvPr id="20" name="TextBox 19"/>
          <p:cNvSpPr txBox="1"/>
          <p:nvPr/>
        </p:nvSpPr>
        <p:spPr>
          <a:xfrm>
            <a:off x="7168896" y="5196077"/>
            <a:ext cx="2148840" cy="365760"/>
          </a:xfrm>
          <a:prstGeom prst="rect">
            <a:avLst/>
          </a:prstGeom>
          <a:noFill/>
        </p:spPr>
        <p:txBody>
          <a:bodyPr wrap="square" anchor="t">
            <a:spAutoFit/>
          </a:bodyPr>
          <a:lstStyle/>
          <a:p>
            <a:pPr marL="0" indent="0" algn="ctr">
              <a:buNone/>
            </a:pPr>
            <a:r>
              <a:rPr lang="ja-JP" sz="1800">
                <a:latin typeface="游明朝"/>
                <a:ea typeface="游明朝"/>
              </a:rPr>
              <a:t>文字なしの</a:t>
            </a:r>
            <a:br>
              <a:rPr lang="ja-JP" sz="1800"/>
            </a:br>
            <a:r>
              <a:rPr lang="ja-JP" sz="1800">
                <a:latin typeface="游明朝"/>
                <a:ea typeface="游明朝"/>
              </a:rPr>
              <a:t>重ね書き</a:t>
            </a:r>
          </a:p>
        </p:txBody>
      </p:sp>
      <p:pic>
        <p:nvPicPr>
          <p:cNvPr id="21" name="Picture 20" descr="other_image.png"/>
          <p:cNvPicPr>
            <a:picLocks noChangeAspect="1"/>
          </p:cNvPicPr>
          <p:nvPr/>
        </p:nvPicPr>
        <p:blipFill>
          <a:blip r:embed="rId11"/>
          <a:stretch>
            <a:fillRect/>
          </a:stretch>
        </p:blipFill>
        <p:spPr>
          <a:xfrm>
            <a:off x="9400032" y="3703320"/>
            <a:ext cx="1965960" cy="1474470"/>
          </a:xfrm>
          <a:prstGeom prst="rect">
            <a:avLst/>
          </a:prstGeom>
        </p:spPr>
      </p:pic>
      <p:sp>
        <p:nvSpPr>
          <p:cNvPr id="22" name="TextBox 21"/>
          <p:cNvSpPr txBox="1"/>
          <p:nvPr/>
        </p:nvSpPr>
        <p:spPr>
          <a:xfrm>
            <a:off x="9308592" y="5196077"/>
            <a:ext cx="2148840" cy="365760"/>
          </a:xfrm>
          <a:prstGeom prst="rect">
            <a:avLst/>
          </a:prstGeom>
          <a:noFill/>
        </p:spPr>
        <p:txBody>
          <a:bodyPr wrap="square" anchor="t">
            <a:spAutoFit/>
          </a:bodyPr>
          <a:lstStyle/>
          <a:p>
            <a:pPr marL="0" indent="0" algn="ctr">
              <a:buNone/>
            </a:pPr>
            <a:r>
              <a:rPr lang="ja-JP" sz="1800">
                <a:latin typeface="游明朝"/>
                <a:ea typeface="游明朝"/>
              </a:rPr>
              <a:t>別の画像（対照）</a:t>
            </a:r>
          </a:p>
        </p:txBody>
      </p:sp>
      <p:sp>
        <p:nvSpPr>
          <p:cNvPr id="23" name="TextBox 22"/>
          <p:cNvSpPr txBox="1"/>
          <p:nvPr/>
        </p:nvSpPr>
        <p:spPr>
          <a:xfrm>
            <a:off x="841248" y="5989320"/>
            <a:ext cx="10515600" cy="457200"/>
          </a:xfrm>
          <a:prstGeom prst="rect">
            <a:avLst/>
          </a:prstGeom>
          <a:noFill/>
        </p:spPr>
        <p:txBody>
          <a:bodyPr wrap="square" anchor="t">
            <a:spAutoFit/>
          </a:bodyPr>
          <a:lstStyle/>
          <a:p>
            <a:pPr marL="0" indent="0" algn="r">
              <a:buNone/>
            </a:pPr>
            <a:r>
              <a:rPr lang="ja-JP" sz="1800">
                <a:latin typeface="游明朝"/>
                <a:ea typeface="游明朝"/>
              </a:rPr>
              <a:t>（評価データの問「Who is wearing the dress?」に，測定で施した加工．画像：GQA[2]）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測る量</a:t>
            </a:r>
          </a:p>
        </p:txBody>
      </p:sp>
      <p:sp>
        <p:nvSpPr>
          <p:cNvPr id="3" name="TextBox 2"/>
          <p:cNvSpPr txBox="1"/>
          <p:nvPr/>
        </p:nvSpPr>
        <p:spPr>
          <a:xfrm>
            <a:off x="841248" y="1600200"/>
            <a:ext cx="10515600" cy="1554480"/>
          </a:xfrm>
          <a:prstGeom prst="rect">
            <a:avLst/>
          </a:prstGeom>
          <a:noFill/>
        </p:spPr>
        <p:txBody>
          <a:bodyPr wrap="square" anchor="t">
            <a:spAutoFit/>
          </a:bodyPr>
          <a:lstStyle/>
          <a:p>
            <a:pPr marL="228600" indent="-228600">
              <a:buFont typeface="Arial"/>
              <a:buChar char="•"/>
            </a:pPr>
            <a:r>
              <a:rPr lang="ja-JP" sz="2800">
                <a:latin typeface="游明朝"/>
                <a:ea typeface="游明朝"/>
              </a:rPr>
              <a:t>同じ質問で，元の画像の </a:t>
            </a:r>
            <a:r>
              <a:rPr lang="ja-JP" sz="2800">
                <a:latin typeface="Cambria Math"/>
                <a:ea typeface="Cambria Math"/>
              </a:rPr>
              <a:t>ℎ</a:t>
            </a:r>
            <a:r>
              <a:rPr lang="ja-JP" sz="2800">
                <a:latin typeface="游明朝"/>
                <a:ea typeface="游明朝"/>
              </a:rPr>
              <a:t> と加工した画像の ℎ′ の距離を測る</a:t>
            </a:r>
          </a:p>
          <a:p>
            <a:pPr lvl="1" marL="685800" indent="-228600">
              <a:buFont typeface="Arial"/>
              <a:buChar char="•"/>
            </a:pPr>
            <a:r>
              <a:rPr lang="ja-JP" sz="2400">
                <a:latin typeface="游明朝"/>
                <a:ea typeface="游明朝"/>
              </a:rPr>
              <a:t>ℎ：第16層の，質問を読み終えた位置．距離 = 1 − cos(ℎ, ℎ′)</a:t>
            </a:r>
          </a:p>
          <a:p>
            <a:pPr lvl="1" marL="685800" indent="-228600">
              <a:buFont typeface="Arial"/>
              <a:buChar char="•"/>
            </a:pPr>
            <a:r>
              <a:rPr lang="ja-JP" sz="2400">
                <a:latin typeface="游明朝"/>
                <a:ea typeface="游明朝"/>
              </a:rPr>
              <a:t>比：加工による動きが，別の画像に替えたときの動きの何%か</a:t>
            </a:r>
          </a:p>
        </p:txBody>
      </p:sp>
      <p:sp>
        <p:nvSpPr>
          <p:cNvPr id="4" name="Rounded Rectangle 3"/>
          <p:cNvSpPr/>
          <p:nvPr/>
        </p:nvSpPr>
        <p:spPr>
          <a:xfrm>
            <a:off x="841248" y="338328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画像 + 質問</a:t>
            </a:r>
          </a:p>
        </p:txBody>
      </p:sp>
      <p:sp>
        <p:nvSpPr>
          <p:cNvPr id="5" name="Rounded Rectangle 4"/>
          <p:cNvSpPr/>
          <p:nvPr/>
        </p:nvSpPr>
        <p:spPr>
          <a:xfrm>
            <a:off x="841248" y="434340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加工した画像</a:t>
            </a:r>
          </a:p>
          <a:p>
            <a:pPr marL="0" indent="0" algn="ctr">
              <a:buNone/>
            </a:pPr>
            <a:r>
              <a:rPr lang="ja-JP" sz="2000">
                <a:solidFill>
                  <a:srgbClr val="000000"/>
                </a:solidFill>
                <a:latin typeface="游明朝"/>
                <a:ea typeface="游明朝"/>
              </a:rPr>
              <a:t>+ 質問</a:t>
            </a:r>
          </a:p>
        </p:txBody>
      </p:sp>
      <p:sp>
        <p:nvSpPr>
          <p:cNvPr id="6" name="Rounded Rectangle 5"/>
          <p:cNvSpPr/>
          <p:nvPr/>
        </p:nvSpPr>
        <p:spPr>
          <a:xfrm>
            <a:off x="841248" y="530352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別の画像 + 質問</a:t>
            </a:r>
          </a:p>
        </p:txBody>
      </p:sp>
      <p:cxnSp>
        <p:nvCxnSpPr>
          <p:cNvPr id="7" name="Connector 6"/>
          <p:cNvCxnSpPr/>
          <p:nvPr/>
        </p:nvCxnSpPr>
        <p:spPr>
          <a:xfrm>
            <a:off x="326440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6440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6440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67328" y="3383280"/>
            <a:ext cx="1463040" cy="2697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FFFFFF"/>
                </a:solidFill>
                <a:latin typeface="游明朝"/>
                <a:ea typeface="游明朝"/>
              </a:rPr>
              <a:t>VLM</a:t>
            </a:r>
          </a:p>
          <a:p>
            <a:pPr marL="0" indent="0" algn="ctr">
              <a:buNone/>
            </a:pPr>
            <a:r>
              <a:rPr lang="ja-JP" sz="2000">
                <a:solidFill>
                  <a:srgbClr val="FFFFFF"/>
                </a:solidFill>
                <a:latin typeface="游明朝"/>
                <a:ea typeface="游明朝"/>
              </a:rPr>
              <a:t>（各群の</a:t>
            </a:r>
          </a:p>
          <a:p>
            <a:pPr marL="0" indent="0" algn="ctr">
              <a:buNone/>
            </a:pPr>
            <a:r>
              <a:rPr lang="ja-JP" sz="2000">
                <a:solidFill>
                  <a:srgbClr val="FFFFFF"/>
                </a:solidFill>
                <a:latin typeface="游明朝"/>
                <a:ea typeface="游明朝"/>
              </a:rPr>
              <a:t>学習済み）</a:t>
            </a:r>
          </a:p>
        </p:txBody>
      </p:sp>
      <p:cxnSp>
        <p:nvCxnSpPr>
          <p:cNvPr id="11" name="Connector 10"/>
          <p:cNvCxnSpPr/>
          <p:nvPr/>
        </p:nvCxnSpPr>
        <p:spPr>
          <a:xfrm>
            <a:off x="527608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79008" y="349758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3" name="Connector 12"/>
          <p:cNvCxnSpPr/>
          <p:nvPr/>
        </p:nvCxnSpPr>
        <p:spPr>
          <a:xfrm>
            <a:off x="527608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779008" y="445770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5" name="Connector 14"/>
          <p:cNvCxnSpPr/>
          <p:nvPr/>
        </p:nvCxnSpPr>
        <p:spPr>
          <a:xfrm>
            <a:off x="527608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79008" y="541782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sp>
        <p:nvSpPr>
          <p:cNvPr id="17" name="TextBox 16"/>
          <p:cNvSpPr txBox="1"/>
          <p:nvPr/>
        </p:nvSpPr>
        <p:spPr>
          <a:xfrm>
            <a:off x="6903720" y="3429000"/>
            <a:ext cx="4480560" cy="2651760"/>
          </a:xfrm>
          <a:prstGeom prst="rect">
            <a:avLst/>
          </a:prstGeom>
          <a:noFill/>
        </p:spPr>
        <p:txBody>
          <a:bodyPr wrap="square" anchor="t">
            <a:spAutoFit/>
          </a:bodyPr>
          <a:lstStyle/>
          <a:p>
            <a:pPr marL="0" indent="0">
              <a:buNone/>
            </a:pPr>
            <a:r>
              <a:rPr lang="ja-JP" sz="2400">
                <a:latin typeface="游明朝"/>
                <a:ea typeface="游明朝"/>
              </a:rPr>
              <a:t>比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2400">
                <a:latin typeface="游明朝"/>
                <a:ea typeface="游明朝"/>
              </a:rPr>
              <a:t>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1600">
                <a:latin typeface="游明朝"/>
                <a:ea typeface="游明朝"/>
              </a:rPr>
              <a:t/>
            </a:r>
          </a:p>
          <a:p>
            <a:pPr marL="0" indent="0">
              <a:buNone/>
            </a:pPr>
            <a:r>
              <a:rPr lang="ja-JP" sz="2000">
                <a:latin typeface="游明朝"/>
                <a:ea typeface="游明朝"/>
              </a:rPr>
              <a:t>ℎ″：同じ質問・別の画像（対照）</a:t>
            </a:r>
          </a:p>
          <a:p>
            <a:pPr marL="0" indent="0">
              <a:buNone/>
            </a:pPr>
            <a:r>
              <a:rPr lang="ja-JP" sz="2000">
                <a:solidFill>
                  <a:srgbClr val="FF0000"/>
                </a:solidFill>
                <a:latin typeface="游明朝"/>
                <a:ea typeface="游明朝"/>
              </a:rPr>
              <a:t>判定に使うのは，第16層の</a:t>
            </a:r>
            <a:br>
              <a:rPr lang="ja-JP" sz="2000">
                <a:solidFill>
                  <a:srgbClr val="FF0000"/>
                </a:solidFill>
                <a:latin typeface="游明朝"/>
                <a:ea typeface="游明朝"/>
              </a:rPr>
            </a:br>
            <a:r>
              <a:rPr lang="ja-JP" sz="2000">
                <a:solidFill>
                  <a:srgbClr val="FF0000"/>
                </a:solidFill>
                <a:latin typeface="游明朝"/>
                <a:ea typeface="游明朝"/>
              </a:rPr>
              <a:t>23通りすべての比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族ごとの比（第16層）</a:t>
            </a:r>
          </a:p>
        </p:txBody>
      </p:sp>
      <p:graphicFrame>
        <p:nvGraphicFramePr>
          <p:cNvPr id="3" name="Chart 2"/>
          <p:cNvGraphicFramePr>
            <a:graphicFrameLocks noGrp="1"/>
          </p:cNvGraphicFramePr>
          <p:nvPr/>
        </p:nvGraphicFramePr>
        <p:xfrm>
          <a:off x="841248" y="1508760"/>
          <a:ext cx="10515600" cy="3108960"/>
        </p:xfrm>
        <a:graphic>
          <a:graphicData uri="http://schemas.openxmlformats.org/drawingml/2006/chart">
            <c:chart xmlns:c="http://schemas.openxmlformats.org/drawingml/2006/chart" r:id="rId2"/>
          </a:graphicData>
        </a:graphic>
      </p:graphicFrame>
      <p:sp>
        <p:nvSpPr>
          <p:cNvPr id="4" name="TextBox 3"/>
          <p:cNvSpPr txBox="1"/>
          <p:nvPr/>
        </p:nvSpPr>
        <p:spPr>
          <a:xfrm>
            <a:off x="841248" y="4663440"/>
            <a:ext cx="10515600" cy="1737360"/>
          </a:xfrm>
          <a:prstGeom prst="rect">
            <a:avLst/>
          </a:prstGeom>
          <a:noFill/>
        </p:spPr>
        <p:txBody>
          <a:bodyPr wrap="square" anchor="t">
            <a:spAutoFit/>
          </a:bodyPr>
          <a:lstStyle/>
          <a:p>
            <a:pPr marL="228600" indent="-228600">
              <a:buFont typeface="Arial"/>
              <a:buChar char="•"/>
            </a:pPr>
            <a:r>
              <a:rPr lang="ja-JP" sz="2400">
                <a:latin typeface="游明朝"/>
                <a:ea typeface="游明朝"/>
              </a:rPr>
              <a:t>左5族：幾何的な加工，右3族：重ね書き，右端：23通りすべて</a:t>
            </a:r>
          </a:p>
          <a:p>
            <a:pPr marL="228600" indent="-228600">
              <a:buFont typeface="Arial"/>
              <a:buChar char="•"/>
            </a:pPr>
            <a:r>
              <a:rPr lang="ja-JP" sz="2400">
                <a:latin typeface="游明朝"/>
                <a:ea typeface="游明朝"/>
              </a:rPr>
              <a:t>baseline との差の区間が0を外れるのは，余白付加と切り出し，回転</a:t>
            </a:r>
          </a:p>
          <a:p>
            <a:pPr marL="0" indent="0">
              <a:buNone/>
            </a:pPr>
            <a:r>
              <a:rPr lang="ja-JP" sz="1800">
                <a:latin typeface="游明朝"/>
                <a:ea typeface="游明朝"/>
              </a:rPr>
              <a:t>族ごとの区間は8つ作るので，偶然0を外れうる．判定は23通りすべてで行う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分母とまとめ方を変えた比（第16層）</a:t>
            </a:r>
          </a:p>
        </p:txBody>
      </p:sp>
      <p:sp>
        <p:nvSpPr>
          <p:cNvPr id="3" name="TextBox 2"/>
          <p:cNvSpPr txBox="1"/>
          <p:nvPr/>
        </p:nvSpPr>
        <p:spPr>
          <a:xfrm>
            <a:off x="841248" y="1554480"/>
            <a:ext cx="10515600" cy="118872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は baseline より，加工で約3倍，別の画像で約5倍動く</a:t>
            </a:r>
          </a:p>
          <a:p>
            <a:pPr marL="0" indent="0">
              <a:buNone/>
            </a:pPr>
            <a:r>
              <a:rPr lang="ja-JP" sz="2400">
                <a:latin typeface="游明朝"/>
                <a:ea typeface="游明朝"/>
              </a:rPr>
              <a:t>→ 比が下がったのは，分母のほうが大きく伸びたため</a:t>
            </a:r>
          </a:p>
        </p:txBody>
      </p:sp>
      <p:graphicFrame>
        <p:nvGraphicFramePr>
          <p:cNvPr id="4" name="Table 3"/>
          <p:cNvGraphicFramePr>
            <a:graphicFrameLocks noGrp="1"/>
          </p:cNvGraphicFramePr>
          <p:nvPr/>
        </p:nvGraphicFramePr>
        <p:xfrm>
          <a:off x="841248" y="2697480"/>
          <a:ext cx="10515600" cy="2011680"/>
        </p:xfrm>
        <a:graphic>
          <a:graphicData uri="http://schemas.openxmlformats.org/drawingml/2006/table">
            <a:tbl>
              <a:tblPr firstRow="1" bandRow="0">
                <a:tableStyleId>{5C22544A-7EE6-4342-B048-85BDC9FD1C3A}</a:tableStyleId>
              </a:tblPr>
              <a:tblGrid>
                <a:gridCol w="5760720"/>
                <a:gridCol w="2194560"/>
                <a:gridCol w="2560320"/>
              </a:tblGrid>
              <a:tr h="402336">
                <a:tc>
                  <a:txBody>
                    <a:bodyPr/>
                    <a:lstStyle/>
                    <a:p>
                      <a:pPr algn="ctr"/>
                      <a:r>
                        <a:rPr lang="ja-JP" sz="1800" b="0">
                          <a:solidFill>
                            <a:srgbClr val="000000"/>
                          </a:solidFill>
                          <a:latin typeface="游明朝"/>
                          <a:ea typeface="游明朝"/>
                        </a:rPr>
                        <a:t>比の作り方（第16層，23通り）</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proposal − baseline</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95%信頼区間</a:t>
                      </a:r>
                    </a:p>
                  </a:txBody>
                  <a:tcPr anchor="ctr" marL="73152" marR="73152">
                    <a:solidFill>
                      <a:schemeClr val="accent1">
                        <a:lumMod val="40000"/>
                        <a:lumOff val="60000"/>
                      </a:schemeClr>
                    </a:solidFill>
                  </a:tcPr>
                </a:tc>
              </a:tr>
              <a:tr h="402336">
                <a:tc>
                  <a:txBody>
                    <a:bodyPr/>
                    <a:lstStyle/>
                    <a:p>
                      <a:pPr algn="ctr"/>
                      <a:r>
                        <a:rPr lang="ja-JP" sz="1800" b="0">
                          <a:solidFill>
                            <a:srgbClr val="000000"/>
                          </a:solidFill>
                          <a:latin typeface="游明朝"/>
                          <a:ea typeface="游明朝"/>
                        </a:rPr>
                        <a:t>判定に使う比：距離の平均 ÷ 距離の平均</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[−13.01, +1.69]</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平均を中央値に替える</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−2.44pt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[−5.35, +0.47]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問ごとに割ってから，幾何平均する</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[−5.97, +0.66]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別の画像との距離が上位1%の問を除く</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−5.55pt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[−13.05, +1.96]</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5715000"/>
            <a:ext cx="10515600" cy="822960"/>
          </a:xfrm>
          <a:prstGeom prst="rect">
            <a:avLst/>
          </a:prstGeom>
          <a:noFill/>
        </p:spPr>
        <p:txBody>
          <a:bodyPr wrap="square" anchor="t">
            <a:spAutoFit/>
          </a:bodyPr>
          <a:lstStyle/>
          <a:p>
            <a:pPr marL="0" indent="0">
              <a:buNone/>
            </a:pPr>
            <a:r>
              <a:rPr lang="ja-JP" sz="2200">
                <a:solidFill>
                  <a:srgbClr val="FF0000"/>
                </a:solidFill>
                <a:latin typeface="游明朝"/>
                <a:ea typeface="游明朝"/>
              </a:rPr>
              <a:t>どの作り方でも proposal が小さいが，区間はどれも0を含む</a:t>
            </a:r>
          </a:p>
          <a:p>
            <a:pPr marL="0" indent="0">
              <a:buNone/>
            </a:pPr>
            <a:r>
              <a:rPr lang="ja-JP" sz="2200">
                <a:solidFill>
                  <a:srgbClr val="FF0000"/>
                </a:solidFill>
                <a:latin typeface="游明朝"/>
                <a:ea typeface="游明朝"/>
              </a:rPr>
              <a:t>差の大きさは，作り方で約2倍変わる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加工で回答は変わったか</a:t>
            </a:r>
          </a:p>
        </p:txBody>
      </p:sp>
      <p:sp>
        <p:nvSpPr>
          <p:cNvPr id="3" name="TextBox 2"/>
          <p:cNvSpPr txBox="1"/>
          <p:nvPr/>
        </p:nvSpPr>
        <p:spPr>
          <a:xfrm>
            <a:off x="841248" y="1554480"/>
            <a:ext cx="10515600" cy="1463040"/>
          </a:xfrm>
          <a:prstGeom prst="rect">
            <a:avLst/>
          </a:prstGeom>
          <a:noFill/>
        </p:spPr>
        <p:txBody>
          <a:bodyPr wrap="square" anchor="t">
            <a:spAutoFit/>
          </a:bodyPr>
          <a:lstStyle/>
          <a:p>
            <a:pPr marL="228600" indent="-228600">
              <a:buFont typeface="Arial"/>
              <a:buChar char="•"/>
            </a:pPr>
            <a:r>
              <a:rPr lang="ja-JP" sz="2800">
                <a:latin typeface="游明朝"/>
                <a:ea typeface="游明朝"/>
              </a:rPr>
              <a:t>幾何的な加工（5族）では，3群の差は見られない</a:t>
            </a:r>
          </a:p>
          <a:p>
            <a:pPr lvl="1" marL="685800" indent="-228600">
              <a:buFont typeface="Arial"/>
              <a:buChar char="•"/>
            </a:pPr>
            <a:r>
              <a:rPr lang="ja-JP" sz="2400">
                <a:latin typeface="游明朝"/>
                <a:ea typeface="游明朝"/>
              </a:rPr>
              <a:t>回答が変わった割合の差は，区間がすべて0を含む</a:t>
            </a:r>
          </a:p>
          <a:p>
            <a:pPr marL="228600" indent="-228600">
              <a:buFont typeface="Arial"/>
              <a:buChar char="•"/>
            </a:pPr>
            <a:r>
              <a:rPr lang="ja-JP" sz="2800">
                <a:latin typeface="游明朝"/>
                <a:ea typeface="游明朝"/>
              </a:rPr>
              <a:t>文字の重ね書き：proposal も ablation も変わりにくい</a:t>
            </a:r>
          </a:p>
        </p:txBody>
      </p:sp>
      <p:graphicFrame>
        <p:nvGraphicFramePr>
          <p:cNvPr id="4" name="Table 3"/>
          <p:cNvGraphicFramePr>
            <a:graphicFrameLocks noGrp="1"/>
          </p:cNvGraphicFramePr>
          <p:nvPr/>
        </p:nvGraphicFramePr>
        <p:xfrm>
          <a:off x="841248" y="3246120"/>
          <a:ext cx="10515600" cy="1508760"/>
        </p:xfrm>
        <a:graphic>
          <a:graphicData uri="http://schemas.openxmlformats.org/drawingml/2006/table">
            <a:tbl>
              <a:tblPr firstRow="1" bandRow="0">
                <a:tableStyleId>{5C22544A-7EE6-4342-B048-85BDC9FD1C3A}</a:tableStyleId>
              </a:tblPr>
              <a:tblGrid>
                <a:gridCol w="4572000"/>
                <a:gridCol w="1965960"/>
                <a:gridCol w="1965960"/>
                <a:gridCol w="2011680"/>
              </a:tblGrid>
              <a:tr h="502920">
                <a:tc>
                  <a:txBody>
                    <a:bodyPr/>
                    <a:lstStyle/>
                    <a:p>
                      <a:pPr algn="ctr"/>
                      <a:r>
                        <a:rPr lang="ja-JP" sz="2200" b="0">
                          <a:solidFill>
                            <a:srgbClr val="000000"/>
                          </a:solidFill>
                          <a:latin typeface="游明朝"/>
                          <a:ea typeface="游明朝"/>
                        </a:rPr>
                        <a:t>加工で回答が変わった割合（%）</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ablation</a:t>
                      </a:r>
                    </a:p>
                  </a:txBody>
                  <a:tcPr anchor="ctr" marL="73152" marR="73152">
                    <a:solidFill>
                      <a:schemeClr val="accent1">
                        <a:lumMod val="40000"/>
                        <a:lumOff val="60000"/>
                      </a:schemeClr>
                    </a:solidFill>
                  </a:tcPr>
                </a:tc>
              </a:tr>
              <a:tr h="502920">
                <a:tc>
                  <a:txBody>
                    <a:bodyPr/>
                    <a:lstStyle/>
                    <a:p>
                      <a:pPr algn="ctr"/>
                      <a:r>
                        <a:rPr lang="ja-JP" sz="2200" b="0">
                          <a:solidFill>
                            <a:srgbClr val="000000"/>
                          </a:solidFill>
                          <a:latin typeface="游明朝"/>
                          <a:ea typeface="游明朝"/>
                        </a:rPr>
                        <a:t>指示文の重ね書き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12.92</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11.71</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11.57</a:t>
                      </a:r>
                    </a:p>
                  </a:txBody>
                  <a:tcPr anchor="ctr" marL="73152" marR="73152">
                    <a:solidFill>
                      <a:schemeClr val="accent1">
                        <a:lumMod val="20000"/>
                        <a:lumOff val="80000"/>
                      </a:schemeClr>
                    </a:solidFill>
                  </a:tcPr>
                </a:tc>
              </a:tr>
              <a:tr h="502920">
                <a:tc>
                  <a:txBody>
                    <a:bodyPr/>
                    <a:lstStyle/>
                    <a:p>
                      <a:pPr algn="ctr"/>
                      <a:r>
                        <a:rPr lang="ja-JP" sz="2200" b="0">
                          <a:solidFill>
                            <a:srgbClr val="000000"/>
                          </a:solidFill>
                          <a:latin typeface="游明朝"/>
                          <a:ea typeface="游明朝"/>
                        </a:rPr>
                        <a:t>無作為な文字列の重ね書き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13.00</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11.65</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11.44</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4937760"/>
            <a:ext cx="10515600" cy="164592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と ablation の差は0を含む</a:t>
            </a:r>
          </a:p>
          <a:p>
            <a:pPr marL="0" indent="0">
              <a:buNone/>
            </a:pPr>
            <a:r>
              <a:rPr lang="ja-JP" sz="2800">
                <a:solidFill>
                  <a:srgbClr val="FF0000"/>
                </a:solidFill>
                <a:latin typeface="游明朝"/>
                <a:ea typeface="游明朝"/>
              </a:rPr>
              <a:t>→ 署名ラベルには帰せず，対照学習の項の効果と読める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まとめ</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proposal の第16層の比は，ablation より小さい</a:t>
            </a:r>
          </a:p>
          <a:p>
            <a:pPr marL="228600" indent="-228600">
              <a:buFont typeface="Arial"/>
              <a:buChar char="•"/>
            </a:pPr>
            <a:r>
              <a:rPr lang="ja-JP" sz="2800">
                <a:latin typeface="游明朝"/>
                <a:ea typeface="游明朝"/>
              </a:rPr>
              <a:t>baseline との差は，向きを決められない</a:t>
            </a:r>
          </a:p>
          <a:p>
            <a:pPr lvl="1" marL="685800" indent="-228600">
              <a:buFont typeface="Arial"/>
              <a:buChar char="•"/>
            </a:pPr>
            <a:r>
              <a:rPr lang="ja-JP" sz="2400">
                <a:latin typeface="游明朝"/>
                <a:ea typeface="游明朝"/>
              </a:rPr>
              <a:t>3乱数種とも負，区間は0を含む．脆くしたとしても1.7pt以内</a:t>
            </a:r>
          </a:p>
          <a:p>
            <a:pPr lvl="1" marL="685800" indent="-228600">
              <a:buFont typeface="Arial"/>
              <a:buChar char="•"/>
            </a:pPr>
            <a:r>
              <a:rPr lang="ja-JP" sz="2400">
                <a:latin typeface="游明朝"/>
                <a:ea typeface="游明朝"/>
              </a:rPr>
              <a:t>距離そのものでは，proposal がよく動く（区間は0を含まない）</a:t>
            </a:r>
          </a:p>
          <a:p>
            <a:pPr marL="228600" indent="-228600">
              <a:buFont typeface="Arial"/>
              <a:buChar char="•"/>
            </a:pPr>
            <a:r>
              <a:rPr lang="ja-JP" sz="2800">
                <a:latin typeface="游明朝"/>
                <a:ea typeface="游明朝"/>
              </a:rPr>
              <a:t>回答の変わりやすさは，幾何的な加工で差が見られない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整合が内部表現の安定性を高めたとは，まだ言えない</a:t>
            </a:r>
          </a:p>
          <a:p>
            <a:pPr marL="0" indent="0">
              <a:buNone/>
            </a:pPr>
            <a:r>
              <a:rPr lang="ja-JP" sz="2800">
                <a:solidFill>
                  <a:srgbClr val="FF0000"/>
                </a:solidFill>
                <a:latin typeface="游明朝"/>
                <a:ea typeface="游明朝"/>
              </a:rPr>
              <a:t>→ 向きを決めるには，乱数種を足して学習し直すほかない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今後の目標</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乱数種45・46を足し，5本で判定し直す（最優先）</a:t>
            </a:r>
          </a:p>
          <a:p>
            <a:pPr lvl="1" marL="685800" indent="-228600">
              <a:buFont typeface="Arial"/>
              <a:buChar char="•"/>
            </a:pPr>
            <a:r>
              <a:rPr lang="ja-JP" sz="2400">
                <a:latin typeface="游明朝"/>
                <a:ea typeface="游明朝"/>
              </a:rPr>
              <a:t>3群 × 2回の学習（約17時間）と測定（約3時間）</a:t>
            </a:r>
          </a:p>
          <a:p>
            <a:pPr lvl="1" marL="685800" indent="-228600">
              <a:buFont typeface="Arial"/>
              <a:buChar char="•"/>
            </a:pPr>
            <a:r>
              <a:rPr lang="ja-JP" sz="2400">
                <a:latin typeface="游明朝"/>
                <a:ea typeface="游明朝"/>
              </a:rPr>
              <a:t>本数は結果を見る前に決め，判定には距離そのものの向きも加える</a:t>
            </a:r>
          </a:p>
          <a:p>
            <a:pPr marL="228600" indent="-228600">
              <a:buFont typeface="Arial"/>
              <a:buChar char="•"/>
            </a:pPr>
            <a:r>
              <a:rPr lang="ja-JP" sz="2800">
                <a:latin typeface="游明朝"/>
                <a:ea typeface="游明朝"/>
              </a:rPr>
              <a:t>学習に稀な署名で，読み取り精度を層別に測る</a:t>
            </a:r>
          </a:p>
          <a:p>
            <a:pPr marL="228600" indent="-228600">
              <a:buFont typeface="Arial"/>
              <a:buChar char="•"/>
            </a:pPr>
            <a:r>
              <a:rPr lang="ja-JP" sz="2800">
                <a:latin typeface="游明朝"/>
                <a:ea typeface="游明朝"/>
              </a:rPr>
              <a:t>回答の型（yes/no か自由回答か）で整合する群を足し，</a:t>
            </a:r>
          </a:p>
          <a:p>
            <a:pPr marL="0" indent="0">
              <a:buNone/>
            </a:pPr>
            <a:r>
              <a:rPr lang="ja-JP" sz="2800">
                <a:latin typeface="游明朝"/>
                <a:ea typeface="游明朝"/>
              </a:rPr>
              <a:t>　効果が署名に固有かを確かめる</a:t>
            </a:r>
          </a:p>
          <a:p>
            <a:pPr marL="228600" indent="-228600">
              <a:buFont typeface="Arial"/>
              <a:buChar char="•"/>
            </a:pPr>
            <a:r>
              <a:rPr lang="ja-JP" sz="2800">
                <a:latin typeface="游明朝"/>
                <a:ea typeface="游明朝"/>
              </a:rPr>
              <a:t>整合の強さ </a:t>
            </a:r>
            <a:r>
              <a:rPr lang="ja-JP" sz="2800">
                <a:latin typeface="Cambria Math"/>
                <a:ea typeface="Cambria Math"/>
              </a:rPr>
              <a:t>𝜆</a:t>
            </a:r>
            <a:r>
              <a:rPr lang="ja-JP" sz="2800">
                <a:latin typeface="游明朝"/>
                <a:ea typeface="游明朝"/>
              </a:rPr>
              <a:t> と，整合を掛ける層を変える</a:t>
            </a:r>
          </a:p>
          <a:p>
            <a:pPr marL="228600" indent="-228600">
              <a:buFont typeface="Arial"/>
              <a:buChar char="•"/>
            </a:pPr>
            <a:r>
              <a:rPr lang="ja-JP" sz="2800">
                <a:latin typeface="游明朝"/>
                <a:ea typeface="游明朝"/>
              </a:rPr>
              <a:t>PCSJ/IMPS 2026 でポスター発表（P3-15，11月17日）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ポスターの初案</a:t>
            </a:r>
          </a:p>
        </p:txBody>
      </p:sp>
      <p:pic>
        <p:nvPicPr>
          <p:cNvPr id="3" name="Picture 2" descr="poster_mid.png"/>
          <p:cNvPicPr>
            <a:picLocks noChangeAspect="1"/>
          </p:cNvPicPr>
          <p:nvPr/>
        </p:nvPicPr>
        <p:blipFill>
          <a:blip r:embed="rId2"/>
          <a:stretch>
            <a:fillRect/>
          </a:stretch>
        </p:blipFill>
        <p:spPr>
          <a:xfrm>
            <a:off x="841248" y="1508760"/>
            <a:ext cx="5881248" cy="4160520"/>
          </a:xfrm>
          <a:prstGeom prst="rect">
            <a:avLst/>
          </a:prstGeom>
        </p:spPr>
      </p:pic>
      <p:sp>
        <p:nvSpPr>
          <p:cNvPr id="4" name="TextBox 3"/>
          <p:cNvSpPr txBox="1"/>
          <p:nvPr/>
        </p:nvSpPr>
        <p:spPr>
          <a:xfrm>
            <a:off x="6812280" y="1554480"/>
            <a:ext cx="4572000" cy="4206240"/>
          </a:xfrm>
          <a:prstGeom prst="rect">
            <a:avLst/>
          </a:prstGeom>
          <a:noFill/>
        </p:spPr>
        <p:txBody>
          <a:bodyPr wrap="square" anchor="t">
            <a:spAutoFit/>
          </a:bodyPr>
          <a:lstStyle/>
          <a:p>
            <a:pPr marL="228600" indent="-228600">
              <a:buFont typeface="Arial"/>
              <a:buChar char="•"/>
            </a:pPr>
            <a:r>
              <a:rPr lang="ja-JP" sz="2200">
                <a:latin typeface="游明朝"/>
                <a:ea typeface="游明朝"/>
              </a:rPr>
              <a:t>A0 横（118.9 × 84.1cm）</a:t>
            </a:r>
          </a:p>
          <a:p>
            <a:pPr lvl="1" marL="685800" indent="-228600">
              <a:buFont typeface="Arial"/>
              <a:buChar char="•"/>
            </a:pPr>
            <a:r>
              <a:rPr lang="ja-JP" sz="1800">
                <a:latin typeface="游明朝"/>
                <a:ea typeface="游明朝"/>
              </a:rPr>
              <a:t>ボード（180 × 90cm）に収まる</a:t>
            </a:r>
          </a:p>
          <a:p>
            <a:pPr marL="228600" indent="-228600">
              <a:buFont typeface="Arial"/>
              <a:buChar char="•"/>
            </a:pPr>
            <a:r>
              <a:rPr lang="ja-JP" sz="2200">
                <a:latin typeface="游明朝"/>
                <a:ea typeface="游明朝"/>
              </a:rPr>
              <a:t>予稿の章立てと要点の帯</a:t>
            </a:r>
          </a:p>
          <a:p>
            <a:pPr marL="228600" indent="-228600">
              <a:buFont typeface="Arial"/>
              <a:buChar char="•"/>
            </a:pPr>
            <a:r>
              <a:rPr lang="ja-JP" sz="2200">
                <a:latin typeface="游明朝"/>
                <a:ea typeface="游明朝"/>
              </a:rPr>
              <a:t>5章は予稿以降の結果</a:t>
            </a:r>
          </a:p>
          <a:p>
            <a:pPr marL="228600" indent="-228600">
              <a:buFont typeface="Arial"/>
              <a:buChar char="•"/>
            </a:pPr>
            <a:r>
              <a:rPr lang="ja-JP" sz="2200">
                <a:latin typeface="游明朝"/>
                <a:ea typeface="游明朝"/>
              </a:rPr>
              <a:t>配色は前期のポスターを踏襲</a:t>
            </a:r>
          </a:p>
          <a:p>
            <a:pPr marL="0" indent="0">
              <a:buNone/>
            </a:pPr>
            <a:r>
              <a:rPr lang="ja-JP" sz="2800">
                <a:latin typeface="游明朝"/>
                <a:ea typeface="游明朝"/>
              </a:rPr>
              <a:t/>
            </a:r>
          </a:p>
          <a:p>
            <a:pPr marL="0" indent="0">
              <a:buNone/>
            </a:pPr>
            <a:r>
              <a:rPr lang="ja-JP" sz="2200">
                <a:solidFill>
                  <a:srgbClr val="FF0000"/>
                </a:solidFill>
                <a:latin typeface="游明朝"/>
                <a:ea typeface="游明朝"/>
              </a:rPr>
              <a:t>ご意見をください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参考文献</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000">
                <a:latin typeface="游明朝"/>
                <a:ea typeface="游明朝"/>
              </a:rPr>
              <a:t>[1] F. A. Wani </a:t>
            </a:r>
            <a:r>
              <a:rPr lang="ja-JP" sz="2000" i="1">
                <a:latin typeface="游明朝"/>
                <a:ea typeface="游明朝"/>
              </a:rPr>
              <a:t>et al.</a:t>
            </a:r>
            <a:r>
              <a:rPr lang="ja-JP" sz="2000">
                <a:latin typeface="游明朝"/>
                <a:ea typeface="游明朝"/>
              </a:rPr>
              <a:t>, “Same Answer, Different Representations: Hidden Instability in VLMs,” arXiv:2602.06652, 2026.</a:t>
            </a:r>
          </a:p>
          <a:p>
            <a:pPr marL="0" indent="0">
              <a:buNone/>
            </a:pPr>
            <a:r>
              <a:rPr lang="ja-JP" sz="2000">
                <a:latin typeface="游明朝"/>
                <a:ea typeface="游明朝"/>
              </a:rPr>
              <a:t>[2] D. A. Hudson and C. D. Manning, “GQA: A New Dataset for Real-World Visual Reasoning and Compositional Question Answering,” in Proc. </a:t>
            </a:r>
            <a:r>
              <a:rPr lang="ja-JP" sz="2000" i="1">
                <a:latin typeface="游明朝"/>
                <a:ea typeface="游明朝"/>
              </a:rPr>
              <a:t>IEEE/CVF CVPR</a:t>
            </a:r>
            <a:r>
              <a:rPr lang="ja-JP" sz="2000">
                <a:latin typeface="游明朝"/>
                <a:ea typeface="游明朝"/>
              </a:rPr>
              <a:t>, 2019.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結果の一覧（23通りすべて）</a:t>
            </a:r>
          </a:p>
        </p:txBody>
      </p:sp>
      <p:sp>
        <p:nvSpPr>
          <p:cNvPr id="3" name="TextBox 2"/>
          <p:cNvSpPr txBox="1"/>
          <p:nvPr/>
        </p:nvSpPr>
        <p:spPr>
          <a:xfrm>
            <a:off x="841248" y="1554480"/>
            <a:ext cx="10515600" cy="1188720"/>
          </a:xfrm>
          <a:prstGeom prst="rect">
            <a:avLst/>
          </a:prstGeom>
          <a:noFill/>
        </p:spPr>
        <p:txBody>
          <a:bodyPr wrap="square" anchor="t">
            <a:spAutoFit/>
          </a:bodyPr>
          <a:lstStyle/>
          <a:p>
            <a:pPr marL="228600" indent="-228600">
              <a:buFont typeface="Arial"/>
              <a:buChar char="•"/>
            </a:pPr>
            <a:r>
              <a:rPr lang="ja-JP" sz="2400">
                <a:latin typeface="游明朝"/>
                <a:ea typeface="游明朝"/>
              </a:rPr>
              <a:t>差：乱数種を対にした平均 [95%信頼区間]</a:t>
            </a:r>
          </a:p>
          <a:p>
            <a:pPr marL="0" indent="0">
              <a:buNone/>
            </a:pPr>
            <a:r>
              <a:rPr lang="ja-JP" sz="2400">
                <a:latin typeface="游明朝"/>
                <a:ea typeface="游明朝"/>
              </a:rPr>
              <a:t>太字は区間が0を含まない．含むものは向きを決められない</a:t>
            </a:r>
          </a:p>
        </p:txBody>
      </p:sp>
      <p:graphicFrame>
        <p:nvGraphicFramePr>
          <p:cNvPr id="4" name="Table 3"/>
          <p:cNvGraphicFramePr>
            <a:graphicFrameLocks noGrp="1"/>
          </p:cNvGraphicFramePr>
          <p:nvPr/>
        </p:nvGraphicFramePr>
        <p:xfrm>
          <a:off x="841248" y="2697480"/>
          <a:ext cx="10515600" cy="2414016"/>
        </p:xfrm>
        <a:graphic>
          <a:graphicData uri="http://schemas.openxmlformats.org/drawingml/2006/table">
            <a:tbl>
              <a:tblPr firstRow="1" bandRow="0">
                <a:tableStyleId>{5C22544A-7EE6-4342-B048-85BDC9FD1C3A}</a:tableStyleId>
              </a:tblPr>
              <a:tblGrid>
                <a:gridCol w="4206240"/>
                <a:gridCol w="3154680"/>
                <a:gridCol w="3154680"/>
              </a:tblGrid>
              <a:tr h="402336">
                <a:tc>
                  <a:txBody>
                    <a:bodyPr/>
                    <a:lstStyle/>
                    <a:p>
                      <a:pPr algn="ctr"/>
                      <a:r>
                        <a:rPr lang="ja-JP" sz="1800" b="0">
                          <a:solidFill>
                            <a:srgbClr val="000000"/>
                          </a:solidFill>
                          <a:latin typeface="游明朝"/>
                          <a:ea typeface="游明朝"/>
                        </a:rPr>
                        <a:t>測った量</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proposal − baseline</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proposal − ablation</a:t>
                      </a:r>
                    </a:p>
                  </a:txBody>
                  <a:tcPr anchor="ctr" marL="73152" marR="73152">
                    <a:solidFill>
                      <a:schemeClr val="accent1">
                        <a:lumMod val="40000"/>
                        <a:lumOff val="60000"/>
                      </a:schemeClr>
                    </a:solidFill>
                  </a:tcPr>
                </a:tc>
              </a:tr>
              <a:tr h="402336">
                <a:tc>
                  <a:txBody>
                    <a:bodyPr/>
                    <a:lstStyle/>
                    <a:p>
                      <a:pPr algn="ctr"/>
                      <a:r>
                        <a:rPr lang="ja-JP" sz="1800" b="0">
                          <a:solidFill>
                            <a:srgbClr val="000000"/>
                          </a:solidFill>
                          <a:latin typeface="游明朝"/>
                          <a:ea typeface="游明朝"/>
                        </a:rPr>
                        <a:t>第16層：加工による動きの比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−5.66pt [−13.01, +1.69]</a:t>
                      </a:r>
                    </a:p>
                  </a:txBody>
                  <a:tcPr anchor="ctr" marL="73152" marR="73152">
                    <a:solidFill>
                      <a:schemeClr val="accent1">
                        <a:lumMod val="20000"/>
                        <a:lumOff val="80000"/>
                      </a:schemeClr>
                    </a:solidFill>
                  </a:tcPr>
                </a:tc>
                <a:tc>
                  <a:txBody>
                    <a:bodyPr/>
                    <a:lstStyle/>
                    <a:p>
                      <a:pPr algn="ctr"/>
                      <a:r>
                        <a:rPr lang="ja-JP" sz="1800" b="1">
                          <a:solidFill>
                            <a:srgbClr val="000000"/>
                          </a:solidFill>
                          <a:latin typeface="游明朝"/>
                          <a:ea typeface="游明朝"/>
                        </a:rPr>
                        <a:t>−9.95pt [−13.82, −6.07]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第16層：加工による距離（×10⁻³）</a:t>
                      </a:r>
                    </a:p>
                  </a:txBody>
                  <a:tcPr anchor="ctr" marL="73152" marR="73152">
                    <a:solidFill>
                      <a:schemeClr val="accent1">
                        <a:lumMod val="20000"/>
                        <a:lumOff val="80000"/>
                      </a:schemeClr>
                    </a:solidFill>
                  </a:tcPr>
                </a:tc>
                <a:tc>
                  <a:txBody>
                    <a:bodyPr/>
                    <a:lstStyle/>
                    <a:p>
                      <a:pPr algn="ctr"/>
                      <a:r>
                        <a:rPr lang="ja-JP" sz="1800" b="1">
                          <a:solidFill>
                            <a:srgbClr val="000000"/>
                          </a:solidFill>
                          <a:latin typeface="游明朝"/>
                          <a:ea typeface="游明朝"/>
                        </a:rPr>
                        <a:t>+1.95 [+0.86, +3.04]</a:t>
                      </a:r>
                    </a:p>
                  </a:txBody>
                  <a:tcPr anchor="ctr" marL="73152" marR="73152">
                    <a:solidFill>
                      <a:schemeClr val="accent1">
                        <a:lumMod val="20000"/>
                        <a:lumOff val="80000"/>
                      </a:schemeClr>
                    </a:solidFill>
                  </a:tcPr>
                </a:tc>
                <a:tc>
                  <a:txBody>
                    <a:bodyPr/>
                    <a:lstStyle/>
                    <a:p>
                      <a:pPr algn="ctr"/>
                      <a:r>
                        <a:rPr lang="ja-JP" sz="1800" b="1">
                          <a:solidFill>
                            <a:srgbClr val="000000"/>
                          </a:solidFill>
                          <a:latin typeface="游明朝"/>
                          <a:ea typeface="游明朝"/>
                        </a:rPr>
                        <a:t>+2.61 [+1.85, +3.37]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第32層：加工による動きの比</a:t>
                      </a:r>
                    </a:p>
                  </a:txBody>
                  <a:tcPr anchor="ctr" marL="73152" marR="73152">
                    <a:solidFill>
                      <a:schemeClr val="accent1">
                        <a:lumMod val="20000"/>
                        <a:lumOff val="80000"/>
                      </a:schemeClr>
                    </a:solidFill>
                  </a:tcPr>
                </a:tc>
                <a:tc>
                  <a:txBody>
                    <a:bodyPr/>
                    <a:lstStyle/>
                    <a:p>
                      <a:pPr algn="ctr"/>
                      <a:r>
                        <a:rPr lang="ja-JP" sz="1800" b="1">
                          <a:solidFill>
                            <a:srgbClr val="000000"/>
                          </a:solidFill>
                          <a:latin typeface="游明朝"/>
                          <a:ea typeface="游明朝"/>
                        </a:rPr>
                        <a:t>−0.31pt [−0.47, −0.15]</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+0.11pt [−1.02, +1.24]</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第32層：加工による距離（×10⁻³）</a:t>
                      </a:r>
                    </a:p>
                  </a:txBody>
                  <a:tcPr anchor="ctr" marL="73152" marR="73152">
                    <a:solidFill>
                      <a:schemeClr val="accent1">
                        <a:lumMod val="20000"/>
                        <a:lumOff val="80000"/>
                      </a:schemeClr>
                    </a:solidFill>
                  </a:tcPr>
                </a:tc>
                <a:tc>
                  <a:txBody>
                    <a:bodyPr/>
                    <a:lstStyle/>
                    <a:p>
                      <a:pPr algn="ctr"/>
                      <a:r>
                        <a:rPr lang="ja-JP" sz="1800" b="1">
                          <a:solidFill>
                            <a:srgbClr val="000000"/>
                          </a:solidFill>
                          <a:latin typeface="游明朝"/>
                          <a:ea typeface="游明朝"/>
                        </a:rPr>
                        <a:t>−3.00 [−5.05, −0.95]</a:t>
                      </a:r>
                    </a:p>
                  </a:txBody>
                  <a:tcPr anchor="ctr" marL="73152" marR="73152">
                    <a:solidFill>
                      <a:schemeClr val="accent1">
                        <a:lumMod val="20000"/>
                        <a:lumOff val="80000"/>
                      </a:schemeClr>
                    </a:solidFill>
                  </a:tcPr>
                </a:tc>
                <a:tc>
                  <a:txBody>
                    <a:bodyPr/>
                    <a:lstStyle/>
                    <a:p>
                      <a:pPr algn="ctr"/>
                      <a:r>
                        <a:rPr lang="ja-JP" sz="1800" b="1">
                          <a:solidFill>
                            <a:srgbClr val="000000"/>
                          </a:solidFill>
                          <a:latin typeface="游明朝"/>
                          <a:ea typeface="游明朝"/>
                        </a:rPr>
                        <a:t>−2.74 [−3.89, −1.59]</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加工で回答が変わった割合</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−0.20pt [−1.48, +1.08]</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−0.04pt [−0.60, +0.52]</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5715000"/>
            <a:ext cx="10515600" cy="822960"/>
          </a:xfrm>
          <a:prstGeom prst="rect">
            <a:avLst/>
          </a:prstGeom>
          <a:noFill/>
        </p:spPr>
        <p:txBody>
          <a:bodyPr wrap="square" anchor="t">
            <a:spAutoFit/>
          </a:bodyPr>
          <a:lstStyle/>
          <a:p>
            <a:pPr marL="0" indent="0">
              <a:buNone/>
            </a:pPr>
            <a:r>
              <a:rPr lang="ja-JP" sz="2200">
                <a:solidFill>
                  <a:srgbClr val="FF0000"/>
                </a:solidFill>
                <a:latin typeface="游明朝"/>
                <a:ea typeface="游明朝"/>
              </a:rPr>
              <a:t>第16層：比では proposal が小さいが，距離では proposal がよく動く</a:t>
            </a:r>
          </a:p>
          <a:p>
            <a:pPr marL="0" indent="0">
              <a:buNone/>
            </a:pPr>
            <a:r>
              <a:rPr lang="ja-JP" sz="2200">
                <a:solidFill>
                  <a:srgbClr val="FF0000"/>
                </a:solidFill>
                <a:latin typeface="游明朝"/>
                <a:ea typeface="游明朝"/>
              </a:rPr>
              <a:t>第32層では proposal がやや動きにくく，回答には差が見られない</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5738</TotalTime>
  <Application>Microsoft Office PowerPoint</Application>
  <PresentationFormat>ワイド画面</PresentationFormat>
  <Slides>14</Slides>
  <Notes>14</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14</vt:i4>
      </vt:variant>
    </vt:vector>
  </HeadingPairs>
  <TitlesOfParts>
    <vt:vector size="20" baseType="lpstr">
      <vt:lpstr>Arial</vt:lpstr>
      <vt:lpstr>游ゴシック Light</vt:lpstr>
      <vt:lpstr>游ゴシック</vt:lpstr>
      <vt:lpstr>游明朝</vt:lpstr>
      <vt:lpstr>Cambria Math</vt:lpstr>
      <vt:lpstr>Office テーマ</vt:lpstr>
      <vt:lpstr>進捗報告</vt:lpstr>
      <vt:lpstr>前回までの結果</vt:lpstr>
      <vt:lpstr>今回の問い</vt:lpstr>
      <vt:lpstr>加工の種類</vt:lpstr>
      <vt:lpstr>加工の例</vt:lpstr>
      <vt:lpstr>測る量</vt:lpstr>
      <vt:lpstr>結果の一覧（23通りすべて）</vt:lpstr>
      <vt:lpstr>族ごとの比（第16層）</vt:lpstr>
      <vt:lpstr>分母とまとめ方を変えた比（第16層）</vt:lpstr>
      <vt:lpstr>加工で回答は変わったか</vt:lpstr>
      <vt:lpstr>まとめ</vt:lpstr>
      <vt:lpstr>今後の目標</vt:lpstr>
      <vt:lpstr>ポスターの初案</vt:lpstr>
      <vt:lpstr>参考文献</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友晴 中野</dc:creator>
  <cp:lastModifiedBy>友晴 中野</cp:lastModifiedBy>
  <cp:revision>1</cp:revision>
  <dcterms:created xsi:type="dcterms:W3CDTF">2026-04-14T11:51:55Z</dcterms:created>
  <dcterms:modified xsi:type="dcterms:W3CDTF">2026-10-29T09:22:03Z</dcterms:modified>
</cp:coreProperties>
</file>